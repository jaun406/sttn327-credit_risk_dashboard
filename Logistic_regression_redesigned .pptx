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7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9E93"/>
    <a:srgbClr val="A96900"/>
    <a:srgbClr val="7B7B00"/>
    <a:srgbClr val="FFFF00"/>
    <a:srgbClr val="004D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523" autoAdjust="0"/>
  </p:normalViewPr>
  <p:slideViewPr>
    <p:cSldViewPr snapToGrid="0" snapToObjects="1">
      <p:cViewPr varScale="1">
        <p:scale>
          <a:sx n="66" d="100"/>
          <a:sy n="66" d="100"/>
        </p:scale>
        <p:origin x="130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6B23CC-2E8A-47ED-87E2-9B7B201360D3}" type="datetimeFigureOut">
              <a:rPr lang="en-ZA" smtClean="0"/>
              <a:t>2026/10/16</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6F9F23-335E-4AAF-A826-1CD6B9956451}" type="slidenum">
              <a:rPr lang="en-ZA" smtClean="0"/>
              <a:t>‹#›</a:t>
            </a:fld>
            <a:endParaRPr lang="en-ZA"/>
          </a:p>
        </p:txBody>
      </p:sp>
    </p:spTree>
    <p:extLst>
      <p:ext uri="{BB962C8B-B14F-4D97-AF65-F5344CB8AC3E}">
        <p14:creationId xmlns:p14="http://schemas.microsoft.com/office/powerpoint/2010/main" val="399036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 Why do unemployed people show a bigger decrease in default rate than self-employed people:</a:t>
            </a:r>
          </a:p>
          <a:p>
            <a:r>
              <a:rPr lang="en-ZA" dirty="0"/>
              <a:t>Unemployed people </a:t>
            </a:r>
            <a:r>
              <a:rPr lang="en-US" dirty="0"/>
              <a:t>are not approved for loans based on income because they either have no income or a small, inconsistent income</a:t>
            </a:r>
            <a:r>
              <a:rPr lang="en-ZA" dirty="0"/>
              <a:t>. Thus</a:t>
            </a:r>
            <a:r>
              <a:rPr lang="en-US" dirty="0"/>
              <a:t>, loans for unemployed people are most often secured loans, meaning the loan is backed by collateral, and more is at stake for the borrower if they</a:t>
            </a:r>
            <a:r>
              <a:rPr lang="en-ZA" dirty="0"/>
              <a:t> default.</a:t>
            </a:r>
          </a:p>
        </p:txBody>
      </p:sp>
      <p:sp>
        <p:nvSpPr>
          <p:cNvPr id="4" name="Slide Number Placeholder 3"/>
          <p:cNvSpPr>
            <a:spLocks noGrp="1"/>
          </p:cNvSpPr>
          <p:nvPr>
            <p:ph type="sldNum" sz="quarter" idx="5"/>
          </p:nvPr>
        </p:nvSpPr>
        <p:spPr/>
        <p:txBody>
          <a:bodyPr/>
          <a:lstStyle/>
          <a:p>
            <a:fld id="{CC6F9F23-335E-4AAF-A826-1CD6B9956451}" type="slidenum">
              <a:rPr lang="en-ZA" smtClean="0"/>
              <a:t>4</a:t>
            </a:fld>
            <a:endParaRPr lang="en-ZA"/>
          </a:p>
        </p:txBody>
      </p:sp>
    </p:spTree>
    <p:extLst>
      <p:ext uri="{BB962C8B-B14F-4D97-AF65-F5344CB8AC3E}">
        <p14:creationId xmlns:p14="http://schemas.microsoft.com/office/powerpoint/2010/main" val="993419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We did not remove the insignificant variables directly. Firstly, we transformed variables and removed multicollinearity. Afterwards, we rechecked the results to see if the significance of the variables might have changed because of this. Only after all those steps did we remove insignificant variables.</a:t>
            </a:r>
          </a:p>
        </p:txBody>
      </p:sp>
      <p:sp>
        <p:nvSpPr>
          <p:cNvPr id="4" name="Slide Number Placeholder 3"/>
          <p:cNvSpPr>
            <a:spLocks noGrp="1"/>
          </p:cNvSpPr>
          <p:nvPr>
            <p:ph type="sldNum" sz="quarter" idx="5"/>
          </p:nvPr>
        </p:nvSpPr>
        <p:spPr/>
        <p:txBody>
          <a:bodyPr/>
          <a:lstStyle/>
          <a:p>
            <a:fld id="{CC6F9F23-335E-4AAF-A826-1CD6B9956451}" type="slidenum">
              <a:rPr lang="en-ZA" smtClean="0"/>
              <a:t>6</a:t>
            </a:fld>
            <a:endParaRPr lang="en-ZA"/>
          </a:p>
        </p:txBody>
      </p:sp>
    </p:spTree>
    <p:extLst>
      <p:ext uri="{BB962C8B-B14F-4D97-AF65-F5344CB8AC3E}">
        <p14:creationId xmlns:p14="http://schemas.microsoft.com/office/powerpoint/2010/main" val="3772840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The AUC shows a weak model. This might be because the data were modelled with a tree structure rather than a linear structure. The next step is to build 2 different models for top earners and lower earners to reduce the bimodality seen in the Debt-to-Income ratio data.</a:t>
            </a:r>
          </a:p>
        </p:txBody>
      </p:sp>
      <p:sp>
        <p:nvSpPr>
          <p:cNvPr id="4" name="Slide Number Placeholder 3"/>
          <p:cNvSpPr>
            <a:spLocks noGrp="1"/>
          </p:cNvSpPr>
          <p:nvPr>
            <p:ph type="sldNum" sz="quarter" idx="5"/>
          </p:nvPr>
        </p:nvSpPr>
        <p:spPr/>
        <p:txBody>
          <a:bodyPr/>
          <a:lstStyle/>
          <a:p>
            <a:fld id="{CC6F9F23-335E-4AAF-A826-1CD6B9956451}" type="slidenum">
              <a:rPr lang="en-ZA" smtClean="0"/>
              <a:t>12</a:t>
            </a:fld>
            <a:endParaRPr lang="en-ZA"/>
          </a:p>
        </p:txBody>
      </p:sp>
    </p:spTree>
    <p:extLst>
      <p:ext uri="{BB962C8B-B14F-4D97-AF65-F5344CB8AC3E}">
        <p14:creationId xmlns:p14="http://schemas.microsoft.com/office/powerpoint/2010/main" val="1918910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False positives are more dangerous in this case than false negatives as this will cost the bank money, whereas a false negative will just mean the loan is not granted, leading to much less loss for the bank.</a:t>
            </a:r>
          </a:p>
        </p:txBody>
      </p:sp>
      <p:sp>
        <p:nvSpPr>
          <p:cNvPr id="4" name="Slide Number Placeholder 3"/>
          <p:cNvSpPr>
            <a:spLocks noGrp="1"/>
          </p:cNvSpPr>
          <p:nvPr>
            <p:ph type="sldNum" sz="quarter" idx="5"/>
          </p:nvPr>
        </p:nvSpPr>
        <p:spPr/>
        <p:txBody>
          <a:bodyPr/>
          <a:lstStyle/>
          <a:p>
            <a:fld id="{CC6F9F23-335E-4AAF-A826-1CD6B9956451}" type="slidenum">
              <a:rPr lang="en-ZA" smtClean="0"/>
              <a:t>13</a:t>
            </a:fld>
            <a:endParaRPr lang="en-ZA"/>
          </a:p>
        </p:txBody>
      </p:sp>
    </p:spTree>
    <p:extLst>
      <p:ext uri="{BB962C8B-B14F-4D97-AF65-F5344CB8AC3E}">
        <p14:creationId xmlns:p14="http://schemas.microsoft.com/office/powerpoint/2010/main" val="3681476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We have a low variation but a high bias. Thus, the variance-bias trade-off holds.</a:t>
            </a:r>
          </a:p>
        </p:txBody>
      </p:sp>
      <p:sp>
        <p:nvSpPr>
          <p:cNvPr id="4" name="Slide Number Placeholder 3"/>
          <p:cNvSpPr>
            <a:spLocks noGrp="1"/>
          </p:cNvSpPr>
          <p:nvPr>
            <p:ph type="sldNum" sz="quarter" idx="5"/>
          </p:nvPr>
        </p:nvSpPr>
        <p:spPr/>
        <p:txBody>
          <a:bodyPr/>
          <a:lstStyle/>
          <a:p>
            <a:fld id="{CC6F9F23-335E-4AAF-A826-1CD6B9956451}" type="slidenum">
              <a:rPr lang="en-ZA" smtClean="0"/>
              <a:t>14</a:t>
            </a:fld>
            <a:endParaRPr lang="en-ZA"/>
          </a:p>
        </p:txBody>
      </p:sp>
    </p:spTree>
    <p:extLst>
      <p:ext uri="{BB962C8B-B14F-4D97-AF65-F5344CB8AC3E}">
        <p14:creationId xmlns:p14="http://schemas.microsoft.com/office/powerpoint/2010/main" val="3910953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23B"/>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024128"/>
            <a:ext cx="914400" cy="109728"/>
          </a:xfrm>
          <a:prstGeom prst="rect">
            <a:avLst/>
          </a:prstGeom>
          <a:solidFill>
            <a:srgbClr val="EFB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444752"/>
            <a:ext cx="10241280" cy="1371600"/>
          </a:xfrm>
          <a:prstGeom prst="rect">
            <a:avLst/>
          </a:prstGeom>
          <a:noFill/>
        </p:spPr>
        <p:txBody>
          <a:bodyPr wrap="square" lIns="27432" tIns="27432" rIns="27432" bIns="27432" anchor="t">
            <a:spAutoFit/>
          </a:bodyPr>
          <a:lstStyle/>
          <a:p>
            <a:pPr algn="l">
              <a:spcAft>
                <a:spcPts val="700"/>
              </a:spcAft>
              <a:defRPr sz="3600" b="1">
                <a:solidFill>
                  <a:srgbClr val="FFFFFF"/>
                </a:solidFill>
                <a:latin typeface="Aptos"/>
              </a:defRPr>
            </a:pPr>
            <a:r>
              <a:t>LOGISTIC</a:t>
            </a:r>
          </a:p>
          <a:p>
            <a:pPr algn="l">
              <a:spcAft>
                <a:spcPts val="700"/>
              </a:spcAft>
              <a:defRPr sz="3600" b="1">
                <a:solidFill>
                  <a:srgbClr val="FFFFFF"/>
                </a:solidFill>
                <a:latin typeface="Aptos"/>
              </a:defRPr>
            </a:pPr>
            <a:r>
              <a:t>REGRESSION</a:t>
            </a:r>
          </a:p>
        </p:txBody>
      </p:sp>
      <p:sp>
        <p:nvSpPr>
          <p:cNvPr id="5" name="TextBox 4"/>
          <p:cNvSpPr txBox="1"/>
          <p:nvPr/>
        </p:nvSpPr>
        <p:spPr>
          <a:xfrm>
            <a:off x="868680" y="3703320"/>
            <a:ext cx="8778240" cy="548640"/>
          </a:xfrm>
          <a:prstGeom prst="rect">
            <a:avLst/>
          </a:prstGeom>
          <a:noFill/>
        </p:spPr>
        <p:txBody>
          <a:bodyPr wrap="square" lIns="27432" tIns="27432" rIns="27432" bIns="27432" anchor="t">
            <a:spAutoFit/>
          </a:bodyPr>
          <a:lstStyle/>
          <a:p>
            <a:pPr algn="l">
              <a:spcAft>
                <a:spcPts val="700"/>
              </a:spcAft>
              <a:defRPr sz="2200" b="0">
                <a:solidFill>
                  <a:srgbClr val="CAD8E7"/>
                </a:solidFill>
                <a:latin typeface="Aptos"/>
              </a:defRPr>
            </a:pPr>
            <a:r>
              <a:t>Credit-risk modelling: predicting loan default</a:t>
            </a:r>
          </a:p>
        </p:txBody>
      </p:sp>
      <p:sp>
        <p:nvSpPr>
          <p:cNvPr id="6" name="TextBox 5"/>
          <p:cNvSpPr txBox="1"/>
          <p:nvPr/>
        </p:nvSpPr>
        <p:spPr>
          <a:xfrm>
            <a:off x="868680" y="5120640"/>
            <a:ext cx="7315200" cy="365760"/>
          </a:xfrm>
          <a:prstGeom prst="rect">
            <a:avLst/>
          </a:prstGeom>
          <a:noFill/>
        </p:spPr>
        <p:txBody>
          <a:bodyPr wrap="square" lIns="27432" tIns="27432" rIns="27432" bIns="27432" anchor="t">
            <a:spAutoFit/>
          </a:bodyPr>
          <a:lstStyle/>
          <a:p>
            <a:pPr algn="l">
              <a:spcAft>
                <a:spcPts val="700"/>
              </a:spcAft>
              <a:defRPr sz="1600" b="0">
                <a:solidFill>
                  <a:srgbClr val="FFFFFF"/>
                </a:solidFill>
                <a:latin typeface="Aptos"/>
              </a:defRPr>
            </a:pPr>
            <a:r>
              <a:t>Presented by Jaun Minnaar</a:t>
            </a:r>
          </a:p>
        </p:txBody>
      </p:sp>
      <p:sp>
        <p:nvSpPr>
          <p:cNvPr id="7" name="TextBox 6"/>
          <p:cNvSpPr txBox="1"/>
          <p:nvPr/>
        </p:nvSpPr>
        <p:spPr>
          <a:xfrm>
            <a:off x="868680" y="6263640"/>
            <a:ext cx="7315200" cy="228600"/>
          </a:xfrm>
          <a:prstGeom prst="rect">
            <a:avLst/>
          </a:prstGeom>
          <a:noFill/>
        </p:spPr>
        <p:txBody>
          <a:bodyPr wrap="square" lIns="27432" tIns="27432" rIns="27432" bIns="27432" anchor="t">
            <a:spAutoFit/>
          </a:bodyPr>
          <a:lstStyle/>
          <a:p>
            <a:pPr algn="l">
              <a:spcAft>
                <a:spcPts val="700"/>
              </a:spcAft>
              <a:defRPr sz="1000" b="1">
                <a:solidFill>
                  <a:srgbClr val="A0B8CD"/>
                </a:solidFill>
                <a:latin typeface="Aptos"/>
              </a:defRPr>
            </a:pPr>
            <a:r>
              <a:t>MODEL DEVELOPMENT  •  DIAGNOSTICS  •  PERFORMANCE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27080" cy="594360"/>
          </a:xfrm>
          <a:prstGeom prst="rect">
            <a:avLst/>
          </a:prstGeom>
          <a:noFill/>
        </p:spPr>
        <p:txBody>
          <a:bodyPr wrap="square" lIns="27432" tIns="27432" rIns="27432" bIns="27432" anchor="t">
            <a:spAutoFit/>
          </a:bodyPr>
          <a:lstStyle/>
          <a:p>
            <a:pPr algn="l">
              <a:spcAft>
                <a:spcPts val="700"/>
              </a:spcAft>
              <a:defRPr sz="2900" b="1">
                <a:solidFill>
                  <a:srgbClr val="14223B"/>
                </a:solidFill>
                <a:latin typeface="Aptos"/>
              </a:defRPr>
            </a:pPr>
            <a:r>
              <a:t>The problem we want to solve</a:t>
            </a:r>
          </a:p>
        </p:txBody>
      </p:sp>
      <p:sp>
        <p:nvSpPr>
          <p:cNvPr id="4" name="TextBox 3"/>
          <p:cNvSpPr txBox="1"/>
          <p:nvPr/>
        </p:nvSpPr>
        <p:spPr>
          <a:xfrm>
            <a:off x="640080" y="6510528"/>
            <a:ext cx="8046720" cy="182880"/>
          </a:xfrm>
          <a:prstGeom prst="rect">
            <a:avLst/>
          </a:prstGeom>
          <a:noFill/>
        </p:spPr>
        <p:txBody>
          <a:bodyPr wrap="square" lIns="27432" tIns="27432" rIns="27432" bIns="27432" anchor="t">
            <a:spAutoFit/>
          </a:bodyPr>
          <a:lstStyle/>
          <a:p>
            <a:pPr algn="l">
              <a:spcAft>
                <a:spcPts val="700"/>
              </a:spcAft>
              <a:defRPr sz="900" b="1">
                <a:solidFill>
                  <a:srgbClr val="647182"/>
                </a:solidFill>
                <a:latin typeface="Aptos"/>
              </a:defRPr>
            </a:pPr>
            <a:r>
              <a:t>01  |  OBJECTIVE</a:t>
            </a:r>
          </a:p>
        </p:txBody>
      </p:sp>
      <p:sp>
        <p:nvSpPr>
          <p:cNvPr id="5" name="TextBox 4"/>
          <p:cNvSpPr txBox="1"/>
          <p:nvPr/>
        </p:nvSpPr>
        <p:spPr>
          <a:xfrm>
            <a:off x="11109960" y="6473952"/>
            <a:ext cx="438912" cy="219456"/>
          </a:xfrm>
          <a:prstGeom prst="rect">
            <a:avLst/>
          </a:prstGeom>
          <a:noFill/>
        </p:spPr>
        <p:txBody>
          <a:bodyPr wrap="square" lIns="27432" tIns="27432" rIns="27432" bIns="27432" anchor="t">
            <a:spAutoFit/>
          </a:bodyPr>
          <a:lstStyle/>
          <a:p>
            <a:pPr algn="r">
              <a:spcAft>
                <a:spcPts val="700"/>
              </a:spcAft>
              <a:defRPr sz="900" b="0">
                <a:solidFill>
                  <a:srgbClr val="647182"/>
                </a:solidFill>
                <a:latin typeface="Aptos"/>
              </a:defRPr>
            </a:pPr>
            <a:r>
              <a:t>02</a:t>
            </a:r>
          </a:p>
        </p:txBody>
      </p:sp>
      <p:sp>
        <p:nvSpPr>
          <p:cNvPr id="6" name="TextBox 5"/>
          <p:cNvSpPr txBox="1"/>
          <p:nvPr/>
        </p:nvSpPr>
        <p:spPr>
          <a:xfrm>
            <a:off x="685800" y="1234440"/>
            <a:ext cx="6400800" cy="777240"/>
          </a:xfrm>
          <a:prstGeom prst="rect">
            <a:avLst/>
          </a:prstGeom>
          <a:noFill/>
        </p:spPr>
        <p:txBody>
          <a:bodyPr wrap="square" lIns="27432" tIns="27432" rIns="27432" bIns="27432" anchor="t">
            <a:spAutoFit/>
          </a:bodyPr>
          <a:lstStyle/>
          <a:p>
            <a:pPr algn="l">
              <a:spcAft>
                <a:spcPts val="700"/>
              </a:spcAft>
              <a:defRPr sz="2500" b="1">
                <a:solidFill>
                  <a:srgbClr val="14223B"/>
                </a:solidFill>
                <a:latin typeface="Aptos"/>
              </a:defRPr>
            </a:pPr>
            <a:r>
              <a:t>Estimate the probability that a borrower will default.</a:t>
            </a:r>
          </a:p>
        </p:txBody>
      </p:sp>
      <p:sp>
        <p:nvSpPr>
          <p:cNvPr id="7" name="Rounded Rectangle 6"/>
          <p:cNvSpPr/>
          <p:nvPr/>
        </p:nvSpPr>
        <p:spPr>
          <a:xfrm>
            <a:off x="749808" y="2441448"/>
            <a:ext cx="109728" cy="109728"/>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331720"/>
            <a:ext cx="6144768" cy="530352"/>
          </a:xfrm>
          <a:prstGeom prst="rect">
            <a:avLst/>
          </a:prstGeom>
          <a:noFill/>
        </p:spPr>
        <p:txBody>
          <a:bodyPr wrap="square" lIns="27432" tIns="27432" rIns="27432" bIns="27432" anchor="t">
            <a:spAutoFit/>
          </a:bodyPr>
          <a:lstStyle/>
          <a:p>
            <a:pPr algn="l">
              <a:spcAft>
                <a:spcPts val="700"/>
              </a:spcAft>
              <a:defRPr sz="1900" b="0">
                <a:solidFill>
                  <a:srgbClr val="283343"/>
                </a:solidFill>
                <a:latin typeface="Aptos"/>
              </a:defRPr>
            </a:pPr>
            <a:r>
              <a:t>Use borrower and loan characteristics as predictors.</a:t>
            </a:r>
          </a:p>
        </p:txBody>
      </p:sp>
      <p:sp>
        <p:nvSpPr>
          <p:cNvPr id="9" name="Rounded Rectangle 8"/>
          <p:cNvSpPr/>
          <p:nvPr/>
        </p:nvSpPr>
        <p:spPr>
          <a:xfrm>
            <a:off x="749808" y="3081528"/>
            <a:ext cx="109728" cy="109728"/>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971800"/>
            <a:ext cx="6144768" cy="530352"/>
          </a:xfrm>
          <a:prstGeom prst="rect">
            <a:avLst/>
          </a:prstGeom>
          <a:noFill/>
        </p:spPr>
        <p:txBody>
          <a:bodyPr wrap="square" lIns="27432" tIns="27432" rIns="27432" bIns="27432" anchor="t">
            <a:spAutoFit/>
          </a:bodyPr>
          <a:lstStyle/>
          <a:p>
            <a:pPr algn="l">
              <a:spcAft>
                <a:spcPts val="700"/>
              </a:spcAft>
              <a:defRPr sz="1900" b="0">
                <a:solidFill>
                  <a:srgbClr val="283343"/>
                </a:solidFill>
                <a:latin typeface="Aptos"/>
              </a:defRPr>
            </a:pPr>
            <a:r>
              <a:t>Support more consistent, evidence-based lending decisions.</a:t>
            </a:r>
          </a:p>
        </p:txBody>
      </p:sp>
      <p:sp>
        <p:nvSpPr>
          <p:cNvPr id="11" name="Rounded Rectangle 10"/>
          <p:cNvSpPr/>
          <p:nvPr/>
        </p:nvSpPr>
        <p:spPr>
          <a:xfrm>
            <a:off x="749808" y="3721608"/>
            <a:ext cx="109728" cy="109728"/>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3611880"/>
            <a:ext cx="6144768" cy="530352"/>
          </a:xfrm>
          <a:prstGeom prst="rect">
            <a:avLst/>
          </a:prstGeom>
          <a:noFill/>
        </p:spPr>
        <p:txBody>
          <a:bodyPr wrap="square" lIns="27432" tIns="27432" rIns="27432" bIns="27432" anchor="t">
            <a:spAutoFit/>
          </a:bodyPr>
          <a:lstStyle/>
          <a:p>
            <a:pPr algn="l">
              <a:spcAft>
                <a:spcPts val="700"/>
              </a:spcAft>
              <a:defRPr sz="1900" b="0">
                <a:solidFill>
                  <a:srgbClr val="283343"/>
                </a:solidFill>
                <a:latin typeface="Aptos"/>
              </a:defRPr>
            </a:pPr>
            <a:r>
              <a:t>Evaluate performance on data not used to fit the model.</a:t>
            </a:r>
          </a:p>
        </p:txBody>
      </p:sp>
      <p:sp>
        <p:nvSpPr>
          <p:cNvPr id="13" name="Rounded Rectangle 12"/>
          <p:cNvSpPr/>
          <p:nvPr/>
        </p:nvSpPr>
        <p:spPr>
          <a:xfrm>
            <a:off x="7543800" y="1417320"/>
            <a:ext cx="3840480" cy="123444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543800" y="1417320"/>
            <a:ext cx="82296" cy="1234440"/>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0" y="1581912"/>
            <a:ext cx="3401568" cy="347472"/>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t>INPUTS</a:t>
            </a:r>
          </a:p>
        </p:txBody>
      </p:sp>
      <p:sp>
        <p:nvSpPr>
          <p:cNvPr id="16" name="TextBox 15"/>
          <p:cNvSpPr txBox="1"/>
          <p:nvPr/>
        </p:nvSpPr>
        <p:spPr>
          <a:xfrm>
            <a:off x="7772400" y="2020824"/>
            <a:ext cx="3401568" cy="547842"/>
          </a:xfrm>
          <a:prstGeom prst="rect">
            <a:avLst/>
          </a:prstGeom>
          <a:noFill/>
        </p:spPr>
        <p:txBody>
          <a:bodyPr wrap="square" lIns="27432" tIns="27432" rIns="27432" bIns="27432" anchor="t">
            <a:spAutoFit/>
          </a:bodyPr>
          <a:lstStyle/>
          <a:p>
            <a:pPr algn="l">
              <a:spcAft>
                <a:spcPts val="700"/>
              </a:spcAft>
              <a:defRPr sz="1600" b="0">
                <a:solidFill>
                  <a:srgbClr val="283343"/>
                </a:solidFill>
                <a:latin typeface="Aptos"/>
              </a:defRPr>
            </a:pPr>
            <a:r>
              <a:rPr dirty="0"/>
              <a:t>Income • loan amount • </a:t>
            </a:r>
            <a:r>
              <a:rPr dirty="0" err="1"/>
              <a:t>utilisation</a:t>
            </a:r>
            <a:r>
              <a:rPr dirty="0"/>
              <a:t> • DTI • employment</a:t>
            </a:r>
            <a:r>
              <a:rPr lang="en-ZA" dirty="0"/>
              <a:t> • Interest rate</a:t>
            </a:r>
            <a:endParaRPr dirty="0"/>
          </a:p>
        </p:txBody>
      </p:sp>
      <p:sp>
        <p:nvSpPr>
          <p:cNvPr id="17" name="Rounded Rectangle 16"/>
          <p:cNvSpPr/>
          <p:nvPr/>
        </p:nvSpPr>
        <p:spPr>
          <a:xfrm>
            <a:off x="7543800" y="2880360"/>
            <a:ext cx="3840480" cy="123444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543800" y="2880360"/>
            <a:ext cx="82296" cy="1234440"/>
          </a:xfrm>
          <a:prstGeom prst="roundRect">
            <a:avLst>
              <a:gd name="adj" fmla="val 12000"/>
            </a:avLst>
          </a:prstGeom>
          <a:solidFill>
            <a:srgbClr val="2C6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3044952"/>
            <a:ext cx="3401568" cy="347472"/>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t>MODEL</a:t>
            </a:r>
          </a:p>
        </p:txBody>
      </p:sp>
      <p:sp>
        <p:nvSpPr>
          <p:cNvPr id="20" name="TextBox 19"/>
          <p:cNvSpPr txBox="1"/>
          <p:nvPr/>
        </p:nvSpPr>
        <p:spPr>
          <a:xfrm>
            <a:off x="7772400" y="3483864"/>
            <a:ext cx="3401568" cy="521208"/>
          </a:xfrm>
          <a:prstGeom prst="rect">
            <a:avLst/>
          </a:prstGeom>
          <a:noFill/>
        </p:spPr>
        <p:txBody>
          <a:bodyPr wrap="square" lIns="27432" tIns="27432" rIns="27432" bIns="27432" anchor="t">
            <a:spAutoFit/>
          </a:bodyPr>
          <a:lstStyle/>
          <a:p>
            <a:pPr algn="l">
              <a:spcAft>
                <a:spcPts val="700"/>
              </a:spcAft>
              <a:defRPr sz="1600" b="0">
                <a:solidFill>
                  <a:srgbClr val="283343"/>
                </a:solidFill>
                <a:latin typeface="Aptos"/>
              </a:defRPr>
            </a:pPr>
            <a:r>
              <a:t>Logistic regression estimates a default probability between 0 and 1.</a:t>
            </a:r>
          </a:p>
        </p:txBody>
      </p:sp>
      <p:sp>
        <p:nvSpPr>
          <p:cNvPr id="21" name="Rounded Rectangle 20"/>
          <p:cNvSpPr/>
          <p:nvPr/>
        </p:nvSpPr>
        <p:spPr>
          <a:xfrm>
            <a:off x="7543800" y="4343400"/>
            <a:ext cx="3840480" cy="123444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543800" y="4343400"/>
            <a:ext cx="82296" cy="1234440"/>
          </a:xfrm>
          <a:prstGeom prst="roundRect">
            <a:avLst>
              <a:gd name="adj" fmla="val 12000"/>
            </a:avLst>
          </a:prstGeom>
          <a:solidFill>
            <a:srgbClr val="EFB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0" y="4507992"/>
            <a:ext cx="3401568" cy="347472"/>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t>DECISION</a:t>
            </a:r>
          </a:p>
        </p:txBody>
      </p:sp>
      <p:sp>
        <p:nvSpPr>
          <p:cNvPr id="24" name="TextBox 23"/>
          <p:cNvSpPr txBox="1"/>
          <p:nvPr/>
        </p:nvSpPr>
        <p:spPr>
          <a:xfrm>
            <a:off x="7772400" y="4750308"/>
            <a:ext cx="3401568" cy="521208"/>
          </a:xfrm>
          <a:prstGeom prst="rect">
            <a:avLst/>
          </a:prstGeom>
          <a:noFill/>
        </p:spPr>
        <p:txBody>
          <a:bodyPr wrap="square" lIns="27432" tIns="27432" rIns="27432" bIns="27432" anchor="t">
            <a:spAutoFit/>
          </a:bodyPr>
          <a:lstStyle/>
          <a:p>
            <a:pPr algn="l">
              <a:spcAft>
                <a:spcPts val="700"/>
              </a:spcAft>
              <a:defRPr sz="1600" b="0">
                <a:solidFill>
                  <a:srgbClr val="283343"/>
                </a:solidFill>
                <a:latin typeface="Aptos"/>
              </a:defRPr>
            </a:pPr>
            <a:r>
              <a:rPr dirty="0"/>
              <a:t>A lending decision also depends on a chosen risk threshold and business costs.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27080" cy="594360"/>
          </a:xfrm>
          <a:prstGeom prst="rect">
            <a:avLst/>
          </a:prstGeom>
          <a:noFill/>
        </p:spPr>
        <p:txBody>
          <a:bodyPr wrap="square" lIns="27432" tIns="27432" rIns="27432" bIns="27432" anchor="t">
            <a:spAutoFit/>
          </a:bodyPr>
          <a:lstStyle/>
          <a:p>
            <a:pPr algn="l">
              <a:spcAft>
                <a:spcPts val="700"/>
              </a:spcAft>
              <a:defRPr sz="2900" b="1">
                <a:solidFill>
                  <a:srgbClr val="14223B"/>
                </a:solidFill>
                <a:latin typeface="Aptos"/>
              </a:defRPr>
            </a:pPr>
            <a:r>
              <a:t>The data</a:t>
            </a:r>
          </a:p>
        </p:txBody>
      </p:sp>
      <p:sp>
        <p:nvSpPr>
          <p:cNvPr id="4" name="TextBox 3"/>
          <p:cNvSpPr txBox="1"/>
          <p:nvPr/>
        </p:nvSpPr>
        <p:spPr>
          <a:xfrm>
            <a:off x="640080" y="6510528"/>
            <a:ext cx="8046720" cy="182880"/>
          </a:xfrm>
          <a:prstGeom prst="rect">
            <a:avLst/>
          </a:prstGeom>
          <a:noFill/>
        </p:spPr>
        <p:txBody>
          <a:bodyPr wrap="square" lIns="27432" tIns="27432" rIns="27432" bIns="27432" anchor="t">
            <a:spAutoFit/>
          </a:bodyPr>
          <a:lstStyle/>
          <a:p>
            <a:pPr algn="l">
              <a:spcAft>
                <a:spcPts val="700"/>
              </a:spcAft>
              <a:defRPr sz="900" b="1">
                <a:solidFill>
                  <a:srgbClr val="647182"/>
                </a:solidFill>
                <a:latin typeface="Aptos"/>
              </a:defRPr>
            </a:pPr>
            <a:r>
              <a:t>02  |  DATASET</a:t>
            </a:r>
          </a:p>
        </p:txBody>
      </p:sp>
      <p:sp>
        <p:nvSpPr>
          <p:cNvPr id="5" name="TextBox 4"/>
          <p:cNvSpPr txBox="1"/>
          <p:nvPr/>
        </p:nvSpPr>
        <p:spPr>
          <a:xfrm>
            <a:off x="11109960" y="6473952"/>
            <a:ext cx="438912" cy="219456"/>
          </a:xfrm>
          <a:prstGeom prst="rect">
            <a:avLst/>
          </a:prstGeom>
          <a:noFill/>
        </p:spPr>
        <p:txBody>
          <a:bodyPr wrap="square" lIns="27432" tIns="27432" rIns="27432" bIns="27432" anchor="t">
            <a:spAutoFit/>
          </a:bodyPr>
          <a:lstStyle/>
          <a:p>
            <a:pPr algn="r">
              <a:spcAft>
                <a:spcPts val="700"/>
              </a:spcAft>
              <a:defRPr sz="900" b="0">
                <a:solidFill>
                  <a:srgbClr val="647182"/>
                </a:solidFill>
                <a:latin typeface="Aptos"/>
              </a:defRPr>
            </a:pPr>
            <a:r>
              <a:t>03</a:t>
            </a:r>
          </a:p>
        </p:txBody>
      </p:sp>
      <p:sp>
        <p:nvSpPr>
          <p:cNvPr id="6" name="TextBox 5"/>
          <p:cNvSpPr txBox="1"/>
          <p:nvPr/>
        </p:nvSpPr>
        <p:spPr>
          <a:xfrm>
            <a:off x="731520" y="1234440"/>
            <a:ext cx="10607040" cy="502920"/>
          </a:xfrm>
          <a:prstGeom prst="rect">
            <a:avLst/>
          </a:prstGeom>
          <a:noFill/>
        </p:spPr>
        <p:txBody>
          <a:bodyPr wrap="square" lIns="27432" tIns="27432" rIns="27432" bIns="27432" anchor="t">
            <a:spAutoFit/>
          </a:bodyPr>
          <a:lstStyle/>
          <a:p>
            <a:pPr algn="l">
              <a:spcAft>
                <a:spcPts val="700"/>
              </a:spcAft>
              <a:defRPr sz="2100" b="1">
                <a:solidFill>
                  <a:srgbClr val="14223B"/>
                </a:solidFill>
                <a:latin typeface="Aptos"/>
              </a:defRPr>
            </a:pPr>
            <a:r>
              <a:t>The model uses historical loan records with a binary outcome.</a:t>
            </a:r>
          </a:p>
        </p:txBody>
      </p:sp>
      <p:sp>
        <p:nvSpPr>
          <p:cNvPr id="7" name="Rounded Rectangle 6"/>
          <p:cNvSpPr/>
          <p:nvPr/>
        </p:nvSpPr>
        <p:spPr>
          <a:xfrm>
            <a:off x="731520" y="2057400"/>
            <a:ext cx="3429000" cy="196596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31520" y="2057400"/>
            <a:ext cx="82296" cy="1965960"/>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221992"/>
            <a:ext cx="2990088" cy="347472"/>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t>TARGET</a:t>
            </a:r>
          </a:p>
        </p:txBody>
      </p:sp>
      <p:sp>
        <p:nvSpPr>
          <p:cNvPr id="10" name="TextBox 9"/>
          <p:cNvSpPr txBox="1"/>
          <p:nvPr/>
        </p:nvSpPr>
        <p:spPr>
          <a:xfrm>
            <a:off x="960120" y="2660904"/>
            <a:ext cx="2990088" cy="1065933"/>
          </a:xfrm>
          <a:prstGeom prst="rect">
            <a:avLst/>
          </a:prstGeom>
          <a:noFill/>
        </p:spPr>
        <p:txBody>
          <a:bodyPr wrap="square" lIns="27432" tIns="27432" rIns="27432" bIns="27432" anchor="t">
            <a:spAutoFit/>
          </a:bodyPr>
          <a:lstStyle/>
          <a:p>
            <a:pPr algn="l">
              <a:spcAft>
                <a:spcPts val="700"/>
              </a:spcAft>
              <a:defRPr sz="1800" b="0">
                <a:solidFill>
                  <a:srgbClr val="283343"/>
                </a:solidFill>
                <a:latin typeface="Aptos"/>
              </a:defRPr>
            </a:pPr>
            <a:r>
              <a:rPr dirty="0"/>
              <a:t>Default</a:t>
            </a:r>
          </a:p>
          <a:p>
            <a:pPr algn="l">
              <a:spcAft>
                <a:spcPts val="700"/>
              </a:spcAft>
              <a:defRPr sz="1800" b="0">
                <a:solidFill>
                  <a:srgbClr val="283343"/>
                </a:solidFill>
                <a:latin typeface="Aptos"/>
              </a:defRPr>
            </a:pPr>
            <a:r>
              <a:rPr dirty="0"/>
              <a:t>0 = did not default</a:t>
            </a:r>
          </a:p>
          <a:p>
            <a:pPr algn="l">
              <a:spcAft>
                <a:spcPts val="700"/>
              </a:spcAft>
              <a:defRPr sz="1800" b="0">
                <a:solidFill>
                  <a:srgbClr val="283343"/>
                </a:solidFill>
                <a:latin typeface="Aptos"/>
              </a:defRPr>
            </a:pPr>
            <a:r>
              <a:rPr dirty="0"/>
              <a:t>1 = default</a:t>
            </a:r>
          </a:p>
        </p:txBody>
      </p:sp>
      <p:sp>
        <p:nvSpPr>
          <p:cNvPr id="11" name="Rounded Rectangle 10"/>
          <p:cNvSpPr/>
          <p:nvPr/>
        </p:nvSpPr>
        <p:spPr>
          <a:xfrm>
            <a:off x="4389120" y="2057400"/>
            <a:ext cx="3429000" cy="196596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89120" y="2057400"/>
            <a:ext cx="82296" cy="1965960"/>
          </a:xfrm>
          <a:prstGeom prst="roundRect">
            <a:avLst>
              <a:gd name="adj" fmla="val 12000"/>
            </a:avLst>
          </a:prstGeom>
          <a:solidFill>
            <a:srgbClr val="2C6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2221992"/>
            <a:ext cx="2990088" cy="347472"/>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t>NUMERIC PREDICTORS</a:t>
            </a:r>
          </a:p>
        </p:txBody>
      </p:sp>
      <p:sp>
        <p:nvSpPr>
          <p:cNvPr id="14" name="TextBox 13"/>
          <p:cNvSpPr txBox="1"/>
          <p:nvPr/>
        </p:nvSpPr>
        <p:spPr>
          <a:xfrm>
            <a:off x="4617720" y="2660904"/>
            <a:ext cx="2990088" cy="1252728"/>
          </a:xfrm>
          <a:prstGeom prst="rect">
            <a:avLst/>
          </a:prstGeom>
          <a:noFill/>
        </p:spPr>
        <p:txBody>
          <a:bodyPr wrap="square" lIns="27432" tIns="27432" rIns="27432" bIns="27432" anchor="t">
            <a:spAutoFit/>
          </a:bodyPr>
          <a:lstStyle/>
          <a:p>
            <a:pPr algn="l">
              <a:spcAft>
                <a:spcPts val="700"/>
              </a:spcAft>
              <a:defRPr sz="1600" b="0">
                <a:solidFill>
                  <a:srgbClr val="283343"/>
                </a:solidFill>
                <a:latin typeface="Aptos"/>
              </a:defRPr>
            </a:pPr>
            <a:r>
              <a:t>Examples: income, loan amount, utilisation, debt-to-income ratio and age/history variables.</a:t>
            </a:r>
          </a:p>
        </p:txBody>
      </p:sp>
      <p:sp>
        <p:nvSpPr>
          <p:cNvPr id="15" name="Rounded Rectangle 14"/>
          <p:cNvSpPr/>
          <p:nvPr/>
        </p:nvSpPr>
        <p:spPr>
          <a:xfrm>
            <a:off x="8046720" y="2057400"/>
            <a:ext cx="3429000" cy="196596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46720" y="2057400"/>
            <a:ext cx="82296" cy="1965960"/>
          </a:xfrm>
          <a:prstGeom prst="roundRect">
            <a:avLst>
              <a:gd name="adj" fmla="val 12000"/>
            </a:avLst>
          </a:prstGeom>
          <a:solidFill>
            <a:srgbClr val="EFB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20" y="2221992"/>
            <a:ext cx="2990088" cy="347472"/>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t>CATEGORICAL PREDICTORS</a:t>
            </a:r>
          </a:p>
        </p:txBody>
      </p:sp>
      <p:sp>
        <p:nvSpPr>
          <p:cNvPr id="18" name="TextBox 17"/>
          <p:cNvSpPr txBox="1"/>
          <p:nvPr/>
        </p:nvSpPr>
        <p:spPr>
          <a:xfrm>
            <a:off x="8275320" y="2660904"/>
            <a:ext cx="2990088" cy="1252728"/>
          </a:xfrm>
          <a:prstGeom prst="rect">
            <a:avLst/>
          </a:prstGeom>
          <a:noFill/>
        </p:spPr>
        <p:txBody>
          <a:bodyPr wrap="square" lIns="27432" tIns="27432" rIns="27432" bIns="27432" anchor="t">
            <a:spAutoFit/>
          </a:bodyPr>
          <a:lstStyle/>
          <a:p>
            <a:pPr algn="l">
              <a:spcAft>
                <a:spcPts val="700"/>
              </a:spcAft>
              <a:defRPr sz="1600" b="0">
                <a:solidFill>
                  <a:srgbClr val="283343"/>
                </a:solidFill>
                <a:latin typeface="Aptos"/>
              </a:defRPr>
            </a:pPr>
            <a:r>
              <a:t>Examples: employment status and other borrower/loan categories.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27080" cy="594360"/>
          </a:xfrm>
          <a:prstGeom prst="rect">
            <a:avLst/>
          </a:prstGeom>
          <a:noFill/>
        </p:spPr>
        <p:txBody>
          <a:bodyPr wrap="square" lIns="27432" tIns="27432" rIns="27432" bIns="27432" anchor="t">
            <a:spAutoFit/>
          </a:bodyPr>
          <a:lstStyle/>
          <a:p>
            <a:pPr algn="l">
              <a:spcAft>
                <a:spcPts val="700"/>
              </a:spcAft>
              <a:defRPr sz="2900" b="1">
                <a:solidFill>
                  <a:srgbClr val="14223B"/>
                </a:solidFill>
                <a:latin typeface="Aptos"/>
              </a:defRPr>
            </a:pPr>
            <a:r>
              <a:t>Final model specification</a:t>
            </a:r>
          </a:p>
        </p:txBody>
      </p:sp>
      <p:sp>
        <p:nvSpPr>
          <p:cNvPr id="4" name="TextBox 3"/>
          <p:cNvSpPr txBox="1"/>
          <p:nvPr/>
        </p:nvSpPr>
        <p:spPr>
          <a:xfrm>
            <a:off x="640080" y="6510528"/>
            <a:ext cx="8046720" cy="182880"/>
          </a:xfrm>
          <a:prstGeom prst="rect">
            <a:avLst/>
          </a:prstGeom>
          <a:noFill/>
        </p:spPr>
        <p:txBody>
          <a:bodyPr wrap="square" lIns="27432" tIns="27432" rIns="27432" bIns="27432" anchor="t">
            <a:spAutoFit/>
          </a:bodyPr>
          <a:lstStyle/>
          <a:p>
            <a:pPr algn="l">
              <a:spcAft>
                <a:spcPts val="700"/>
              </a:spcAft>
              <a:defRPr sz="900" b="1">
                <a:solidFill>
                  <a:srgbClr val="647182"/>
                </a:solidFill>
                <a:latin typeface="Aptos"/>
              </a:defRPr>
            </a:pPr>
            <a:r>
              <a:t>03  |  SELECTED MODEL</a:t>
            </a:r>
          </a:p>
        </p:txBody>
      </p:sp>
      <p:sp>
        <p:nvSpPr>
          <p:cNvPr id="5" name="TextBox 4"/>
          <p:cNvSpPr txBox="1"/>
          <p:nvPr/>
        </p:nvSpPr>
        <p:spPr>
          <a:xfrm>
            <a:off x="11109960" y="6473952"/>
            <a:ext cx="438912" cy="219456"/>
          </a:xfrm>
          <a:prstGeom prst="rect">
            <a:avLst/>
          </a:prstGeom>
          <a:noFill/>
        </p:spPr>
        <p:txBody>
          <a:bodyPr wrap="square" lIns="27432" tIns="27432" rIns="27432" bIns="27432" anchor="t">
            <a:spAutoFit/>
          </a:bodyPr>
          <a:lstStyle/>
          <a:p>
            <a:pPr algn="r">
              <a:spcAft>
                <a:spcPts val="700"/>
              </a:spcAft>
              <a:defRPr sz="900" b="0">
                <a:solidFill>
                  <a:srgbClr val="647182"/>
                </a:solidFill>
                <a:latin typeface="Aptos"/>
              </a:defRPr>
            </a:pPr>
            <a:r>
              <a:t>04</a:t>
            </a:r>
          </a:p>
        </p:txBody>
      </p:sp>
      <p:sp>
        <p:nvSpPr>
          <p:cNvPr id="6" name="TextBox 5"/>
          <p:cNvSpPr txBox="1"/>
          <p:nvPr/>
        </p:nvSpPr>
        <p:spPr>
          <a:xfrm>
            <a:off x="731520" y="952255"/>
            <a:ext cx="10698480" cy="502920"/>
          </a:xfrm>
          <a:prstGeom prst="rect">
            <a:avLst/>
          </a:prstGeom>
          <a:noFill/>
        </p:spPr>
        <p:txBody>
          <a:bodyPr wrap="square" lIns="27432" tIns="27432" rIns="27432" bIns="27432" anchor="t">
            <a:spAutoFit/>
          </a:bodyPr>
          <a:lstStyle/>
          <a:p>
            <a:pPr algn="l">
              <a:spcAft>
                <a:spcPts val="700"/>
              </a:spcAft>
              <a:defRPr sz="2000" b="0">
                <a:solidFill>
                  <a:srgbClr val="283343"/>
                </a:solidFill>
                <a:latin typeface="Aptos"/>
              </a:defRPr>
            </a:pPr>
            <a:r>
              <a:rPr dirty="0"/>
              <a:t>The model estimates default probability from four retained predictors:</a:t>
            </a:r>
          </a:p>
        </p:txBody>
      </p:sp>
      <p:sp>
        <p:nvSpPr>
          <p:cNvPr id="7" name="Rounded Rectangle 6"/>
          <p:cNvSpPr/>
          <p:nvPr/>
        </p:nvSpPr>
        <p:spPr>
          <a:xfrm>
            <a:off x="731520" y="1496958"/>
            <a:ext cx="10744200" cy="881173"/>
          </a:xfrm>
          <a:prstGeom prst="roundRect">
            <a:avLst>
              <a:gd name="adj" fmla="val 12000"/>
            </a:avLst>
          </a:prstGeom>
          <a:solidFill>
            <a:srgbClr val="142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6592" y="1722146"/>
            <a:ext cx="10149840" cy="347788"/>
          </a:xfrm>
          <a:prstGeom prst="rect">
            <a:avLst/>
          </a:prstGeom>
          <a:noFill/>
        </p:spPr>
        <p:txBody>
          <a:bodyPr wrap="square" lIns="27432" tIns="27432" rIns="27432" bIns="27432" anchor="t">
            <a:spAutoFit/>
          </a:bodyPr>
          <a:lstStyle/>
          <a:p>
            <a:pPr algn="ctr">
              <a:spcAft>
                <a:spcPts val="700"/>
              </a:spcAft>
              <a:defRPr sz="1900" b="1">
                <a:solidFill>
                  <a:srgbClr val="FFFFFF"/>
                </a:solidFill>
                <a:latin typeface="Aptos"/>
              </a:defRPr>
            </a:pPr>
            <a:r>
              <a:rPr lang="en-US" dirty="0"/>
              <a:t>Logit(P) = -3.8752 - 0.4656</a:t>
            </a:r>
            <a:r>
              <a:rPr lang="en-US" dirty="0">
                <a:solidFill>
                  <a:schemeClr val="accent4">
                    <a:lumMod val="60000"/>
                    <a:lumOff val="40000"/>
                  </a:schemeClr>
                </a:solidFill>
              </a:rPr>
              <a:t>D</a:t>
            </a:r>
            <a:r>
              <a:rPr lang="en-US" baseline="-25000" dirty="0">
                <a:solidFill>
                  <a:schemeClr val="accent4">
                    <a:lumMod val="60000"/>
                    <a:lumOff val="40000"/>
                  </a:schemeClr>
                </a:solidFill>
              </a:rPr>
              <a:t>1</a:t>
            </a:r>
            <a:r>
              <a:rPr lang="en-US" dirty="0">
                <a:solidFill>
                  <a:schemeClr val="accent4">
                    <a:lumMod val="60000"/>
                    <a:lumOff val="40000"/>
                  </a:schemeClr>
                </a:solidFill>
              </a:rPr>
              <a:t> </a:t>
            </a:r>
            <a:r>
              <a:rPr lang="en-US" dirty="0"/>
              <a:t>- 0.0819</a:t>
            </a:r>
            <a:r>
              <a:rPr lang="en-US" dirty="0">
                <a:solidFill>
                  <a:schemeClr val="accent4">
                    <a:lumMod val="60000"/>
                    <a:lumOff val="40000"/>
                  </a:schemeClr>
                </a:solidFill>
              </a:rPr>
              <a:t>D</a:t>
            </a:r>
            <a:r>
              <a:rPr lang="en-US" baseline="-25000" dirty="0">
                <a:solidFill>
                  <a:schemeClr val="accent4">
                    <a:lumMod val="60000"/>
                    <a:lumOff val="40000"/>
                  </a:schemeClr>
                </a:solidFill>
              </a:rPr>
              <a:t>2</a:t>
            </a:r>
            <a:r>
              <a:rPr lang="en-US" baseline="-25000" dirty="0"/>
              <a:t> </a:t>
            </a:r>
            <a:r>
              <a:rPr lang="en-US" dirty="0"/>
              <a:t>- 0.0103</a:t>
            </a:r>
            <a:r>
              <a:rPr lang="en-US" dirty="0">
                <a:solidFill>
                  <a:schemeClr val="accent4">
                    <a:lumMod val="60000"/>
                    <a:lumOff val="40000"/>
                  </a:schemeClr>
                </a:solidFill>
              </a:rPr>
              <a:t>D</a:t>
            </a:r>
            <a:r>
              <a:rPr lang="en-US" baseline="-25000" dirty="0">
                <a:solidFill>
                  <a:schemeClr val="accent4">
                    <a:lumMod val="60000"/>
                    <a:lumOff val="40000"/>
                  </a:schemeClr>
                </a:solidFill>
              </a:rPr>
              <a:t>3</a:t>
            </a:r>
            <a:r>
              <a:rPr lang="en-US" baseline="-25000" dirty="0"/>
              <a:t> </a:t>
            </a:r>
            <a:r>
              <a:rPr lang="en-US" dirty="0"/>
              <a:t>+ 0.0974</a:t>
            </a:r>
            <a:r>
              <a:rPr lang="en-US" dirty="0">
                <a:solidFill>
                  <a:schemeClr val="accent6">
                    <a:lumMod val="60000"/>
                    <a:lumOff val="40000"/>
                  </a:schemeClr>
                </a:solidFill>
              </a:rPr>
              <a:t>C</a:t>
            </a:r>
            <a:r>
              <a:rPr lang="en-US" dirty="0"/>
              <a:t> + 0.0134</a:t>
            </a:r>
            <a:r>
              <a:rPr lang="en-US" dirty="0">
                <a:solidFill>
                  <a:srgbClr val="92D050"/>
                </a:solidFill>
              </a:rPr>
              <a:t>B</a:t>
            </a:r>
            <a:r>
              <a:rPr lang="en-US" dirty="0"/>
              <a:t> + 0.7794</a:t>
            </a:r>
            <a:r>
              <a:rPr lang="en-US" dirty="0">
                <a:solidFill>
                  <a:schemeClr val="accent2">
                    <a:lumMod val="60000"/>
                    <a:lumOff val="40000"/>
                  </a:schemeClr>
                </a:solidFill>
              </a:rPr>
              <a:t>A</a:t>
            </a:r>
            <a:endParaRPr dirty="0">
              <a:solidFill>
                <a:schemeClr val="accent2">
                  <a:lumMod val="60000"/>
                  <a:lumOff val="40000"/>
                </a:schemeClr>
              </a:solidFill>
            </a:endParaRPr>
          </a:p>
        </p:txBody>
      </p:sp>
      <p:sp>
        <p:nvSpPr>
          <p:cNvPr id="9" name="Rounded Rectangle 8"/>
          <p:cNvSpPr/>
          <p:nvPr/>
        </p:nvSpPr>
        <p:spPr>
          <a:xfrm>
            <a:off x="8145938" y="4562644"/>
            <a:ext cx="3257501" cy="60763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 name="Rounded Rectangle 9"/>
          <p:cNvSpPr/>
          <p:nvPr/>
        </p:nvSpPr>
        <p:spPr>
          <a:xfrm>
            <a:off x="8061647" y="4573525"/>
            <a:ext cx="99579" cy="618533"/>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1" name="TextBox 10"/>
          <p:cNvSpPr txBox="1"/>
          <p:nvPr/>
        </p:nvSpPr>
        <p:spPr>
          <a:xfrm>
            <a:off x="8294479" y="4573525"/>
            <a:ext cx="3507364" cy="240066"/>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rPr sz="1200" dirty="0"/>
              <a:t>OUTPUT</a:t>
            </a:r>
          </a:p>
        </p:txBody>
      </p:sp>
      <p:sp>
        <p:nvSpPr>
          <p:cNvPr id="12" name="TextBox 11"/>
          <p:cNvSpPr txBox="1"/>
          <p:nvPr/>
        </p:nvSpPr>
        <p:spPr>
          <a:xfrm>
            <a:off x="8294479" y="4833106"/>
            <a:ext cx="3507364" cy="240066"/>
          </a:xfrm>
          <a:prstGeom prst="rect">
            <a:avLst/>
          </a:prstGeom>
          <a:noFill/>
        </p:spPr>
        <p:txBody>
          <a:bodyPr wrap="square" lIns="27432" tIns="27432" rIns="27432" bIns="27432" anchor="t">
            <a:spAutoFit/>
          </a:bodyPr>
          <a:lstStyle/>
          <a:p>
            <a:pPr algn="l">
              <a:spcAft>
                <a:spcPts val="700"/>
              </a:spcAft>
              <a:defRPr sz="1700" b="0">
                <a:solidFill>
                  <a:srgbClr val="283343"/>
                </a:solidFill>
                <a:latin typeface="Aptos"/>
              </a:defRPr>
            </a:pPr>
            <a:r>
              <a:rPr sz="1200" dirty="0"/>
              <a:t>Estimated probability of default</a:t>
            </a:r>
          </a:p>
        </p:txBody>
      </p:sp>
      <p:sp>
        <p:nvSpPr>
          <p:cNvPr id="13" name="Rounded Rectangle 12"/>
          <p:cNvSpPr/>
          <p:nvPr/>
        </p:nvSpPr>
        <p:spPr>
          <a:xfrm>
            <a:off x="8161226" y="5321847"/>
            <a:ext cx="3242213" cy="748425"/>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4" name="Rounded Rectangle 13"/>
          <p:cNvSpPr/>
          <p:nvPr/>
        </p:nvSpPr>
        <p:spPr>
          <a:xfrm>
            <a:off x="8074775" y="5340920"/>
            <a:ext cx="99579" cy="748425"/>
          </a:xfrm>
          <a:prstGeom prst="roundRect">
            <a:avLst>
              <a:gd name="adj" fmla="val 12000"/>
            </a:avLst>
          </a:prstGeom>
          <a:solidFill>
            <a:srgbClr val="2C6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5" name="TextBox 14"/>
          <p:cNvSpPr txBox="1"/>
          <p:nvPr/>
        </p:nvSpPr>
        <p:spPr>
          <a:xfrm>
            <a:off x="8278663" y="5358983"/>
            <a:ext cx="3507364" cy="240066"/>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rPr sz="1200" dirty="0"/>
              <a:t>LINK FUNCTION</a:t>
            </a:r>
          </a:p>
        </p:txBody>
      </p:sp>
      <p:sp>
        <p:nvSpPr>
          <p:cNvPr id="16" name="TextBox 15"/>
          <p:cNvSpPr txBox="1"/>
          <p:nvPr/>
        </p:nvSpPr>
        <p:spPr>
          <a:xfrm>
            <a:off x="8278663" y="5559235"/>
            <a:ext cx="3190753" cy="424732"/>
          </a:xfrm>
          <a:prstGeom prst="rect">
            <a:avLst/>
          </a:prstGeom>
          <a:noFill/>
        </p:spPr>
        <p:txBody>
          <a:bodyPr wrap="square" lIns="27432" tIns="27432" rIns="27432" bIns="27432" anchor="t">
            <a:spAutoFit/>
          </a:bodyPr>
          <a:lstStyle/>
          <a:p>
            <a:pPr algn="l">
              <a:spcAft>
                <a:spcPts val="700"/>
              </a:spcAft>
              <a:defRPr sz="1600" b="0">
                <a:solidFill>
                  <a:srgbClr val="283343"/>
                </a:solidFill>
                <a:latin typeface="Aptos"/>
              </a:defRPr>
            </a:pPr>
            <a:r>
              <a:rPr lang="en-ZA" sz="1200" dirty="0"/>
              <a:t>The logit</a:t>
            </a:r>
            <a:r>
              <a:rPr sz="1200" dirty="0"/>
              <a:t> link maps linear predictors to probabilities</a:t>
            </a:r>
          </a:p>
        </p:txBody>
      </p:sp>
      <p:sp>
        <p:nvSpPr>
          <p:cNvPr id="17" name="Rounded Rectangle 16"/>
          <p:cNvSpPr/>
          <p:nvPr/>
        </p:nvSpPr>
        <p:spPr>
          <a:xfrm>
            <a:off x="8065879" y="2603319"/>
            <a:ext cx="3337560" cy="1861434"/>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8" name="Rounded Rectangle 17"/>
          <p:cNvSpPr/>
          <p:nvPr/>
        </p:nvSpPr>
        <p:spPr>
          <a:xfrm>
            <a:off x="8046359" y="2728283"/>
            <a:ext cx="99579" cy="1717540"/>
          </a:xfrm>
          <a:prstGeom prst="roundRect">
            <a:avLst>
              <a:gd name="adj" fmla="val 12000"/>
            </a:avLst>
          </a:prstGeom>
          <a:solidFill>
            <a:srgbClr val="EFB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9" name="TextBox 18"/>
          <p:cNvSpPr txBox="1"/>
          <p:nvPr/>
        </p:nvSpPr>
        <p:spPr>
          <a:xfrm>
            <a:off x="8294479" y="2853656"/>
            <a:ext cx="2898649" cy="270843"/>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rPr sz="1400" dirty="0"/>
              <a:t>INTERPRETATION</a:t>
            </a:r>
          </a:p>
        </p:txBody>
      </p:sp>
      <p:sp>
        <p:nvSpPr>
          <p:cNvPr id="22" name="TextBox 21">
            <a:extLst>
              <a:ext uri="{FF2B5EF4-FFF2-40B4-BE49-F238E27FC236}">
                <a16:creationId xmlns:a16="http://schemas.microsoft.com/office/drawing/2014/main" id="{4099469E-28E5-AC75-6D4A-5A3C51E4E7D8}"/>
              </a:ext>
            </a:extLst>
          </p:cNvPr>
          <p:cNvSpPr txBox="1"/>
          <p:nvPr/>
        </p:nvSpPr>
        <p:spPr>
          <a:xfrm>
            <a:off x="8278663" y="3249120"/>
            <a:ext cx="2719603" cy="830997"/>
          </a:xfrm>
          <a:prstGeom prst="rect">
            <a:avLst/>
          </a:prstGeom>
          <a:noFill/>
        </p:spPr>
        <p:txBody>
          <a:bodyPr wrap="square" rtlCol="0">
            <a:spAutoFit/>
          </a:bodyPr>
          <a:lstStyle/>
          <a:p>
            <a:r>
              <a:rPr lang="en-ZA" sz="1200" dirty="0"/>
              <a:t>We can see DTI has the strongest influence on the default rate, followed by the employment status, interest rate, and utilisation</a:t>
            </a:r>
          </a:p>
        </p:txBody>
      </p:sp>
      <p:graphicFrame>
        <p:nvGraphicFramePr>
          <p:cNvPr id="23" name="Table 22">
            <a:extLst>
              <a:ext uri="{FF2B5EF4-FFF2-40B4-BE49-F238E27FC236}">
                <a16:creationId xmlns:a16="http://schemas.microsoft.com/office/drawing/2014/main" id="{8E273129-6C9F-11D4-BD08-37412F0C42A0}"/>
              </a:ext>
            </a:extLst>
          </p:cNvPr>
          <p:cNvGraphicFramePr>
            <a:graphicFrameLocks noGrp="1"/>
          </p:cNvGraphicFramePr>
          <p:nvPr>
            <p:extLst>
              <p:ext uri="{D42A27DB-BD31-4B8C-83A1-F6EECF244321}">
                <p14:modId xmlns:p14="http://schemas.microsoft.com/office/powerpoint/2010/main" val="2284854427"/>
              </p:ext>
            </p:extLst>
          </p:nvPr>
        </p:nvGraphicFramePr>
        <p:xfrm>
          <a:off x="731520" y="2679123"/>
          <a:ext cx="6239551" cy="3395196"/>
        </p:xfrm>
        <a:graphic>
          <a:graphicData uri="http://schemas.openxmlformats.org/drawingml/2006/table">
            <a:tbl>
              <a:tblPr firstRow="1">
                <a:effectLst>
                  <a:outerShdw blurRad="50800" dist="38100" dir="2700000" algn="tl" rotWithShape="0">
                    <a:prstClr val="black">
                      <a:alpha val="40000"/>
                    </a:prstClr>
                  </a:outerShdw>
                </a:effectLst>
                <a:tableStyleId>{D113A9D2-9D6B-4929-AA2D-F23B5EE8CBE7}</a:tableStyleId>
              </a:tblPr>
              <a:tblGrid>
                <a:gridCol w="1268435">
                  <a:extLst>
                    <a:ext uri="{9D8B030D-6E8A-4147-A177-3AD203B41FA5}">
                      <a16:colId xmlns:a16="http://schemas.microsoft.com/office/drawing/2014/main" val="2208261799"/>
                    </a:ext>
                  </a:extLst>
                </a:gridCol>
                <a:gridCol w="4971116">
                  <a:extLst>
                    <a:ext uri="{9D8B030D-6E8A-4147-A177-3AD203B41FA5}">
                      <a16:colId xmlns:a16="http://schemas.microsoft.com/office/drawing/2014/main" val="2552605926"/>
                    </a:ext>
                  </a:extLst>
                </a:gridCol>
              </a:tblGrid>
              <a:tr h="601821">
                <a:tc>
                  <a:txBody>
                    <a:bodyPr/>
                    <a:lstStyle/>
                    <a:p>
                      <a:r>
                        <a:rPr lang="en-ZA" dirty="0">
                          <a:solidFill>
                            <a:schemeClr val="tx2">
                              <a:lumMod val="50000"/>
                            </a:schemeClr>
                          </a:solidFill>
                        </a:rPr>
                        <a:t>Symbol</a:t>
                      </a:r>
                    </a:p>
                  </a:txBody>
                  <a:tcPr>
                    <a:lnB w="57150" cap="flat" cmpd="sng" algn="ctr">
                      <a:solidFill>
                        <a:schemeClr val="bg2"/>
                      </a:solidFill>
                      <a:prstDash val="solid"/>
                      <a:round/>
                      <a:headEnd type="none" w="med" len="med"/>
                      <a:tailEnd type="none" w="med" len="med"/>
                    </a:lnB>
                    <a:solidFill>
                      <a:srgbClr val="1D9E93"/>
                    </a:solidFill>
                  </a:tcPr>
                </a:tc>
                <a:tc>
                  <a:txBody>
                    <a:bodyPr/>
                    <a:lstStyle/>
                    <a:p>
                      <a:r>
                        <a:rPr lang="en-ZA" dirty="0">
                          <a:solidFill>
                            <a:schemeClr val="tx2">
                              <a:lumMod val="50000"/>
                            </a:schemeClr>
                          </a:solidFill>
                        </a:rPr>
                        <a:t>Meaning</a:t>
                      </a:r>
                    </a:p>
                  </a:txBody>
                  <a:tcPr>
                    <a:lnB w="57150" cap="flat" cmpd="sng" algn="ctr">
                      <a:solidFill>
                        <a:schemeClr val="bg2"/>
                      </a:solidFill>
                      <a:prstDash val="solid"/>
                      <a:round/>
                      <a:headEnd type="none" w="med" len="med"/>
                      <a:tailEnd type="none" w="med" len="med"/>
                    </a:lnB>
                    <a:solidFill>
                      <a:srgbClr val="1D9E93"/>
                    </a:solidFill>
                  </a:tcPr>
                </a:tc>
                <a:extLst>
                  <a:ext uri="{0D108BD9-81ED-4DB2-BD59-A6C34878D82A}">
                    <a16:rowId xmlns:a16="http://schemas.microsoft.com/office/drawing/2014/main" val="2858567130"/>
                  </a:ext>
                </a:extLst>
              </a:tr>
              <a:tr h="386603">
                <a:tc>
                  <a:txBody>
                    <a:bodyPr/>
                    <a:lstStyle/>
                    <a:p>
                      <a:r>
                        <a:rPr lang="en-ZA" b="1" dirty="0">
                          <a:solidFill>
                            <a:schemeClr val="accent2">
                              <a:lumMod val="60000"/>
                              <a:lumOff val="40000"/>
                            </a:schemeClr>
                          </a:solidFill>
                        </a:rPr>
                        <a:t>A</a:t>
                      </a:r>
                    </a:p>
                  </a:txBody>
                  <a:tcPr>
                    <a:lnR w="1270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r>
                        <a:rPr lang="en-ZA" dirty="0">
                          <a:solidFill>
                            <a:schemeClr val="bg2"/>
                          </a:solidFill>
                        </a:rPr>
                        <a:t>DTI</a:t>
                      </a:r>
                    </a:p>
                  </a:txBody>
                  <a:tcPr>
                    <a:lnL w="12700" cap="flat" cmpd="sng" algn="ctr">
                      <a:solidFill>
                        <a:schemeClr val="bg2"/>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4179956930"/>
                  </a:ext>
                </a:extLst>
              </a:tr>
              <a:tr h="386603">
                <a:tc>
                  <a:txBody>
                    <a:bodyPr/>
                    <a:lstStyle/>
                    <a:p>
                      <a:r>
                        <a:rPr lang="en-ZA" b="1" dirty="0">
                          <a:solidFill>
                            <a:srgbClr val="92D050"/>
                          </a:solidFill>
                        </a:rPr>
                        <a:t>B</a:t>
                      </a:r>
                    </a:p>
                  </a:txBody>
                  <a:tcPr>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r>
                        <a:rPr lang="en-ZA" dirty="0">
                          <a:solidFill>
                            <a:schemeClr val="bg2"/>
                          </a:solidFill>
                        </a:rPr>
                        <a:t>Utilisation</a:t>
                      </a:r>
                    </a:p>
                  </a:txBody>
                  <a:tcPr>
                    <a:lnL w="12700" cap="flat" cmpd="sng" algn="ctr">
                      <a:solidFill>
                        <a:schemeClr val="bg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2036336050"/>
                  </a:ext>
                </a:extLst>
              </a:tr>
              <a:tr h="386603">
                <a:tc>
                  <a:txBody>
                    <a:bodyPr/>
                    <a:lstStyle/>
                    <a:p>
                      <a:r>
                        <a:rPr lang="en-ZA" b="1" dirty="0">
                          <a:solidFill>
                            <a:schemeClr val="accent6">
                              <a:lumMod val="60000"/>
                              <a:lumOff val="40000"/>
                            </a:schemeClr>
                          </a:solidFill>
                        </a:rPr>
                        <a:t>C</a:t>
                      </a:r>
                    </a:p>
                  </a:txBody>
                  <a:tcPr>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r>
                        <a:rPr lang="en-ZA" dirty="0">
                          <a:solidFill>
                            <a:schemeClr val="bg2"/>
                          </a:solidFill>
                        </a:rPr>
                        <a:t>Interest rate</a:t>
                      </a:r>
                    </a:p>
                  </a:txBody>
                  <a:tcPr>
                    <a:lnL w="12700" cap="flat" cmpd="sng" algn="ctr">
                      <a:solidFill>
                        <a:schemeClr val="bg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291119166"/>
                  </a:ext>
                </a:extLst>
              </a:tr>
              <a:tr h="476457">
                <a:tc>
                  <a:txBody>
                    <a:bodyPr/>
                    <a:lstStyle/>
                    <a:p>
                      <a:r>
                        <a:rPr lang="en-ZA" b="1" dirty="0">
                          <a:solidFill>
                            <a:schemeClr val="accent4">
                              <a:lumMod val="60000"/>
                              <a:lumOff val="40000"/>
                            </a:schemeClr>
                          </a:solidFill>
                        </a:rPr>
                        <a:t>D</a:t>
                      </a:r>
                      <a:r>
                        <a:rPr lang="en-ZA" b="1" cap="none" baseline="-25000" dirty="0">
                          <a:solidFill>
                            <a:schemeClr val="accent4">
                              <a:lumMod val="60000"/>
                              <a:lumOff val="40000"/>
                            </a:schemeClr>
                          </a:solidFill>
                        </a:rPr>
                        <a:t>1 </a:t>
                      </a:r>
                      <a:endParaRPr lang="en-ZA" b="1" dirty="0">
                        <a:solidFill>
                          <a:schemeClr val="accent4">
                            <a:lumMod val="60000"/>
                            <a:lumOff val="40000"/>
                          </a:schemeClr>
                        </a:solidFill>
                      </a:endParaRPr>
                    </a:p>
                  </a:txBody>
                  <a:tcPr>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r>
                        <a:rPr lang="en-ZA" dirty="0">
                          <a:solidFill>
                            <a:schemeClr val="bg2"/>
                          </a:solidFill>
                        </a:rPr>
                        <a:t>Employment status (Salaried)</a:t>
                      </a:r>
                    </a:p>
                  </a:txBody>
                  <a:tcPr>
                    <a:lnL w="12700" cap="flat" cmpd="sng" algn="ctr">
                      <a:solidFill>
                        <a:schemeClr val="bg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2456019378"/>
                  </a:ext>
                </a:extLst>
              </a:tr>
              <a:tr h="476457">
                <a:tc>
                  <a:txBody>
                    <a:bodyPr/>
                    <a:lstStyle/>
                    <a:p>
                      <a:r>
                        <a:rPr lang="en-ZA" b="1" dirty="0">
                          <a:solidFill>
                            <a:schemeClr val="accent4">
                              <a:lumMod val="60000"/>
                              <a:lumOff val="40000"/>
                            </a:schemeClr>
                          </a:solidFill>
                        </a:rPr>
                        <a:t>D</a:t>
                      </a:r>
                      <a:r>
                        <a:rPr lang="en-ZA" b="1" baseline="-25000" dirty="0">
                          <a:solidFill>
                            <a:schemeClr val="accent4">
                              <a:lumMod val="60000"/>
                              <a:lumOff val="40000"/>
                            </a:schemeClr>
                          </a:solidFill>
                        </a:rPr>
                        <a:t>2</a:t>
                      </a:r>
                      <a:endParaRPr lang="en-ZA" b="1" dirty="0">
                        <a:solidFill>
                          <a:schemeClr val="accent4">
                            <a:lumMod val="60000"/>
                            <a:lumOff val="40000"/>
                          </a:schemeClr>
                        </a:solidFill>
                      </a:endParaRPr>
                    </a:p>
                  </a:txBody>
                  <a:tcPr>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ZA" dirty="0">
                          <a:solidFill>
                            <a:schemeClr val="bg2"/>
                          </a:solidFill>
                        </a:rPr>
                        <a:t>Employment status (Unemployed)</a:t>
                      </a:r>
                    </a:p>
                  </a:txBody>
                  <a:tcPr>
                    <a:lnL w="12700" cap="flat" cmpd="sng" algn="ctr">
                      <a:solidFill>
                        <a:schemeClr val="bg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769374513"/>
                  </a:ext>
                </a:extLst>
              </a:tr>
              <a:tr h="680652">
                <a:tc>
                  <a:txBody>
                    <a:bodyPr/>
                    <a:lstStyle/>
                    <a:p>
                      <a:r>
                        <a:rPr lang="en-ZA" b="1" dirty="0">
                          <a:solidFill>
                            <a:schemeClr val="accent4">
                              <a:lumMod val="60000"/>
                              <a:lumOff val="40000"/>
                            </a:schemeClr>
                          </a:solidFill>
                        </a:rPr>
                        <a:t>D</a:t>
                      </a:r>
                      <a:r>
                        <a:rPr lang="en-ZA" b="1" baseline="-25000" dirty="0">
                          <a:solidFill>
                            <a:schemeClr val="accent4">
                              <a:lumMod val="60000"/>
                              <a:lumOff val="40000"/>
                            </a:schemeClr>
                          </a:solidFill>
                        </a:rPr>
                        <a:t>3</a:t>
                      </a:r>
                      <a:endParaRPr lang="en-ZA" b="1" dirty="0">
                        <a:solidFill>
                          <a:schemeClr val="accent4">
                            <a:lumMod val="60000"/>
                            <a:lumOff val="40000"/>
                          </a:schemeClr>
                        </a:solidFill>
                      </a:endParaRPr>
                    </a:p>
                  </a:txBody>
                  <a:tcPr>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solidFill>
                      <a:schemeClr val="tx2">
                        <a:lumMod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ZA" dirty="0">
                          <a:solidFill>
                            <a:schemeClr val="bg2"/>
                          </a:solidFill>
                        </a:rPr>
                        <a:t>Employment status (Self-employed)</a:t>
                      </a:r>
                    </a:p>
                  </a:txBody>
                  <a:tcPr>
                    <a:lnL w="12700" cap="flat" cmpd="sng" algn="ctr">
                      <a:solidFill>
                        <a:schemeClr val="bg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73756923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27080" cy="594360"/>
          </a:xfrm>
          <a:prstGeom prst="rect">
            <a:avLst/>
          </a:prstGeom>
          <a:noFill/>
        </p:spPr>
        <p:txBody>
          <a:bodyPr wrap="square" lIns="27432" tIns="27432" rIns="27432" bIns="27432" anchor="t">
            <a:spAutoFit/>
          </a:bodyPr>
          <a:lstStyle/>
          <a:p>
            <a:pPr algn="l">
              <a:spcAft>
                <a:spcPts val="700"/>
              </a:spcAft>
              <a:defRPr sz="2900" b="1">
                <a:solidFill>
                  <a:srgbClr val="14223B"/>
                </a:solidFill>
                <a:latin typeface="Aptos"/>
              </a:defRPr>
            </a:pPr>
            <a:r>
              <a:t>How the model was developed</a:t>
            </a:r>
          </a:p>
        </p:txBody>
      </p:sp>
      <p:sp>
        <p:nvSpPr>
          <p:cNvPr id="4" name="TextBox 3"/>
          <p:cNvSpPr txBox="1"/>
          <p:nvPr/>
        </p:nvSpPr>
        <p:spPr>
          <a:xfrm>
            <a:off x="640080" y="6510528"/>
            <a:ext cx="8046720" cy="182880"/>
          </a:xfrm>
          <a:prstGeom prst="rect">
            <a:avLst/>
          </a:prstGeom>
          <a:noFill/>
        </p:spPr>
        <p:txBody>
          <a:bodyPr wrap="square" lIns="27432" tIns="27432" rIns="27432" bIns="27432" anchor="t">
            <a:spAutoFit/>
          </a:bodyPr>
          <a:lstStyle/>
          <a:p>
            <a:pPr algn="l">
              <a:spcAft>
                <a:spcPts val="700"/>
              </a:spcAft>
              <a:defRPr sz="900" b="1">
                <a:solidFill>
                  <a:srgbClr val="647182"/>
                </a:solidFill>
                <a:latin typeface="Aptos"/>
              </a:defRPr>
            </a:pPr>
            <a:r>
              <a:t>04  |  MODEL SELECTION</a:t>
            </a:r>
          </a:p>
        </p:txBody>
      </p:sp>
      <p:sp>
        <p:nvSpPr>
          <p:cNvPr id="5" name="TextBox 4"/>
          <p:cNvSpPr txBox="1"/>
          <p:nvPr/>
        </p:nvSpPr>
        <p:spPr>
          <a:xfrm>
            <a:off x="11109960" y="6473952"/>
            <a:ext cx="438912" cy="219456"/>
          </a:xfrm>
          <a:prstGeom prst="rect">
            <a:avLst/>
          </a:prstGeom>
          <a:noFill/>
        </p:spPr>
        <p:txBody>
          <a:bodyPr wrap="square" lIns="27432" tIns="27432" rIns="27432" bIns="27432" anchor="t">
            <a:spAutoFit/>
          </a:bodyPr>
          <a:lstStyle/>
          <a:p>
            <a:pPr algn="r">
              <a:spcAft>
                <a:spcPts val="700"/>
              </a:spcAft>
              <a:defRPr sz="900" b="0">
                <a:solidFill>
                  <a:srgbClr val="647182"/>
                </a:solidFill>
                <a:latin typeface="Aptos"/>
              </a:defRPr>
            </a:pPr>
            <a:r>
              <a:t>05</a:t>
            </a:r>
          </a:p>
        </p:txBody>
      </p:sp>
      <p:sp>
        <p:nvSpPr>
          <p:cNvPr id="6" name="Rounded Rectangle 5"/>
          <p:cNvSpPr/>
          <p:nvPr/>
        </p:nvSpPr>
        <p:spPr>
          <a:xfrm>
            <a:off x="777240" y="1417320"/>
            <a:ext cx="5074920" cy="15727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78408" y="1645920"/>
            <a:ext cx="502920" cy="502920"/>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709928"/>
            <a:ext cx="502920" cy="274320"/>
          </a:xfrm>
          <a:prstGeom prst="rect">
            <a:avLst/>
          </a:prstGeom>
          <a:noFill/>
        </p:spPr>
        <p:txBody>
          <a:bodyPr wrap="square" lIns="27432" tIns="27432" rIns="27432" bIns="27432" anchor="t">
            <a:spAutoFit/>
          </a:bodyPr>
          <a:lstStyle/>
          <a:p>
            <a:pPr algn="ctr">
              <a:spcAft>
                <a:spcPts val="700"/>
              </a:spcAft>
              <a:defRPr sz="1700" b="1">
                <a:solidFill>
                  <a:srgbClr val="FFFFFF"/>
                </a:solidFill>
                <a:latin typeface="Aptos"/>
              </a:defRPr>
            </a:pPr>
            <a:r>
              <a:t>1</a:t>
            </a:r>
          </a:p>
        </p:txBody>
      </p:sp>
      <p:sp>
        <p:nvSpPr>
          <p:cNvPr id="9" name="TextBox 8"/>
          <p:cNvSpPr txBox="1"/>
          <p:nvPr/>
        </p:nvSpPr>
        <p:spPr>
          <a:xfrm>
            <a:off x="1645919" y="1618488"/>
            <a:ext cx="3886200" cy="347472"/>
          </a:xfrm>
          <a:prstGeom prst="rect">
            <a:avLst/>
          </a:prstGeom>
          <a:noFill/>
        </p:spPr>
        <p:txBody>
          <a:bodyPr wrap="square" lIns="27432" tIns="27432" rIns="27432" bIns="27432" anchor="t">
            <a:spAutoFit/>
          </a:bodyPr>
          <a:lstStyle/>
          <a:p>
            <a:pPr algn="l">
              <a:spcAft>
                <a:spcPts val="700"/>
              </a:spcAft>
              <a:defRPr sz="1800" b="1">
                <a:solidFill>
                  <a:srgbClr val="14223B"/>
                </a:solidFill>
                <a:latin typeface="Aptos"/>
              </a:defRPr>
            </a:pPr>
            <a:r>
              <a:t>Fit a full model</a:t>
            </a:r>
          </a:p>
        </p:txBody>
      </p:sp>
      <p:sp>
        <p:nvSpPr>
          <p:cNvPr id="10" name="TextBox 9"/>
          <p:cNvSpPr txBox="1"/>
          <p:nvPr/>
        </p:nvSpPr>
        <p:spPr>
          <a:xfrm>
            <a:off x="1645919" y="2075688"/>
            <a:ext cx="3886200" cy="713232"/>
          </a:xfrm>
          <a:prstGeom prst="rect">
            <a:avLst/>
          </a:prstGeom>
          <a:noFill/>
        </p:spPr>
        <p:txBody>
          <a:bodyPr wrap="square" lIns="27432" tIns="27432" rIns="27432" bIns="27432" anchor="t">
            <a:spAutoFit/>
          </a:bodyPr>
          <a:lstStyle/>
          <a:p>
            <a:pPr algn="l">
              <a:spcAft>
                <a:spcPts val="700"/>
              </a:spcAft>
              <a:defRPr sz="1500" b="0">
                <a:solidFill>
                  <a:srgbClr val="283343"/>
                </a:solidFill>
                <a:latin typeface="Aptos"/>
              </a:defRPr>
            </a:pPr>
            <a:r>
              <a:t>Start with the candidate predictors.</a:t>
            </a:r>
          </a:p>
        </p:txBody>
      </p:sp>
      <p:sp>
        <p:nvSpPr>
          <p:cNvPr id="11" name="Rounded Rectangle 10"/>
          <p:cNvSpPr/>
          <p:nvPr/>
        </p:nvSpPr>
        <p:spPr>
          <a:xfrm>
            <a:off x="6263640" y="1417320"/>
            <a:ext cx="5074920" cy="15727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64807" y="1645920"/>
            <a:ext cx="502920" cy="502920"/>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4807" y="1709928"/>
            <a:ext cx="502920" cy="274320"/>
          </a:xfrm>
          <a:prstGeom prst="rect">
            <a:avLst/>
          </a:prstGeom>
          <a:noFill/>
        </p:spPr>
        <p:txBody>
          <a:bodyPr wrap="square" lIns="27432" tIns="27432" rIns="27432" bIns="27432" anchor="t">
            <a:spAutoFit/>
          </a:bodyPr>
          <a:lstStyle/>
          <a:p>
            <a:pPr algn="ctr">
              <a:spcAft>
                <a:spcPts val="700"/>
              </a:spcAft>
              <a:defRPr sz="1700" b="1">
                <a:solidFill>
                  <a:srgbClr val="FFFFFF"/>
                </a:solidFill>
                <a:latin typeface="Aptos"/>
              </a:defRPr>
            </a:pPr>
            <a:r>
              <a:t>2</a:t>
            </a:r>
          </a:p>
        </p:txBody>
      </p:sp>
      <p:sp>
        <p:nvSpPr>
          <p:cNvPr id="14" name="TextBox 13"/>
          <p:cNvSpPr txBox="1"/>
          <p:nvPr/>
        </p:nvSpPr>
        <p:spPr>
          <a:xfrm>
            <a:off x="7132320" y="1618488"/>
            <a:ext cx="3886200" cy="347472"/>
          </a:xfrm>
          <a:prstGeom prst="rect">
            <a:avLst/>
          </a:prstGeom>
          <a:noFill/>
        </p:spPr>
        <p:txBody>
          <a:bodyPr wrap="square" lIns="27432" tIns="27432" rIns="27432" bIns="27432" anchor="t">
            <a:spAutoFit/>
          </a:bodyPr>
          <a:lstStyle/>
          <a:p>
            <a:pPr algn="l">
              <a:spcAft>
                <a:spcPts val="700"/>
              </a:spcAft>
              <a:defRPr sz="1800" b="1">
                <a:solidFill>
                  <a:srgbClr val="14223B"/>
                </a:solidFill>
                <a:latin typeface="Aptos"/>
              </a:defRPr>
            </a:pPr>
            <a:r>
              <a:t>Investigate transformations</a:t>
            </a:r>
          </a:p>
        </p:txBody>
      </p:sp>
      <p:sp>
        <p:nvSpPr>
          <p:cNvPr id="15" name="TextBox 14"/>
          <p:cNvSpPr txBox="1"/>
          <p:nvPr/>
        </p:nvSpPr>
        <p:spPr>
          <a:xfrm>
            <a:off x="7132320" y="2075688"/>
            <a:ext cx="3886200" cy="713232"/>
          </a:xfrm>
          <a:prstGeom prst="rect">
            <a:avLst/>
          </a:prstGeom>
          <a:noFill/>
        </p:spPr>
        <p:txBody>
          <a:bodyPr wrap="square" lIns="27432" tIns="27432" rIns="27432" bIns="27432" anchor="t">
            <a:spAutoFit/>
          </a:bodyPr>
          <a:lstStyle/>
          <a:p>
            <a:pPr algn="l">
              <a:spcAft>
                <a:spcPts val="700"/>
              </a:spcAft>
              <a:defRPr sz="1500" b="0">
                <a:solidFill>
                  <a:srgbClr val="283343"/>
                </a:solidFill>
                <a:latin typeface="Aptos"/>
              </a:defRPr>
            </a:pPr>
            <a:r>
              <a:t>Income and loan amount were log-transformed after initial insignificance.</a:t>
            </a:r>
          </a:p>
        </p:txBody>
      </p:sp>
      <p:sp>
        <p:nvSpPr>
          <p:cNvPr id="16" name="Rounded Rectangle 15"/>
          <p:cNvSpPr/>
          <p:nvPr/>
        </p:nvSpPr>
        <p:spPr>
          <a:xfrm>
            <a:off x="777240" y="3474720"/>
            <a:ext cx="5074920" cy="15727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78408" y="3703320"/>
            <a:ext cx="502920" cy="502920"/>
          </a:xfrm>
          <a:prstGeom prst="roundRect">
            <a:avLst>
              <a:gd name="adj" fmla="val 12000"/>
            </a:avLst>
          </a:prstGeom>
          <a:solidFill>
            <a:srgbClr val="2C6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8408" y="3767328"/>
            <a:ext cx="502920" cy="274320"/>
          </a:xfrm>
          <a:prstGeom prst="rect">
            <a:avLst/>
          </a:prstGeom>
          <a:noFill/>
        </p:spPr>
        <p:txBody>
          <a:bodyPr wrap="square" lIns="27432" tIns="27432" rIns="27432" bIns="27432" anchor="t">
            <a:spAutoFit/>
          </a:bodyPr>
          <a:lstStyle/>
          <a:p>
            <a:pPr algn="ctr">
              <a:spcAft>
                <a:spcPts val="700"/>
              </a:spcAft>
              <a:defRPr sz="1700" b="1">
                <a:solidFill>
                  <a:srgbClr val="FFFFFF"/>
                </a:solidFill>
                <a:latin typeface="Aptos"/>
              </a:defRPr>
            </a:pPr>
            <a:r>
              <a:t>3</a:t>
            </a:r>
          </a:p>
        </p:txBody>
      </p:sp>
      <p:sp>
        <p:nvSpPr>
          <p:cNvPr id="19" name="TextBox 18"/>
          <p:cNvSpPr txBox="1"/>
          <p:nvPr/>
        </p:nvSpPr>
        <p:spPr>
          <a:xfrm>
            <a:off x="1645919" y="3675887"/>
            <a:ext cx="3886200" cy="347472"/>
          </a:xfrm>
          <a:prstGeom prst="rect">
            <a:avLst/>
          </a:prstGeom>
          <a:noFill/>
        </p:spPr>
        <p:txBody>
          <a:bodyPr wrap="square" lIns="27432" tIns="27432" rIns="27432" bIns="27432" anchor="t">
            <a:spAutoFit/>
          </a:bodyPr>
          <a:lstStyle/>
          <a:p>
            <a:pPr algn="l">
              <a:spcAft>
                <a:spcPts val="700"/>
              </a:spcAft>
              <a:defRPr sz="1800" b="1">
                <a:solidFill>
                  <a:srgbClr val="14223B"/>
                </a:solidFill>
                <a:latin typeface="Aptos"/>
              </a:defRPr>
            </a:pPr>
            <a:r>
              <a:t>Check diagnostics</a:t>
            </a:r>
          </a:p>
        </p:txBody>
      </p:sp>
      <p:sp>
        <p:nvSpPr>
          <p:cNvPr id="20" name="TextBox 19"/>
          <p:cNvSpPr txBox="1"/>
          <p:nvPr/>
        </p:nvSpPr>
        <p:spPr>
          <a:xfrm>
            <a:off x="1645919" y="4133087"/>
            <a:ext cx="3886200" cy="713232"/>
          </a:xfrm>
          <a:prstGeom prst="rect">
            <a:avLst/>
          </a:prstGeom>
          <a:noFill/>
        </p:spPr>
        <p:txBody>
          <a:bodyPr wrap="square" lIns="27432" tIns="27432" rIns="27432" bIns="27432" anchor="t">
            <a:spAutoFit/>
          </a:bodyPr>
          <a:lstStyle/>
          <a:p>
            <a:pPr algn="l">
              <a:spcAft>
                <a:spcPts val="700"/>
              </a:spcAft>
              <a:defRPr sz="1500" b="0">
                <a:solidFill>
                  <a:srgbClr val="283343"/>
                </a:solidFill>
                <a:latin typeface="Aptos"/>
              </a:defRPr>
            </a:pPr>
            <a:r>
              <a:t>Review calibration, multicollinearity, influence and linearity in the logit.</a:t>
            </a:r>
          </a:p>
        </p:txBody>
      </p:sp>
      <p:sp>
        <p:nvSpPr>
          <p:cNvPr id="21" name="Rounded Rectangle 20"/>
          <p:cNvSpPr/>
          <p:nvPr/>
        </p:nvSpPr>
        <p:spPr>
          <a:xfrm>
            <a:off x="6263640" y="3474720"/>
            <a:ext cx="5074920" cy="15727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64807" y="3703320"/>
            <a:ext cx="502920" cy="502920"/>
          </a:xfrm>
          <a:prstGeom prst="roundRect">
            <a:avLst>
              <a:gd name="adj" fmla="val 12000"/>
            </a:avLst>
          </a:prstGeom>
          <a:solidFill>
            <a:srgbClr val="2C6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64807" y="3767328"/>
            <a:ext cx="502920" cy="274320"/>
          </a:xfrm>
          <a:prstGeom prst="rect">
            <a:avLst/>
          </a:prstGeom>
          <a:noFill/>
        </p:spPr>
        <p:txBody>
          <a:bodyPr wrap="square" lIns="27432" tIns="27432" rIns="27432" bIns="27432" anchor="t">
            <a:spAutoFit/>
          </a:bodyPr>
          <a:lstStyle/>
          <a:p>
            <a:pPr algn="ctr">
              <a:spcAft>
                <a:spcPts val="700"/>
              </a:spcAft>
              <a:defRPr sz="1700" b="1">
                <a:solidFill>
                  <a:srgbClr val="FFFFFF"/>
                </a:solidFill>
                <a:latin typeface="Aptos"/>
              </a:defRPr>
            </a:pPr>
            <a:r>
              <a:t>4</a:t>
            </a:r>
          </a:p>
        </p:txBody>
      </p:sp>
      <p:sp>
        <p:nvSpPr>
          <p:cNvPr id="24" name="TextBox 23"/>
          <p:cNvSpPr txBox="1"/>
          <p:nvPr/>
        </p:nvSpPr>
        <p:spPr>
          <a:xfrm>
            <a:off x="7132320" y="3675887"/>
            <a:ext cx="3886200" cy="347472"/>
          </a:xfrm>
          <a:prstGeom prst="rect">
            <a:avLst/>
          </a:prstGeom>
          <a:noFill/>
        </p:spPr>
        <p:txBody>
          <a:bodyPr wrap="square" lIns="27432" tIns="27432" rIns="27432" bIns="27432" anchor="t">
            <a:spAutoFit/>
          </a:bodyPr>
          <a:lstStyle/>
          <a:p>
            <a:pPr algn="l">
              <a:spcAft>
                <a:spcPts val="700"/>
              </a:spcAft>
              <a:defRPr sz="1800" b="1">
                <a:solidFill>
                  <a:srgbClr val="14223B"/>
                </a:solidFill>
                <a:latin typeface="Aptos"/>
              </a:defRPr>
            </a:pPr>
            <a:r>
              <a:t>Simplify the model</a:t>
            </a:r>
          </a:p>
        </p:txBody>
      </p:sp>
      <p:sp>
        <p:nvSpPr>
          <p:cNvPr id="25" name="TextBox 24"/>
          <p:cNvSpPr txBox="1"/>
          <p:nvPr/>
        </p:nvSpPr>
        <p:spPr>
          <a:xfrm>
            <a:off x="7132320" y="4133087"/>
            <a:ext cx="3886200" cy="713232"/>
          </a:xfrm>
          <a:prstGeom prst="rect">
            <a:avLst/>
          </a:prstGeom>
          <a:noFill/>
        </p:spPr>
        <p:txBody>
          <a:bodyPr wrap="square" lIns="27432" tIns="27432" rIns="27432" bIns="27432" anchor="t">
            <a:spAutoFit/>
          </a:bodyPr>
          <a:lstStyle/>
          <a:p>
            <a:pPr algn="l">
              <a:spcAft>
                <a:spcPts val="700"/>
              </a:spcAft>
              <a:defRPr sz="1500" b="0">
                <a:solidFill>
                  <a:srgbClr val="283343"/>
                </a:solidFill>
                <a:latin typeface="Aptos"/>
              </a:defRPr>
            </a:pPr>
            <a:r>
              <a:t>Remove redundant/insignificant terms and compare nested models.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827914-E931-B6E9-C8B3-F1F264AE2677}"/>
              </a:ext>
            </a:extLst>
          </p:cNvPr>
          <p:cNvSpPr txBox="1"/>
          <p:nvPr/>
        </p:nvSpPr>
        <p:spPr>
          <a:xfrm>
            <a:off x="521111" y="216309"/>
            <a:ext cx="10923638" cy="584775"/>
          </a:xfrm>
          <a:prstGeom prst="rect">
            <a:avLst/>
          </a:prstGeom>
          <a:noFill/>
        </p:spPr>
        <p:txBody>
          <a:bodyPr wrap="square" rtlCol="0">
            <a:spAutoFit/>
          </a:bodyPr>
          <a:lstStyle/>
          <a:p>
            <a:r>
              <a:rPr lang="en-ZA" sz="3200" dirty="0">
                <a:solidFill>
                  <a:schemeClr val="tx2">
                    <a:lumMod val="50000"/>
                  </a:schemeClr>
                </a:solidFill>
              </a:rPr>
              <a:t>Candidate model</a:t>
            </a:r>
          </a:p>
        </p:txBody>
      </p:sp>
      <p:sp>
        <p:nvSpPr>
          <p:cNvPr id="5" name="Rectangle 4">
            <a:extLst>
              <a:ext uri="{FF2B5EF4-FFF2-40B4-BE49-F238E27FC236}">
                <a16:creationId xmlns:a16="http://schemas.microsoft.com/office/drawing/2014/main" id="{0212BBF6-DF81-8E4F-0287-59593407829B}"/>
              </a:ext>
            </a:extLst>
          </p:cNvPr>
          <p:cNvSpPr/>
          <p:nvPr/>
        </p:nvSpPr>
        <p:spPr>
          <a:xfrm>
            <a:off x="0" y="0"/>
            <a:ext cx="12191695" cy="118872"/>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900000"/>
          <a:ext cx="10744200" cy="5135000"/>
        </p:xfrm>
        <a:graphic>
          <a:graphicData uri="http://schemas.openxmlformats.org/drawingml/2006/table">
            <a:tbl>
              <a:tblPr firstRow="1">
                <a:effectLst>
                  <a:outerShdw blurRad="50800" dist="38100" dir="2700000" algn="tl" rotWithShape="0">
                    <a:prstClr val="black">
                      <a:alpha val="40000"/>
                    </a:prstClr>
                  </a:outerShdw>
                </a:effectLst>
                <a:tableStyleId>{D113A9D2-9D6B-4929-AA2D-F23B5EE8CBE7}</a:tableStyleId>
              </a:tblPr>
              <a:tblGrid>
                <a:gridCol w="1900000">
                  <a:extLst>
                    <a:ext uri="{9D8B030D-6E8A-4147-A177-3AD203B41FA5}">
                      <a16:colId xmlns:a16="http://schemas.microsoft.com/office/drawing/2014/main" val="20000"/>
                    </a:ext>
                  </a:extLst>
                </a:gridCol>
                <a:gridCol w="2300000">
                  <a:extLst>
                    <a:ext uri="{9D8B030D-6E8A-4147-A177-3AD203B41FA5}">
                      <a16:colId xmlns:a16="http://schemas.microsoft.com/office/drawing/2014/main" val="20001"/>
                    </a:ext>
                  </a:extLst>
                </a:gridCol>
                <a:gridCol w="2500000">
                  <a:extLst>
                    <a:ext uri="{9D8B030D-6E8A-4147-A177-3AD203B41FA5}">
                      <a16:colId xmlns:a16="http://schemas.microsoft.com/office/drawing/2014/main" val="20002"/>
                    </a:ext>
                  </a:extLst>
                </a:gridCol>
                <a:gridCol w="2144200">
                  <a:extLst>
                    <a:ext uri="{9D8B030D-6E8A-4147-A177-3AD203B41FA5}">
                      <a16:colId xmlns:a16="http://schemas.microsoft.com/office/drawing/2014/main" val="20003"/>
                    </a:ext>
                  </a:extLst>
                </a:gridCol>
                <a:gridCol w="1900000">
                  <a:extLst>
                    <a:ext uri="{9D8B030D-6E8A-4147-A177-3AD203B41FA5}">
                      <a16:colId xmlns:a16="http://schemas.microsoft.com/office/drawing/2014/main" val="20004"/>
                    </a:ext>
                  </a:extLst>
                </a:gridCol>
              </a:tblGrid>
              <a:tr h="395000">
                <a:tc>
                  <a:txBody>
                    <a:bodyPr/>
                    <a:lstStyle/>
                    <a:p>
                      <a:pPr algn="l"/>
                      <a:r>
                        <a:rPr lang="en-ZA" sz="1200" b="1" dirty="0">
                          <a:solidFill>
                            <a:schemeClr val="tx2">
                              <a:lumMod val="50000"/>
                            </a:schemeClr>
                          </a:solidFill>
                        </a:rPr>
                        <a:t>H0: β=0 vs Ha: β≠0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1D9E93"/>
                    </a:solidFill>
                  </a:tcPr>
                </a:tc>
                <a:tc>
                  <a:txBody>
                    <a:bodyPr/>
                    <a:lstStyle/>
                    <a:p>
                      <a:pPr algn="ctr"/>
                      <a:r>
                        <a:rPr lang="en-ZA" sz="1200" dirty="0">
                          <a:solidFill>
                            <a:schemeClr val="tx2">
                              <a:lumMod val="50000"/>
                            </a:schemeClr>
                          </a:solidFill>
                        </a:rPr>
                        <a:t>Test statistic (χ²)</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1D9E93"/>
                    </a:solidFill>
                  </a:tcPr>
                </a:tc>
                <a:tc>
                  <a:txBody>
                    <a:bodyPr/>
                    <a:lstStyle/>
                    <a:p>
                      <a:pPr algn="ctr"/>
                      <a:r>
                        <a:rPr lang="en-ZA" sz="1200" dirty="0">
                          <a:solidFill>
                            <a:schemeClr val="tx2">
                              <a:lumMod val="50000"/>
                            </a:schemeClr>
                          </a:solidFill>
                        </a:rPr>
                        <a:t>p-value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1D9E93"/>
                    </a:solidFill>
                  </a:tcPr>
                </a:tc>
                <a:tc>
                  <a:txBody>
                    <a:bodyPr/>
                    <a:lstStyle/>
                    <a:p>
                      <a:pPr algn="ctr"/>
                      <a:r>
                        <a:rPr lang="en-ZA" sz="1200" dirty="0">
                          <a:solidFill>
                            <a:schemeClr val="tx2">
                              <a:lumMod val="50000"/>
                            </a:schemeClr>
                          </a:solidFill>
                        </a:rPr>
                        <a:t>Reject/Do not Reject H0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1D9E93"/>
                    </a:solidFill>
                  </a:tcPr>
                </a:tc>
                <a:tc>
                  <a:txBody>
                    <a:bodyPr/>
                    <a:lstStyle/>
                    <a:p>
                      <a:pPr algn="ctr"/>
                      <a:r>
                        <a:rPr lang="en-ZA" sz="1200" dirty="0">
                          <a:solidFill>
                            <a:schemeClr val="tx2">
                              <a:lumMod val="50000"/>
                            </a:schemeClr>
                          </a:solidFill>
                        </a:rPr>
                        <a:t>Significant/Insignificant</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57150" cap="flat" cmpd="sng" algn="ctr">
                      <a:solidFill>
                        <a:schemeClr val="bg2"/>
                      </a:solidFill>
                      <a:prstDash val="solid"/>
                      <a:round/>
                      <a:headEnd type="none" w="med" len="med"/>
                      <a:tailEnd type="none" w="med" len="med"/>
                    </a:lnB>
                    <a:solidFill>
                      <a:srgbClr val="1D9E93"/>
                    </a:solidFill>
                  </a:tcPr>
                </a:tc>
                <a:extLst>
                  <a:ext uri="{0D108BD9-81ED-4DB2-BD59-A6C34878D82A}">
                    <a16:rowId xmlns:a16="http://schemas.microsoft.com/office/drawing/2014/main" val="10000"/>
                  </a:ext>
                </a:extLst>
              </a:tr>
              <a:tr h="395000">
                <a:tc>
                  <a:txBody>
                    <a:bodyPr/>
                    <a:lstStyle/>
                    <a:p>
                      <a:pPr algn="l"/>
                      <a:r>
                        <a:rPr lang="en-ZA" sz="1200" b="1" dirty="0">
                          <a:solidFill>
                            <a:schemeClr val="accent2">
                              <a:lumMod val="60000"/>
                              <a:lumOff val="40000"/>
                            </a:schemeClr>
                          </a:solidFill>
                        </a:rPr>
                        <a:t>Intercept</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36.41367854421724</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1.5957935273320792e-09</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Reject H0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Significance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5715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01"/>
                  </a:ext>
                </a:extLst>
              </a:tr>
              <a:tr h="395000">
                <a:tc>
                  <a:txBody>
                    <a:bodyPr/>
                    <a:lstStyle/>
                    <a:p>
                      <a:pPr algn="l"/>
                      <a:r>
                        <a:rPr lang="en-ZA" sz="1200" b="1" dirty="0">
                          <a:solidFill>
                            <a:schemeClr val="accent2">
                              <a:lumMod val="60000"/>
                              <a:lumOff val="40000"/>
                            </a:schemeClr>
                          </a:solidFill>
                        </a:rPr>
                        <a:t>Education</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5.761777313754828</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0.2176592539770914</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Do not Reject H0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Insignificance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02"/>
                  </a:ext>
                </a:extLst>
              </a:tr>
              <a:tr h="395000">
                <a:tc>
                  <a:txBody>
                    <a:bodyPr/>
                    <a:lstStyle/>
                    <a:p>
                      <a:pPr algn="l"/>
                      <a:r>
                        <a:rPr lang="en-ZA" sz="1200" b="1" dirty="0">
                          <a:solidFill>
                            <a:schemeClr val="accent2">
                              <a:lumMod val="60000"/>
                              <a:lumOff val="40000"/>
                            </a:schemeClr>
                          </a:solidFill>
                        </a:rPr>
                        <a:t>Offences</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222.227284406167</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6.625800201615375e-48</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Reject H0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Significance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03"/>
                  </a:ext>
                </a:extLst>
              </a:tr>
              <a:tr h="395000">
                <a:tc>
                  <a:txBody>
                    <a:bodyPr/>
                    <a:lstStyle/>
                    <a:p>
                      <a:pPr algn="l"/>
                      <a:r>
                        <a:rPr lang="en-ZA" sz="1200" b="1" dirty="0">
                          <a:solidFill>
                            <a:schemeClr val="accent2">
                              <a:lumMod val="60000"/>
                              <a:lumOff val="40000"/>
                            </a:schemeClr>
                          </a:solidFill>
                        </a:rPr>
                        <a:t>Income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1.631190093397892</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0.44237601464023324</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Do not Reject H0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Insignificance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04"/>
                  </a:ext>
                </a:extLst>
              </a:tr>
              <a:tr h="395000">
                <a:tc>
                  <a:txBody>
                    <a:bodyPr/>
                    <a:lstStyle/>
                    <a:p>
                      <a:pPr algn="l"/>
                      <a:r>
                        <a:rPr lang="en-ZA" sz="1200" b="1" dirty="0">
                          <a:solidFill>
                            <a:schemeClr val="accent2">
                              <a:lumMod val="60000"/>
                              <a:lumOff val="40000"/>
                            </a:schemeClr>
                          </a:solidFill>
                        </a:rPr>
                        <a:t>DTI</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28.965216124489228</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2.2774364300233987e-06</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Reject H0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Significance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05"/>
                  </a:ext>
                </a:extLst>
              </a:tr>
              <a:tr h="395000">
                <a:tc>
                  <a:txBody>
                    <a:bodyPr/>
                    <a:lstStyle/>
                    <a:p>
                      <a:pPr algn="l"/>
                      <a:r>
                        <a:rPr lang="en-ZA" sz="1200" b="1" dirty="0">
                          <a:solidFill>
                            <a:schemeClr val="accent2">
                              <a:lumMod val="60000"/>
                              <a:lumOff val="40000"/>
                            </a:schemeClr>
                          </a:solidFill>
                        </a:rPr>
                        <a:t>LoanAmt</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0.47206296869498093</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0.49203963431266307</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Do not Reject H0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Insignificance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06"/>
                  </a:ext>
                </a:extLst>
              </a:tr>
              <a:tr h="395000">
                <a:tc>
                  <a:txBody>
                    <a:bodyPr/>
                    <a:lstStyle/>
                    <a:p>
                      <a:pPr algn="l"/>
                      <a:r>
                        <a:rPr lang="en-ZA" sz="1200" b="1" dirty="0">
                          <a:solidFill>
                            <a:schemeClr val="accent2">
                              <a:lumMod val="60000"/>
                              <a:lumOff val="40000"/>
                            </a:schemeClr>
                          </a:solidFill>
                        </a:rPr>
                        <a:t>HistLen</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2.1614556512608503</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0.141510577160578</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Do not Reject H0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Insignificance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07"/>
                  </a:ext>
                </a:extLst>
              </a:tr>
              <a:tr h="395000">
                <a:tc>
                  <a:txBody>
                    <a:bodyPr/>
                    <a:lstStyle/>
                    <a:p>
                      <a:pPr algn="l"/>
                      <a:r>
                        <a:rPr lang="en-ZA" sz="1200" b="1" dirty="0">
                          <a:solidFill>
                            <a:schemeClr val="accent2">
                              <a:lumMod val="60000"/>
                              <a:lumOff val="40000"/>
                            </a:schemeClr>
                          </a:solidFill>
                        </a:rPr>
                        <a:t>Utilisation</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118.01148892862618</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1.723865891721587e-27</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Reject H0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Significance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08"/>
                  </a:ext>
                </a:extLst>
              </a:tr>
              <a:tr h="395000">
                <a:tc>
                  <a:txBody>
                    <a:bodyPr/>
                    <a:lstStyle/>
                    <a:p>
                      <a:pPr algn="l"/>
                      <a:r>
                        <a:rPr lang="en-ZA" sz="1200" b="1" dirty="0">
                          <a:solidFill>
                            <a:schemeClr val="accent2">
                              <a:lumMod val="60000"/>
                              <a:lumOff val="40000"/>
                            </a:schemeClr>
                          </a:solidFill>
                        </a:rPr>
                        <a:t>Age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2.912413075269317</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0.08790026619483597</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Do not Reject H0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Insignificance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09"/>
                  </a:ext>
                </a:extLst>
              </a:tr>
              <a:tr h="395000">
                <a:tc>
                  <a:txBody>
                    <a:bodyPr/>
                    <a:lstStyle/>
                    <a:p>
                      <a:pPr algn="l"/>
                      <a:r>
                        <a:rPr lang="en-ZA" sz="1200" b="1" dirty="0">
                          <a:solidFill>
                            <a:schemeClr val="accent2">
                              <a:lumMod val="60000"/>
                              <a:lumOff val="40000"/>
                            </a:schemeClr>
                          </a:solidFill>
                        </a:rPr>
                        <a:t>EmpStatus</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2.2663026369190313</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0.13221499874044434</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Do not Reject H0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Insignificance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10"/>
                  </a:ext>
                </a:extLst>
              </a:tr>
              <a:tr h="395000">
                <a:tc>
                  <a:txBody>
                    <a:bodyPr/>
                    <a:lstStyle/>
                    <a:p>
                      <a:pPr algn="l"/>
                      <a:r>
                        <a:rPr lang="en-ZA" sz="1200" b="1" dirty="0">
                          <a:solidFill>
                            <a:schemeClr val="accent2">
                              <a:lumMod val="60000"/>
                              <a:lumOff val="40000"/>
                            </a:schemeClr>
                          </a:solidFill>
                        </a:rPr>
                        <a:t>HomeOwn</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9.620626813111903</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0.0019240405390582196</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Reject H0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Significance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11"/>
                  </a:ext>
                </a:extLst>
              </a:tr>
              <a:tr h="395000">
                <a:tc>
                  <a:txBody>
                    <a:bodyPr/>
                    <a:lstStyle/>
                    <a:p>
                      <a:pPr algn="l"/>
                      <a:r>
                        <a:rPr lang="en-ZA" sz="1200" b="1" dirty="0">
                          <a:solidFill>
                            <a:schemeClr val="accent2">
                              <a:lumMod val="60000"/>
                              <a:lumOff val="40000"/>
                            </a:schemeClr>
                          </a:solidFill>
                        </a:rPr>
                        <a:t>Purpose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0.10306390374690408</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r"/>
                      <a:r>
                        <a:rPr lang="en-ZA" sz="1200" dirty="0">
                          <a:solidFill>
                            <a:schemeClr val="bg2"/>
                          </a:solidFill>
                        </a:rPr>
                        <a:t>0.7481833569307919</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Do not Reject H0</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tc>
                  <a:txBody>
                    <a:bodyPr/>
                    <a:lstStyle/>
                    <a:p>
                      <a:pPr algn="ctr"/>
                      <a:r>
                        <a:rPr lang="en-ZA" sz="1200" dirty="0">
                          <a:solidFill>
                            <a:schemeClr val="bg2"/>
                          </a:solidFill>
                        </a:rPr>
                        <a:t>Insignificance</a:t>
                      </a:r>
                    </a:p>
                  </a:txBody>
                  <a:tcPr marT="27432" marB="27432"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12"/>
                  </a:ext>
                </a:extLst>
              </a:tr>
            </a:tbl>
          </a:graphicData>
        </a:graphic>
      </p:graphicFrame>
      <p:sp>
        <p:nvSpPr>
          <p:cNvPr id="7" name="TextBox 6"/>
          <p:cNvSpPr txBox="1"/>
          <p:nvPr/>
        </p:nvSpPr>
        <p:spPr>
          <a:xfrm>
            <a:off x="9000000" y="6120000"/>
            <a:ext cx="2475720" cy="246221"/>
          </a:xfrm>
          <a:prstGeom prst="rect">
            <a:avLst/>
          </a:prstGeom>
          <a:noFill/>
        </p:spPr>
        <p:txBody>
          <a:bodyPr wrap="square" rtlCol="0">
            <a:spAutoFit/>
          </a:bodyPr>
          <a:lstStyle/>
          <a:p>
            <a:pPr algn="r"/>
            <a:r>
              <a:rPr lang="en-ZA" sz="1200" dirty="0">
                <a:solidFill>
                  <a:srgbClr val="647182"/>
                </a:solidFill>
              </a:rPr>
              <a:t>α = 0.05</a:t>
            </a:r>
          </a:p>
        </p:txBody>
      </p:sp>
    </p:spTree>
    <p:extLst>
      <p:ext uri="{BB962C8B-B14F-4D97-AF65-F5344CB8AC3E}">
        <p14:creationId xmlns:p14="http://schemas.microsoft.com/office/powerpoint/2010/main" val="589332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27080" cy="594360"/>
          </a:xfrm>
          <a:prstGeom prst="rect">
            <a:avLst/>
          </a:prstGeom>
          <a:noFill/>
        </p:spPr>
        <p:txBody>
          <a:bodyPr wrap="square" lIns="27432" tIns="27432" rIns="27432" bIns="27432" anchor="t">
            <a:spAutoFit/>
          </a:bodyPr>
          <a:lstStyle/>
          <a:p>
            <a:pPr algn="l">
              <a:spcAft>
                <a:spcPts val="700"/>
              </a:spcAft>
              <a:defRPr sz="2900" b="1">
                <a:solidFill>
                  <a:srgbClr val="14223B"/>
                </a:solidFill>
                <a:latin typeface="Aptos"/>
              </a:defRPr>
            </a:pPr>
            <a:r>
              <a:t>Calibration: do predicted risks match outcomes?</a:t>
            </a:r>
          </a:p>
        </p:txBody>
      </p:sp>
      <p:sp>
        <p:nvSpPr>
          <p:cNvPr id="4" name="TextBox 3"/>
          <p:cNvSpPr txBox="1"/>
          <p:nvPr/>
        </p:nvSpPr>
        <p:spPr>
          <a:xfrm>
            <a:off x="640080" y="6510528"/>
            <a:ext cx="8046720" cy="182880"/>
          </a:xfrm>
          <a:prstGeom prst="rect">
            <a:avLst/>
          </a:prstGeom>
          <a:noFill/>
        </p:spPr>
        <p:txBody>
          <a:bodyPr wrap="square" lIns="27432" tIns="27432" rIns="27432" bIns="27432" anchor="t">
            <a:spAutoFit/>
          </a:bodyPr>
          <a:lstStyle/>
          <a:p>
            <a:pPr algn="l">
              <a:spcAft>
                <a:spcPts val="700"/>
              </a:spcAft>
              <a:defRPr sz="900" b="1">
                <a:solidFill>
                  <a:srgbClr val="647182"/>
                </a:solidFill>
                <a:latin typeface="Aptos"/>
              </a:defRPr>
            </a:pPr>
            <a:r>
              <a:t>05  |  DIAGNOSTICS</a:t>
            </a:r>
          </a:p>
        </p:txBody>
      </p:sp>
      <p:sp>
        <p:nvSpPr>
          <p:cNvPr id="5" name="TextBox 4"/>
          <p:cNvSpPr txBox="1"/>
          <p:nvPr/>
        </p:nvSpPr>
        <p:spPr>
          <a:xfrm>
            <a:off x="11109960" y="6473952"/>
            <a:ext cx="438912" cy="219456"/>
          </a:xfrm>
          <a:prstGeom prst="rect">
            <a:avLst/>
          </a:prstGeom>
          <a:noFill/>
        </p:spPr>
        <p:txBody>
          <a:bodyPr wrap="square" lIns="27432" tIns="27432" rIns="27432" bIns="27432" anchor="t">
            <a:spAutoFit/>
          </a:bodyPr>
          <a:lstStyle/>
          <a:p>
            <a:pPr algn="r">
              <a:spcAft>
                <a:spcPts val="700"/>
              </a:spcAft>
              <a:defRPr sz="900" b="0">
                <a:solidFill>
                  <a:srgbClr val="647182"/>
                </a:solidFill>
                <a:latin typeface="Aptos"/>
              </a:defRPr>
            </a:pPr>
            <a:r>
              <a:t>06</a:t>
            </a:r>
          </a:p>
        </p:txBody>
      </p:sp>
      <p:sp>
        <p:nvSpPr>
          <p:cNvPr id="6" name="TextBox 5"/>
          <p:cNvSpPr txBox="1"/>
          <p:nvPr/>
        </p:nvSpPr>
        <p:spPr>
          <a:xfrm>
            <a:off x="731520" y="1234440"/>
            <a:ext cx="4206240" cy="886397"/>
          </a:xfrm>
          <a:prstGeom prst="rect">
            <a:avLst/>
          </a:prstGeom>
          <a:noFill/>
        </p:spPr>
        <p:txBody>
          <a:bodyPr wrap="square" lIns="27432" tIns="27432" rIns="27432" bIns="27432" anchor="t">
            <a:spAutoFit/>
          </a:bodyPr>
          <a:lstStyle/>
          <a:p>
            <a:pPr>
              <a:spcAft>
                <a:spcPts val="700"/>
              </a:spcAft>
              <a:defRPr sz="1800" b="0">
                <a:solidFill>
                  <a:srgbClr val="283343"/>
                </a:solidFill>
                <a:latin typeface="Aptos"/>
              </a:defRPr>
            </a:pPr>
            <a:r>
              <a:rPr dirty="0"/>
              <a:t>Calibration </a:t>
            </a:r>
            <a:r>
              <a:rPr lang="en-US" dirty="0"/>
              <a:t>assesses whether predicted probabilities match</a:t>
            </a:r>
            <a:r>
              <a:rPr dirty="0"/>
              <a:t> observed default rates.</a:t>
            </a:r>
          </a:p>
        </p:txBody>
      </p:sp>
      <p:sp>
        <p:nvSpPr>
          <p:cNvPr id="9" name="Rounded Rectangle 8"/>
          <p:cNvSpPr/>
          <p:nvPr/>
        </p:nvSpPr>
        <p:spPr>
          <a:xfrm>
            <a:off x="769522" y="2720340"/>
            <a:ext cx="109728" cy="109728"/>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33270" y="2237832"/>
            <a:ext cx="4669439" cy="1294200"/>
          </a:xfrm>
          <a:prstGeom prst="rect">
            <a:avLst/>
          </a:prstGeom>
          <a:noFill/>
        </p:spPr>
        <p:txBody>
          <a:bodyPr wrap="square" lIns="27432" tIns="27432" rIns="27432" bIns="27432" anchor="t">
            <a:spAutoFit/>
          </a:bodyPr>
          <a:lstStyle/>
          <a:p>
            <a:pPr algn="l">
              <a:spcAft>
                <a:spcPts val="700"/>
              </a:spcAft>
              <a:defRPr sz="1500" b="0">
                <a:solidFill>
                  <a:srgbClr val="283343"/>
                </a:solidFill>
                <a:latin typeface="Aptos"/>
              </a:defRPr>
            </a:pPr>
            <a:r>
              <a:rPr dirty="0"/>
              <a:t>Likelihood-ratio test</a:t>
            </a:r>
            <a:r>
              <a:rPr lang="en-ZA" dirty="0"/>
              <a:t>:</a:t>
            </a:r>
          </a:p>
          <a:p>
            <a:pPr algn="l">
              <a:spcAft>
                <a:spcPts val="700"/>
              </a:spcAft>
              <a:defRPr sz="1500" b="0">
                <a:solidFill>
                  <a:srgbClr val="283343"/>
                </a:solidFill>
                <a:latin typeface="Aptos"/>
              </a:defRPr>
            </a:pPr>
            <a:r>
              <a:rPr lang="en-ZA" sz="1200" dirty="0"/>
              <a:t>H</a:t>
            </a:r>
            <a:r>
              <a:rPr lang="en-ZA" sz="1200" baseline="-25000" dirty="0"/>
              <a:t>0</a:t>
            </a:r>
            <a:r>
              <a:rPr lang="en-ZA" sz="1200" dirty="0"/>
              <a:t>: Shows discrimination vs. H</a:t>
            </a:r>
            <a:r>
              <a:rPr lang="en-ZA" sz="1200" baseline="-25000" dirty="0"/>
              <a:t>A</a:t>
            </a:r>
            <a:r>
              <a:rPr lang="en-ZA" sz="1200" dirty="0"/>
              <a:t>: No evidence of discrimination</a:t>
            </a:r>
          </a:p>
          <a:p>
            <a:pPr algn="l">
              <a:spcAft>
                <a:spcPts val="700"/>
              </a:spcAft>
              <a:defRPr sz="1500" b="0">
                <a:solidFill>
                  <a:srgbClr val="283343"/>
                </a:solidFill>
                <a:latin typeface="Aptos"/>
              </a:defRPr>
            </a:pPr>
            <a:r>
              <a:rPr lang="en-ZA" sz="1200" dirty="0"/>
              <a:t>p-value ~ 0, which means we reject H</a:t>
            </a:r>
            <a:r>
              <a:rPr lang="en-ZA" sz="1200" baseline="-25000" dirty="0"/>
              <a:t>0,</a:t>
            </a:r>
            <a:r>
              <a:rPr lang="en-ZA" sz="1200" dirty="0"/>
              <a:t> and thus there is no evidence of discrimination</a:t>
            </a:r>
          </a:p>
          <a:p>
            <a:pPr algn="l">
              <a:spcAft>
                <a:spcPts val="700"/>
              </a:spcAft>
              <a:defRPr sz="1500" b="0">
                <a:solidFill>
                  <a:srgbClr val="283343"/>
                </a:solidFill>
                <a:latin typeface="Aptos"/>
              </a:defRPr>
            </a:pPr>
            <a:r>
              <a:rPr lang="en-ZA" sz="1200" dirty="0"/>
              <a:t>, </a:t>
            </a:r>
            <a:endParaRPr sz="1200" dirty="0"/>
          </a:p>
        </p:txBody>
      </p:sp>
      <p:sp>
        <p:nvSpPr>
          <p:cNvPr id="11" name="Rounded Rectangle 10"/>
          <p:cNvSpPr/>
          <p:nvPr/>
        </p:nvSpPr>
        <p:spPr>
          <a:xfrm>
            <a:off x="763869" y="4027933"/>
            <a:ext cx="109728" cy="109728"/>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33269" y="3532032"/>
            <a:ext cx="4206239" cy="2166234"/>
          </a:xfrm>
          <a:prstGeom prst="rect">
            <a:avLst/>
          </a:prstGeom>
          <a:noFill/>
        </p:spPr>
        <p:txBody>
          <a:bodyPr wrap="square" lIns="27432" tIns="27432" rIns="27432" bIns="27432" anchor="t">
            <a:spAutoFit/>
          </a:bodyPr>
          <a:lstStyle/>
          <a:p>
            <a:pPr algn="l">
              <a:spcAft>
                <a:spcPts val="700"/>
              </a:spcAft>
              <a:defRPr sz="1500" b="0">
                <a:solidFill>
                  <a:srgbClr val="283343"/>
                </a:solidFill>
                <a:latin typeface="Aptos"/>
              </a:defRPr>
            </a:pPr>
            <a:r>
              <a:rPr sz="1600" dirty="0"/>
              <a:t>Hosmer–</a:t>
            </a:r>
            <a:r>
              <a:rPr sz="1600" dirty="0" err="1"/>
              <a:t>Lemeshow</a:t>
            </a:r>
            <a:r>
              <a:rPr lang="en-ZA" sz="1600" dirty="0"/>
              <a:t> test:</a:t>
            </a:r>
          </a:p>
          <a:p>
            <a:pPr>
              <a:spcAft>
                <a:spcPts val="700"/>
              </a:spcAft>
              <a:defRPr sz="1500" b="0">
                <a:solidFill>
                  <a:srgbClr val="283343"/>
                </a:solidFill>
                <a:latin typeface="Aptos"/>
              </a:defRPr>
            </a:pPr>
            <a:r>
              <a:rPr lang="en-ZA" sz="1200" dirty="0"/>
              <a:t>H</a:t>
            </a:r>
            <a:r>
              <a:rPr lang="en-ZA" sz="1200" baseline="-25000" dirty="0"/>
              <a:t>0</a:t>
            </a:r>
            <a:r>
              <a:rPr lang="en-ZA" sz="1200" dirty="0"/>
              <a:t>: </a:t>
            </a:r>
            <a:r>
              <a:rPr lang="en-US" sz="1200" dirty="0"/>
              <a:t>The model is well calibrated </a:t>
            </a:r>
            <a:r>
              <a:rPr lang="en-ZA" sz="1200" dirty="0"/>
              <a:t>vs. H</a:t>
            </a:r>
            <a:r>
              <a:rPr lang="en-ZA" sz="1200" baseline="-25000" dirty="0"/>
              <a:t>A</a:t>
            </a:r>
            <a:r>
              <a:rPr lang="en-ZA" sz="1200" dirty="0"/>
              <a:t>: </a:t>
            </a:r>
            <a:r>
              <a:rPr lang="en-US" sz="1200" dirty="0"/>
              <a:t>The model is not well calibrated</a:t>
            </a:r>
          </a:p>
          <a:p>
            <a:pPr>
              <a:spcAft>
                <a:spcPts val="700"/>
              </a:spcAft>
              <a:defRPr sz="1500" b="0">
                <a:solidFill>
                  <a:srgbClr val="283343"/>
                </a:solidFill>
                <a:latin typeface="Aptos"/>
              </a:defRPr>
            </a:pPr>
            <a:r>
              <a:rPr lang="en-ZA" sz="1200" dirty="0">
                <a:solidFill>
                  <a:srgbClr val="283343"/>
                </a:solidFill>
                <a:latin typeface="Aptos"/>
              </a:rPr>
              <a:t>p-value = 0.4078, which means we do not reject H</a:t>
            </a:r>
            <a:r>
              <a:rPr lang="en-ZA" sz="1200" baseline="-25000" dirty="0">
                <a:solidFill>
                  <a:srgbClr val="283343"/>
                </a:solidFill>
                <a:latin typeface="Aptos"/>
              </a:rPr>
              <a:t>0,</a:t>
            </a:r>
            <a:r>
              <a:rPr lang="en-ZA" sz="1200" dirty="0">
                <a:solidFill>
                  <a:srgbClr val="283343"/>
                </a:solidFill>
                <a:latin typeface="Aptos"/>
              </a:rPr>
              <a:t> and thus there is no evidence of poor calibration</a:t>
            </a:r>
          </a:p>
          <a:p>
            <a:pPr>
              <a:spcAft>
                <a:spcPts val="700"/>
              </a:spcAft>
              <a:defRPr sz="1500" b="0">
                <a:solidFill>
                  <a:srgbClr val="283343"/>
                </a:solidFill>
                <a:latin typeface="Aptos"/>
              </a:defRPr>
            </a:pPr>
            <a:r>
              <a:rPr lang="en-ZA" sz="1200" dirty="0">
                <a:solidFill>
                  <a:srgbClr val="283343"/>
                </a:solidFill>
                <a:latin typeface="Aptos"/>
              </a:rPr>
              <a:t>This, in essence, shows us a well-calibrated model</a:t>
            </a:r>
          </a:p>
          <a:p>
            <a:pPr>
              <a:spcAft>
                <a:spcPts val="700"/>
              </a:spcAft>
              <a:defRPr sz="1500" b="0">
                <a:solidFill>
                  <a:srgbClr val="283343"/>
                </a:solidFill>
                <a:latin typeface="Aptos"/>
              </a:defRPr>
            </a:pPr>
            <a:endParaRPr lang="en-ZA" sz="1600" dirty="0"/>
          </a:p>
          <a:p>
            <a:pPr algn="l">
              <a:spcAft>
                <a:spcPts val="700"/>
              </a:spcAft>
              <a:defRPr sz="1500" b="0">
                <a:solidFill>
                  <a:srgbClr val="283343"/>
                </a:solidFill>
                <a:latin typeface="Aptos"/>
              </a:defRPr>
            </a:pPr>
            <a:endParaRPr sz="1600" dirty="0"/>
          </a:p>
        </p:txBody>
      </p:sp>
      <p:pic>
        <p:nvPicPr>
          <p:cNvPr id="13" name="Picture 12" descr="image.png"/>
          <p:cNvPicPr>
            <a:picLocks noChangeAspect="1"/>
          </p:cNvPicPr>
          <p:nvPr/>
        </p:nvPicPr>
        <p:blipFill>
          <a:blip r:embed="rId2"/>
          <a:stretch>
            <a:fillRect/>
          </a:stretch>
        </p:blipFill>
        <p:spPr>
          <a:xfrm>
            <a:off x="5606357" y="1325880"/>
            <a:ext cx="4835005" cy="4480560"/>
          </a:xfrm>
          <a:prstGeom prst="rect">
            <a:avLst/>
          </a:prstGeom>
        </p:spPr>
      </p:pic>
      <p:sp>
        <p:nvSpPr>
          <p:cNvPr id="14" name="TextBox 13"/>
          <p:cNvSpPr txBox="1"/>
          <p:nvPr/>
        </p:nvSpPr>
        <p:spPr>
          <a:xfrm>
            <a:off x="5381167" y="6017328"/>
            <a:ext cx="6167705" cy="255455"/>
          </a:xfrm>
          <a:prstGeom prst="rect">
            <a:avLst/>
          </a:prstGeom>
          <a:noFill/>
        </p:spPr>
        <p:txBody>
          <a:bodyPr wrap="square" lIns="27432" tIns="27432" rIns="27432" bIns="27432" anchor="t">
            <a:spAutoFit/>
          </a:bodyPr>
          <a:lstStyle/>
          <a:p>
            <a:pPr algn="l">
              <a:spcAft>
                <a:spcPts val="700"/>
              </a:spcAft>
              <a:defRPr sz="1300" b="1">
                <a:solidFill>
                  <a:srgbClr val="BE4E4E"/>
                </a:solidFill>
                <a:latin typeface="Aptos"/>
              </a:defRPr>
            </a:pPr>
            <a:r>
              <a:rPr lang="en-ZA" dirty="0"/>
              <a:t>The calibration plot shows that there is no evidence of discrimination in the model  </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27080" cy="594360"/>
          </a:xfrm>
          <a:prstGeom prst="rect">
            <a:avLst/>
          </a:prstGeom>
          <a:noFill/>
        </p:spPr>
        <p:txBody>
          <a:bodyPr wrap="square" lIns="27432" tIns="27432" rIns="27432" bIns="27432" anchor="t">
            <a:spAutoFit/>
          </a:bodyPr>
          <a:lstStyle/>
          <a:p>
            <a:pPr algn="l">
              <a:spcAft>
                <a:spcPts val="700"/>
              </a:spcAft>
              <a:defRPr sz="2900" b="1">
                <a:solidFill>
                  <a:srgbClr val="14223B"/>
                </a:solidFill>
                <a:latin typeface="Aptos"/>
              </a:defRPr>
            </a:pPr>
            <a:r>
              <a:t>Multicollinearity</a:t>
            </a:r>
          </a:p>
        </p:txBody>
      </p:sp>
      <p:sp>
        <p:nvSpPr>
          <p:cNvPr id="4" name="TextBox 3"/>
          <p:cNvSpPr txBox="1"/>
          <p:nvPr/>
        </p:nvSpPr>
        <p:spPr>
          <a:xfrm>
            <a:off x="640080" y="6510528"/>
            <a:ext cx="8046720" cy="182880"/>
          </a:xfrm>
          <a:prstGeom prst="rect">
            <a:avLst/>
          </a:prstGeom>
          <a:noFill/>
        </p:spPr>
        <p:txBody>
          <a:bodyPr wrap="square" lIns="27432" tIns="27432" rIns="27432" bIns="27432" anchor="t">
            <a:spAutoFit/>
          </a:bodyPr>
          <a:lstStyle/>
          <a:p>
            <a:pPr algn="l">
              <a:spcAft>
                <a:spcPts val="700"/>
              </a:spcAft>
              <a:defRPr sz="900" b="1">
                <a:solidFill>
                  <a:srgbClr val="647182"/>
                </a:solidFill>
                <a:latin typeface="Aptos"/>
              </a:defRPr>
            </a:pPr>
            <a:r>
              <a:t>06  |  DIAGNOSTICS</a:t>
            </a:r>
          </a:p>
        </p:txBody>
      </p:sp>
      <p:sp>
        <p:nvSpPr>
          <p:cNvPr id="5" name="TextBox 4"/>
          <p:cNvSpPr txBox="1"/>
          <p:nvPr/>
        </p:nvSpPr>
        <p:spPr>
          <a:xfrm>
            <a:off x="11109960" y="6473952"/>
            <a:ext cx="438912" cy="219456"/>
          </a:xfrm>
          <a:prstGeom prst="rect">
            <a:avLst/>
          </a:prstGeom>
          <a:noFill/>
        </p:spPr>
        <p:txBody>
          <a:bodyPr wrap="square" lIns="27432" tIns="27432" rIns="27432" bIns="27432" anchor="t">
            <a:spAutoFit/>
          </a:bodyPr>
          <a:lstStyle/>
          <a:p>
            <a:pPr algn="r">
              <a:spcAft>
                <a:spcPts val="700"/>
              </a:spcAft>
              <a:defRPr sz="900" b="0">
                <a:solidFill>
                  <a:srgbClr val="647182"/>
                </a:solidFill>
                <a:latin typeface="Aptos"/>
              </a:defRPr>
            </a:pPr>
            <a:r>
              <a:t>07</a:t>
            </a:r>
          </a:p>
        </p:txBody>
      </p:sp>
      <p:sp>
        <p:nvSpPr>
          <p:cNvPr id="6" name="TextBox 5"/>
          <p:cNvSpPr txBox="1"/>
          <p:nvPr/>
        </p:nvSpPr>
        <p:spPr>
          <a:xfrm>
            <a:off x="731520" y="1234440"/>
            <a:ext cx="3840480" cy="502920"/>
          </a:xfrm>
          <a:prstGeom prst="rect">
            <a:avLst/>
          </a:prstGeom>
          <a:noFill/>
        </p:spPr>
        <p:txBody>
          <a:bodyPr wrap="square" lIns="27432" tIns="27432" rIns="27432" bIns="27432" anchor="t">
            <a:spAutoFit/>
          </a:bodyPr>
          <a:lstStyle/>
          <a:p>
            <a:pPr algn="l">
              <a:spcAft>
                <a:spcPts val="700"/>
              </a:spcAft>
              <a:defRPr sz="2000" b="1">
                <a:solidFill>
                  <a:srgbClr val="14223B"/>
                </a:solidFill>
                <a:latin typeface="Aptos"/>
              </a:defRPr>
            </a:pPr>
            <a:r>
              <a:t>The correlation review highlighted:</a:t>
            </a:r>
          </a:p>
        </p:txBody>
      </p:sp>
      <p:sp>
        <p:nvSpPr>
          <p:cNvPr id="7" name="Rounded Rectangle 6"/>
          <p:cNvSpPr/>
          <p:nvPr/>
        </p:nvSpPr>
        <p:spPr>
          <a:xfrm>
            <a:off x="777240" y="2029968"/>
            <a:ext cx="109728" cy="109728"/>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33271" y="1920240"/>
            <a:ext cx="3538728" cy="530352"/>
          </a:xfrm>
          <a:prstGeom prst="rect">
            <a:avLst/>
          </a:prstGeom>
          <a:noFill/>
        </p:spPr>
        <p:txBody>
          <a:bodyPr wrap="square" lIns="27432" tIns="27432" rIns="27432" bIns="27432" anchor="t">
            <a:spAutoFit/>
          </a:bodyPr>
          <a:lstStyle/>
          <a:p>
            <a:pPr algn="l">
              <a:spcAft>
                <a:spcPts val="700"/>
              </a:spcAft>
              <a:defRPr sz="1700" b="0">
                <a:solidFill>
                  <a:srgbClr val="283343"/>
                </a:solidFill>
                <a:latin typeface="Aptos"/>
              </a:defRPr>
            </a:pPr>
            <a:r>
              <a:t>Age, history length and utilisation were strongly correlated.</a:t>
            </a:r>
          </a:p>
        </p:txBody>
      </p:sp>
      <p:sp>
        <p:nvSpPr>
          <p:cNvPr id="9" name="Rounded Rectangle 8"/>
          <p:cNvSpPr/>
          <p:nvPr/>
        </p:nvSpPr>
        <p:spPr>
          <a:xfrm>
            <a:off x="777240" y="2670048"/>
            <a:ext cx="109728" cy="109728"/>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33271" y="2560320"/>
            <a:ext cx="3538728" cy="530352"/>
          </a:xfrm>
          <a:prstGeom prst="rect">
            <a:avLst/>
          </a:prstGeom>
          <a:noFill/>
        </p:spPr>
        <p:txBody>
          <a:bodyPr wrap="square" lIns="27432" tIns="27432" rIns="27432" bIns="27432" anchor="t">
            <a:spAutoFit/>
          </a:bodyPr>
          <a:lstStyle/>
          <a:p>
            <a:pPr algn="l">
              <a:spcAft>
                <a:spcPts val="700"/>
              </a:spcAft>
              <a:defRPr sz="1700" b="0">
                <a:solidFill>
                  <a:srgbClr val="283343"/>
                </a:solidFill>
                <a:latin typeface="Aptos"/>
              </a:defRPr>
            </a:pPr>
            <a:r>
              <a:t>Income and loan amount were strongly correlated.</a:t>
            </a:r>
          </a:p>
        </p:txBody>
      </p:sp>
      <p:pic>
        <p:nvPicPr>
          <p:cNvPr id="11" name="Picture 10" descr="image.png"/>
          <p:cNvPicPr>
            <a:picLocks noChangeAspect="1"/>
          </p:cNvPicPr>
          <p:nvPr/>
        </p:nvPicPr>
        <p:blipFill>
          <a:blip r:embed="rId2"/>
          <a:stretch>
            <a:fillRect/>
          </a:stretch>
        </p:blipFill>
        <p:spPr>
          <a:xfrm>
            <a:off x="6337150" y="294894"/>
            <a:ext cx="4699297" cy="3781044"/>
          </a:xfrm>
          <a:prstGeom prst="rect">
            <a:avLst/>
          </a:prstGeom>
        </p:spPr>
      </p:pic>
      <p:sp>
        <p:nvSpPr>
          <p:cNvPr id="12" name="TextBox 11"/>
          <p:cNvSpPr txBox="1"/>
          <p:nvPr/>
        </p:nvSpPr>
        <p:spPr>
          <a:xfrm>
            <a:off x="777240" y="5074920"/>
            <a:ext cx="3611880" cy="1286506"/>
          </a:xfrm>
          <a:prstGeom prst="rect">
            <a:avLst/>
          </a:prstGeom>
          <a:noFill/>
        </p:spPr>
        <p:txBody>
          <a:bodyPr wrap="square" lIns="27432" tIns="27432" rIns="27432" bIns="27432" anchor="t">
            <a:spAutoFit/>
          </a:bodyPr>
          <a:lstStyle/>
          <a:p>
            <a:pPr>
              <a:spcAft>
                <a:spcPts val="700"/>
              </a:spcAft>
              <a:defRPr sz="1600" b="1">
                <a:solidFill>
                  <a:srgbClr val="1D9E93"/>
                </a:solidFill>
                <a:latin typeface="Aptos"/>
              </a:defRPr>
            </a:pPr>
            <a:r>
              <a:rPr lang="en-ZA" dirty="0"/>
              <a:t>What I did in </a:t>
            </a:r>
            <a:r>
              <a:rPr lang="en-US" dirty="0"/>
              <a:t>response: remove redundant predictors or engineer a defensible ratio, such as the loan-to-income ratio based on the ones with the highest VIF</a:t>
            </a:r>
            <a:r>
              <a:rPr dirty="0"/>
              <a:t>.</a:t>
            </a:r>
          </a:p>
        </p:txBody>
      </p:sp>
      <p:pic>
        <p:nvPicPr>
          <p:cNvPr id="14" name="Picture 13">
            <a:extLst>
              <a:ext uri="{FF2B5EF4-FFF2-40B4-BE49-F238E27FC236}">
                <a16:creationId xmlns:a16="http://schemas.microsoft.com/office/drawing/2014/main" id="{8711C9D8-1DF8-E2DF-9440-CB0F04501936}"/>
              </a:ext>
            </a:extLst>
          </p:cNvPr>
          <p:cNvPicPr>
            <a:picLocks noChangeAspect="1"/>
          </p:cNvPicPr>
          <p:nvPr/>
        </p:nvPicPr>
        <p:blipFill>
          <a:blip r:embed="rId3"/>
          <a:stretch>
            <a:fillRect/>
          </a:stretch>
        </p:blipFill>
        <p:spPr>
          <a:xfrm>
            <a:off x="5450366" y="4229340"/>
            <a:ext cx="6472863" cy="22953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27080" cy="594360"/>
          </a:xfrm>
          <a:prstGeom prst="rect">
            <a:avLst/>
          </a:prstGeom>
          <a:noFill/>
        </p:spPr>
        <p:txBody>
          <a:bodyPr wrap="square" lIns="27432" tIns="27432" rIns="27432" bIns="27432" anchor="t">
            <a:spAutoFit/>
          </a:bodyPr>
          <a:lstStyle/>
          <a:p>
            <a:pPr algn="l">
              <a:spcAft>
                <a:spcPts val="700"/>
              </a:spcAft>
              <a:defRPr sz="2900" b="1">
                <a:solidFill>
                  <a:srgbClr val="14223B"/>
                </a:solidFill>
                <a:latin typeface="Aptos"/>
              </a:defRPr>
            </a:pPr>
            <a:r>
              <a:t>Influential observations</a:t>
            </a:r>
          </a:p>
        </p:txBody>
      </p:sp>
      <p:sp>
        <p:nvSpPr>
          <p:cNvPr id="4" name="TextBox 3"/>
          <p:cNvSpPr txBox="1"/>
          <p:nvPr/>
        </p:nvSpPr>
        <p:spPr>
          <a:xfrm>
            <a:off x="640080" y="6510528"/>
            <a:ext cx="8046720" cy="182880"/>
          </a:xfrm>
          <a:prstGeom prst="rect">
            <a:avLst/>
          </a:prstGeom>
          <a:noFill/>
        </p:spPr>
        <p:txBody>
          <a:bodyPr wrap="square" lIns="27432" tIns="27432" rIns="27432" bIns="27432" anchor="t">
            <a:spAutoFit/>
          </a:bodyPr>
          <a:lstStyle/>
          <a:p>
            <a:pPr algn="l">
              <a:spcAft>
                <a:spcPts val="700"/>
              </a:spcAft>
              <a:defRPr sz="900" b="1">
                <a:solidFill>
                  <a:srgbClr val="647182"/>
                </a:solidFill>
                <a:latin typeface="Aptos"/>
              </a:defRPr>
            </a:pPr>
            <a:r>
              <a:t>07  |  DIAGNOSTICS</a:t>
            </a:r>
          </a:p>
        </p:txBody>
      </p:sp>
      <p:sp>
        <p:nvSpPr>
          <p:cNvPr id="5" name="TextBox 4"/>
          <p:cNvSpPr txBox="1"/>
          <p:nvPr/>
        </p:nvSpPr>
        <p:spPr>
          <a:xfrm>
            <a:off x="11109960" y="6473952"/>
            <a:ext cx="438912" cy="219456"/>
          </a:xfrm>
          <a:prstGeom prst="rect">
            <a:avLst/>
          </a:prstGeom>
          <a:noFill/>
        </p:spPr>
        <p:txBody>
          <a:bodyPr wrap="square" lIns="27432" tIns="27432" rIns="27432" bIns="27432" anchor="t">
            <a:spAutoFit/>
          </a:bodyPr>
          <a:lstStyle/>
          <a:p>
            <a:pPr algn="r">
              <a:spcAft>
                <a:spcPts val="700"/>
              </a:spcAft>
              <a:defRPr sz="900" b="0">
                <a:solidFill>
                  <a:srgbClr val="647182"/>
                </a:solidFill>
                <a:latin typeface="Aptos"/>
              </a:defRPr>
            </a:pPr>
            <a:r>
              <a:t>08</a:t>
            </a:r>
          </a:p>
        </p:txBody>
      </p:sp>
      <p:sp>
        <p:nvSpPr>
          <p:cNvPr id="6" name="TextBox 5"/>
          <p:cNvSpPr txBox="1"/>
          <p:nvPr/>
        </p:nvSpPr>
        <p:spPr>
          <a:xfrm>
            <a:off x="731520" y="1234440"/>
            <a:ext cx="4846320" cy="658368"/>
          </a:xfrm>
          <a:prstGeom prst="rect">
            <a:avLst/>
          </a:prstGeom>
          <a:noFill/>
        </p:spPr>
        <p:txBody>
          <a:bodyPr wrap="square" lIns="27432" tIns="27432" rIns="27432" bIns="27432" anchor="t">
            <a:spAutoFit/>
          </a:bodyPr>
          <a:lstStyle/>
          <a:p>
            <a:pPr algn="l">
              <a:spcAft>
                <a:spcPts val="700"/>
              </a:spcAft>
              <a:defRPr sz="1900" b="0">
                <a:solidFill>
                  <a:srgbClr val="283343"/>
                </a:solidFill>
                <a:latin typeface="Aptos"/>
              </a:defRPr>
            </a:pPr>
            <a:r>
              <a:t>Cook’s distance was used to flag observations that may influence the fitted model.</a:t>
            </a:r>
          </a:p>
        </p:txBody>
      </p:sp>
      <p:pic>
        <p:nvPicPr>
          <p:cNvPr id="7" name="Picture 6" descr="image.png"/>
          <p:cNvPicPr>
            <a:picLocks noChangeAspect="1"/>
          </p:cNvPicPr>
          <p:nvPr/>
        </p:nvPicPr>
        <p:blipFill>
          <a:blip r:embed="rId2"/>
          <a:stretch>
            <a:fillRect/>
          </a:stretch>
        </p:blipFill>
        <p:spPr>
          <a:xfrm>
            <a:off x="5577840" y="1492504"/>
            <a:ext cx="5897880" cy="4010150"/>
          </a:xfrm>
          <a:prstGeom prst="rect">
            <a:avLst/>
          </a:prstGeom>
        </p:spPr>
      </p:pic>
      <p:sp>
        <p:nvSpPr>
          <p:cNvPr id="8" name="Rounded Rectangle 7"/>
          <p:cNvSpPr/>
          <p:nvPr/>
        </p:nvSpPr>
        <p:spPr>
          <a:xfrm>
            <a:off x="731520" y="2331720"/>
            <a:ext cx="4343400" cy="114300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2331720"/>
            <a:ext cx="82296" cy="1143000"/>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2496312"/>
            <a:ext cx="3904487" cy="347472"/>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t>WHAT THE PLOT CAN SHOW</a:t>
            </a:r>
          </a:p>
        </p:txBody>
      </p:sp>
      <p:sp>
        <p:nvSpPr>
          <p:cNvPr id="11" name="TextBox 10"/>
          <p:cNvSpPr txBox="1"/>
          <p:nvPr/>
        </p:nvSpPr>
        <p:spPr>
          <a:xfrm>
            <a:off x="960120" y="2827856"/>
            <a:ext cx="3904487" cy="429768"/>
          </a:xfrm>
          <a:prstGeom prst="rect">
            <a:avLst/>
          </a:prstGeom>
          <a:noFill/>
        </p:spPr>
        <p:txBody>
          <a:bodyPr wrap="square" lIns="27432" tIns="27432" rIns="27432" bIns="27432" anchor="t">
            <a:spAutoFit/>
          </a:bodyPr>
          <a:lstStyle/>
          <a:p>
            <a:pPr algn="l">
              <a:spcAft>
                <a:spcPts val="700"/>
              </a:spcAft>
              <a:defRPr sz="1500" b="0">
                <a:solidFill>
                  <a:srgbClr val="283343"/>
                </a:solidFill>
                <a:latin typeface="Aptos"/>
              </a:defRPr>
            </a:pPr>
            <a:r>
              <a:rPr dirty="0"/>
              <a:t>Potentially influential cases—not automatically erroneous records.</a:t>
            </a:r>
          </a:p>
        </p:txBody>
      </p:sp>
      <p:sp>
        <p:nvSpPr>
          <p:cNvPr id="12" name="Rounded Rectangle 11"/>
          <p:cNvSpPr/>
          <p:nvPr/>
        </p:nvSpPr>
        <p:spPr>
          <a:xfrm>
            <a:off x="731520" y="3713152"/>
            <a:ext cx="4343400" cy="123444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31520" y="3703320"/>
            <a:ext cx="82296" cy="1234440"/>
          </a:xfrm>
          <a:prstGeom prst="roundRect">
            <a:avLst>
              <a:gd name="adj" fmla="val 12000"/>
            </a:avLst>
          </a:prstGeom>
          <a:solidFill>
            <a:srgbClr val="2C6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3867911"/>
            <a:ext cx="3904487" cy="347472"/>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t>WHAT WAS DONE</a:t>
            </a:r>
          </a:p>
        </p:txBody>
      </p:sp>
      <p:sp>
        <p:nvSpPr>
          <p:cNvPr id="15" name="TextBox 14"/>
          <p:cNvSpPr txBox="1"/>
          <p:nvPr/>
        </p:nvSpPr>
        <p:spPr>
          <a:xfrm>
            <a:off x="960120" y="4174236"/>
            <a:ext cx="3904487" cy="747897"/>
          </a:xfrm>
          <a:prstGeom prst="rect">
            <a:avLst/>
          </a:prstGeom>
          <a:noFill/>
        </p:spPr>
        <p:txBody>
          <a:bodyPr wrap="square" lIns="27432" tIns="27432" rIns="27432" bIns="27432" anchor="t">
            <a:spAutoFit/>
          </a:bodyPr>
          <a:lstStyle/>
          <a:p>
            <a:pPr algn="l">
              <a:spcAft>
                <a:spcPts val="700"/>
              </a:spcAft>
              <a:defRPr sz="1500" b="0">
                <a:solidFill>
                  <a:srgbClr val="283343"/>
                </a:solidFill>
                <a:latin typeface="Aptos"/>
              </a:defRPr>
            </a:pPr>
            <a:r>
              <a:rPr dirty="0"/>
              <a:t>Flagged observations were retained because the comparison did not show a meaningful difference.</a:t>
            </a:r>
          </a:p>
        </p:txBody>
      </p:sp>
      <p:sp>
        <p:nvSpPr>
          <p:cNvPr id="16" name="TextBox 15"/>
          <p:cNvSpPr txBox="1"/>
          <p:nvPr/>
        </p:nvSpPr>
        <p:spPr>
          <a:xfrm>
            <a:off x="777240" y="5349240"/>
            <a:ext cx="10607040" cy="457200"/>
          </a:xfrm>
          <a:prstGeom prst="rect">
            <a:avLst/>
          </a:prstGeom>
          <a:noFill/>
        </p:spPr>
        <p:txBody>
          <a:bodyPr wrap="square" lIns="27432" tIns="27432" rIns="27432" bIns="27432" anchor="t">
            <a:spAutoFit/>
          </a:bodyPr>
          <a:lstStyle/>
          <a:p>
            <a:pPr algn="l">
              <a:spcAft>
                <a:spcPts val="700"/>
              </a:spcAft>
              <a:defRPr sz="1400" b="0">
                <a:solidFill>
                  <a:srgbClr val="647182"/>
                </a:solidFill>
                <a:latin typeface="Aptos"/>
              </a:defRPr>
            </a:pPr>
            <a:r>
              <a:rPr dirty="0"/>
              <a:t>Best practice: investigate flagged cases and report a sensitivity analysis with and without them.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27080" cy="594360"/>
          </a:xfrm>
          <a:prstGeom prst="rect">
            <a:avLst/>
          </a:prstGeom>
          <a:noFill/>
        </p:spPr>
        <p:txBody>
          <a:bodyPr wrap="square" lIns="27432" tIns="27432" rIns="27432" bIns="27432" anchor="t">
            <a:spAutoFit/>
          </a:bodyPr>
          <a:lstStyle/>
          <a:p>
            <a:pPr algn="l">
              <a:spcAft>
                <a:spcPts val="700"/>
              </a:spcAft>
              <a:defRPr sz="2900" b="1">
                <a:solidFill>
                  <a:srgbClr val="14223B"/>
                </a:solidFill>
                <a:latin typeface="Aptos"/>
              </a:defRPr>
            </a:pPr>
            <a:r>
              <a:t>Linearity in the logit</a:t>
            </a:r>
          </a:p>
        </p:txBody>
      </p:sp>
      <p:sp>
        <p:nvSpPr>
          <p:cNvPr id="4" name="TextBox 3"/>
          <p:cNvSpPr txBox="1"/>
          <p:nvPr/>
        </p:nvSpPr>
        <p:spPr>
          <a:xfrm>
            <a:off x="640080" y="6510528"/>
            <a:ext cx="8046720" cy="182880"/>
          </a:xfrm>
          <a:prstGeom prst="rect">
            <a:avLst/>
          </a:prstGeom>
          <a:noFill/>
        </p:spPr>
        <p:txBody>
          <a:bodyPr wrap="square" lIns="27432" tIns="27432" rIns="27432" bIns="27432" anchor="t">
            <a:spAutoFit/>
          </a:bodyPr>
          <a:lstStyle/>
          <a:p>
            <a:pPr algn="l">
              <a:spcAft>
                <a:spcPts val="700"/>
              </a:spcAft>
              <a:defRPr sz="900" b="1">
                <a:solidFill>
                  <a:srgbClr val="647182"/>
                </a:solidFill>
                <a:latin typeface="Aptos"/>
              </a:defRPr>
            </a:pPr>
            <a:r>
              <a:t>08  |  DIAGNOSTICS</a:t>
            </a:r>
          </a:p>
        </p:txBody>
      </p:sp>
      <p:sp>
        <p:nvSpPr>
          <p:cNvPr id="5" name="TextBox 4"/>
          <p:cNvSpPr txBox="1"/>
          <p:nvPr/>
        </p:nvSpPr>
        <p:spPr>
          <a:xfrm>
            <a:off x="11109960" y="6473952"/>
            <a:ext cx="438912" cy="219456"/>
          </a:xfrm>
          <a:prstGeom prst="rect">
            <a:avLst/>
          </a:prstGeom>
          <a:noFill/>
        </p:spPr>
        <p:txBody>
          <a:bodyPr wrap="square" lIns="27432" tIns="27432" rIns="27432" bIns="27432" anchor="t">
            <a:spAutoFit/>
          </a:bodyPr>
          <a:lstStyle/>
          <a:p>
            <a:pPr algn="r">
              <a:spcAft>
                <a:spcPts val="700"/>
              </a:spcAft>
              <a:defRPr sz="900" b="0">
                <a:solidFill>
                  <a:srgbClr val="647182"/>
                </a:solidFill>
                <a:latin typeface="Aptos"/>
              </a:defRPr>
            </a:pPr>
            <a:r>
              <a:t>09</a:t>
            </a:r>
          </a:p>
        </p:txBody>
      </p:sp>
      <p:sp>
        <p:nvSpPr>
          <p:cNvPr id="6" name="TextBox 5"/>
          <p:cNvSpPr txBox="1"/>
          <p:nvPr/>
        </p:nvSpPr>
        <p:spPr>
          <a:xfrm>
            <a:off x="731520" y="1234440"/>
            <a:ext cx="4160520" cy="1453218"/>
          </a:xfrm>
          <a:prstGeom prst="rect">
            <a:avLst/>
          </a:prstGeom>
          <a:noFill/>
        </p:spPr>
        <p:txBody>
          <a:bodyPr wrap="square" lIns="27432" tIns="27432" rIns="27432" bIns="27432" anchor="t">
            <a:spAutoFit/>
          </a:bodyPr>
          <a:lstStyle/>
          <a:p>
            <a:pPr algn="l">
              <a:spcAft>
                <a:spcPts val="700"/>
              </a:spcAft>
              <a:defRPr sz="1700" b="0">
                <a:solidFill>
                  <a:srgbClr val="283343"/>
                </a:solidFill>
                <a:latin typeface="Aptos"/>
              </a:defRPr>
            </a:pPr>
            <a:r>
              <a:rPr dirty="0"/>
              <a:t>Logistic regression assumes a linear relationship between each continuous predictor and the log-odds, unless modelled otherwise.</a:t>
            </a:r>
            <a:endParaRPr lang="en-ZA" dirty="0"/>
          </a:p>
          <a:p>
            <a:pPr algn="l">
              <a:spcAft>
                <a:spcPts val="700"/>
              </a:spcAft>
              <a:defRPr sz="1700" b="0">
                <a:solidFill>
                  <a:srgbClr val="283343"/>
                </a:solidFill>
                <a:latin typeface="Aptos"/>
              </a:defRPr>
            </a:pPr>
            <a:endParaRPr dirty="0"/>
          </a:p>
        </p:txBody>
      </p:sp>
      <p:sp>
        <p:nvSpPr>
          <p:cNvPr id="7" name="Rounded Rectangle 6"/>
          <p:cNvSpPr/>
          <p:nvPr/>
        </p:nvSpPr>
        <p:spPr>
          <a:xfrm>
            <a:off x="777240" y="2350008"/>
            <a:ext cx="109728" cy="109728"/>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339" y="2267712"/>
            <a:ext cx="3813048" cy="517065"/>
          </a:xfrm>
          <a:prstGeom prst="rect">
            <a:avLst/>
          </a:prstGeom>
          <a:noFill/>
        </p:spPr>
        <p:txBody>
          <a:bodyPr wrap="square" lIns="27432" tIns="27432" rIns="27432" bIns="27432" anchor="t">
            <a:spAutoFit/>
          </a:bodyPr>
          <a:lstStyle/>
          <a:p>
            <a:pPr algn="l">
              <a:spcAft>
                <a:spcPts val="700"/>
              </a:spcAft>
              <a:defRPr sz="1500" b="0">
                <a:solidFill>
                  <a:srgbClr val="283343"/>
                </a:solidFill>
                <a:latin typeface="Aptos"/>
              </a:defRPr>
            </a:pPr>
            <a:r>
              <a:rPr dirty="0"/>
              <a:t>Utilisation showed possible non-linearity</a:t>
            </a:r>
            <a:r>
              <a:rPr lang="en-ZA" dirty="0"/>
              <a:t>, with a p-value of 0.0134</a:t>
            </a:r>
            <a:endParaRPr dirty="0"/>
          </a:p>
        </p:txBody>
      </p:sp>
      <p:sp>
        <p:nvSpPr>
          <p:cNvPr id="9" name="Rounded Rectangle 8"/>
          <p:cNvSpPr/>
          <p:nvPr/>
        </p:nvSpPr>
        <p:spPr>
          <a:xfrm>
            <a:off x="777240" y="2990088"/>
            <a:ext cx="109728" cy="109728"/>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33271" y="2880360"/>
            <a:ext cx="3813048" cy="530352"/>
          </a:xfrm>
          <a:prstGeom prst="rect">
            <a:avLst/>
          </a:prstGeom>
          <a:noFill/>
        </p:spPr>
        <p:txBody>
          <a:bodyPr wrap="square" lIns="27432" tIns="27432" rIns="27432" bIns="27432" anchor="t">
            <a:spAutoFit/>
          </a:bodyPr>
          <a:lstStyle/>
          <a:p>
            <a:pPr algn="l">
              <a:spcAft>
                <a:spcPts val="700"/>
              </a:spcAft>
              <a:defRPr sz="1500" b="0">
                <a:solidFill>
                  <a:srgbClr val="283343"/>
                </a:solidFill>
                <a:latin typeface="Aptos"/>
              </a:defRPr>
            </a:pPr>
            <a:r>
              <a:t>A partial-residual plot was reviewed.</a:t>
            </a:r>
          </a:p>
        </p:txBody>
      </p:sp>
      <p:sp>
        <p:nvSpPr>
          <p:cNvPr id="11" name="Rounded Rectangle 10"/>
          <p:cNvSpPr/>
          <p:nvPr/>
        </p:nvSpPr>
        <p:spPr>
          <a:xfrm>
            <a:off x="777240" y="3630168"/>
            <a:ext cx="109728" cy="109728"/>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33271" y="3520440"/>
            <a:ext cx="3813048" cy="530352"/>
          </a:xfrm>
          <a:prstGeom prst="rect">
            <a:avLst/>
          </a:prstGeom>
          <a:noFill/>
        </p:spPr>
        <p:txBody>
          <a:bodyPr wrap="square" lIns="27432" tIns="27432" rIns="27432" bIns="27432" anchor="t">
            <a:spAutoFit/>
          </a:bodyPr>
          <a:lstStyle/>
          <a:p>
            <a:pPr algn="l">
              <a:spcAft>
                <a:spcPts val="700"/>
              </a:spcAft>
              <a:defRPr sz="1500" b="0">
                <a:solidFill>
                  <a:srgbClr val="283343"/>
                </a:solidFill>
                <a:latin typeface="Aptos"/>
              </a:defRPr>
            </a:pPr>
            <a:r>
              <a:t>The fitted trend appeared close to the reference line, supporting—but not proving—the linearity assumption.</a:t>
            </a:r>
          </a:p>
        </p:txBody>
      </p:sp>
      <p:pic>
        <p:nvPicPr>
          <p:cNvPr id="13" name="Picture 12" descr="image.png"/>
          <p:cNvPicPr>
            <a:picLocks noChangeAspect="1"/>
          </p:cNvPicPr>
          <p:nvPr/>
        </p:nvPicPr>
        <p:blipFill>
          <a:blip r:embed="rId2"/>
          <a:stretch>
            <a:fillRect/>
          </a:stretch>
        </p:blipFill>
        <p:spPr>
          <a:xfrm>
            <a:off x="4846759" y="1280160"/>
            <a:ext cx="6354200" cy="4526280"/>
          </a:xfrm>
          <a:prstGeom prst="rect">
            <a:avLst/>
          </a:prstGeom>
        </p:spPr>
      </p:pic>
      <p:sp>
        <p:nvSpPr>
          <p:cNvPr id="14" name="TextBox 13"/>
          <p:cNvSpPr txBox="1"/>
          <p:nvPr/>
        </p:nvSpPr>
        <p:spPr>
          <a:xfrm>
            <a:off x="777240" y="5715000"/>
            <a:ext cx="10332720" cy="347472"/>
          </a:xfrm>
          <a:prstGeom prst="rect">
            <a:avLst/>
          </a:prstGeom>
          <a:noFill/>
        </p:spPr>
        <p:txBody>
          <a:bodyPr wrap="square" lIns="27432" tIns="27432" rIns="27432" bIns="27432" anchor="t">
            <a:spAutoFit/>
          </a:bodyPr>
          <a:lstStyle/>
          <a:p>
            <a:pPr algn="l">
              <a:spcAft>
                <a:spcPts val="700"/>
              </a:spcAft>
              <a:defRPr sz="1400" b="1">
                <a:solidFill>
                  <a:srgbClr val="1D9E93"/>
                </a:solidFill>
                <a:latin typeface="Aptos"/>
              </a:defRPr>
            </a:pPr>
            <a:r>
              <a:t>If needed, test splines or nonlinear terms and compare validation performance.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27080" cy="594360"/>
          </a:xfrm>
          <a:prstGeom prst="rect">
            <a:avLst/>
          </a:prstGeom>
          <a:noFill/>
        </p:spPr>
        <p:txBody>
          <a:bodyPr wrap="square" lIns="27432" tIns="27432" rIns="27432" bIns="27432" anchor="t">
            <a:spAutoFit/>
          </a:bodyPr>
          <a:lstStyle/>
          <a:p>
            <a:pPr algn="l">
              <a:spcAft>
                <a:spcPts val="700"/>
              </a:spcAft>
              <a:defRPr sz="2900" b="1">
                <a:solidFill>
                  <a:srgbClr val="14223B"/>
                </a:solidFill>
                <a:latin typeface="Aptos"/>
              </a:defRPr>
            </a:pPr>
            <a:r>
              <a:t>Choosing the simpler model</a:t>
            </a:r>
          </a:p>
        </p:txBody>
      </p:sp>
      <p:sp>
        <p:nvSpPr>
          <p:cNvPr id="4" name="TextBox 3"/>
          <p:cNvSpPr txBox="1"/>
          <p:nvPr/>
        </p:nvSpPr>
        <p:spPr>
          <a:xfrm>
            <a:off x="640080" y="6510528"/>
            <a:ext cx="8046720" cy="182880"/>
          </a:xfrm>
          <a:prstGeom prst="rect">
            <a:avLst/>
          </a:prstGeom>
          <a:noFill/>
        </p:spPr>
        <p:txBody>
          <a:bodyPr wrap="square" lIns="27432" tIns="27432" rIns="27432" bIns="27432" anchor="t">
            <a:spAutoFit/>
          </a:bodyPr>
          <a:lstStyle/>
          <a:p>
            <a:pPr algn="l">
              <a:spcAft>
                <a:spcPts val="700"/>
              </a:spcAft>
              <a:defRPr sz="900" b="1">
                <a:solidFill>
                  <a:srgbClr val="647182"/>
                </a:solidFill>
                <a:latin typeface="Aptos"/>
              </a:defRPr>
            </a:pPr>
            <a:r>
              <a:t>09  |  MODEL SELECTION</a:t>
            </a:r>
          </a:p>
        </p:txBody>
      </p:sp>
      <p:sp>
        <p:nvSpPr>
          <p:cNvPr id="5" name="TextBox 4"/>
          <p:cNvSpPr txBox="1"/>
          <p:nvPr/>
        </p:nvSpPr>
        <p:spPr>
          <a:xfrm>
            <a:off x="11109960" y="6473952"/>
            <a:ext cx="438912" cy="219456"/>
          </a:xfrm>
          <a:prstGeom prst="rect">
            <a:avLst/>
          </a:prstGeom>
          <a:noFill/>
        </p:spPr>
        <p:txBody>
          <a:bodyPr wrap="square" lIns="27432" tIns="27432" rIns="27432" bIns="27432" anchor="t">
            <a:spAutoFit/>
          </a:bodyPr>
          <a:lstStyle/>
          <a:p>
            <a:pPr algn="r">
              <a:spcAft>
                <a:spcPts val="700"/>
              </a:spcAft>
              <a:defRPr sz="900" b="0">
                <a:solidFill>
                  <a:srgbClr val="647182"/>
                </a:solidFill>
                <a:latin typeface="Aptos"/>
              </a:defRPr>
            </a:pPr>
            <a:r>
              <a:t>10</a:t>
            </a:r>
          </a:p>
        </p:txBody>
      </p:sp>
      <p:sp>
        <p:nvSpPr>
          <p:cNvPr id="6" name="Rounded Rectangle 5"/>
          <p:cNvSpPr/>
          <p:nvPr/>
        </p:nvSpPr>
        <p:spPr>
          <a:xfrm>
            <a:off x="731520" y="1417320"/>
            <a:ext cx="5029200" cy="201168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691640"/>
            <a:ext cx="4480560" cy="384048"/>
          </a:xfrm>
          <a:prstGeom prst="rect">
            <a:avLst/>
          </a:prstGeom>
          <a:noFill/>
        </p:spPr>
        <p:txBody>
          <a:bodyPr wrap="square" lIns="27432" tIns="27432" rIns="27432" bIns="27432" anchor="t">
            <a:spAutoFit/>
          </a:bodyPr>
          <a:lstStyle/>
          <a:p>
            <a:pPr algn="l">
              <a:spcAft>
                <a:spcPts val="700"/>
              </a:spcAft>
              <a:defRPr sz="2100" b="1">
                <a:solidFill>
                  <a:srgbClr val="14223B"/>
                </a:solidFill>
                <a:latin typeface="Aptos"/>
              </a:defRPr>
            </a:pPr>
            <a:r>
              <a:t>Full model</a:t>
            </a:r>
          </a:p>
        </p:txBody>
      </p:sp>
      <p:sp>
        <p:nvSpPr>
          <p:cNvPr id="8" name="TextBox 7"/>
          <p:cNvSpPr txBox="1"/>
          <p:nvPr/>
        </p:nvSpPr>
        <p:spPr>
          <a:xfrm>
            <a:off x="1005840" y="2240280"/>
            <a:ext cx="4434840" cy="822960"/>
          </a:xfrm>
          <a:prstGeom prst="rect">
            <a:avLst/>
          </a:prstGeom>
          <a:noFill/>
        </p:spPr>
        <p:txBody>
          <a:bodyPr wrap="square" lIns="27432" tIns="27432" rIns="27432" bIns="27432" anchor="t">
            <a:spAutoFit/>
          </a:bodyPr>
          <a:lstStyle/>
          <a:p>
            <a:pPr algn="l">
              <a:spcAft>
                <a:spcPts val="700"/>
              </a:spcAft>
              <a:defRPr sz="1700" b="0">
                <a:solidFill>
                  <a:srgbClr val="283343"/>
                </a:solidFill>
                <a:latin typeface="Aptos"/>
              </a:defRPr>
            </a:pPr>
            <a:r>
              <a:t>Contains the candidate predictors and serves as a comparison baseline.</a:t>
            </a:r>
          </a:p>
        </p:txBody>
      </p:sp>
      <p:sp>
        <p:nvSpPr>
          <p:cNvPr id="9" name="Rounded Rectangle 8"/>
          <p:cNvSpPr/>
          <p:nvPr/>
        </p:nvSpPr>
        <p:spPr>
          <a:xfrm>
            <a:off x="6400800" y="1417320"/>
            <a:ext cx="5029200" cy="201168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1691640"/>
            <a:ext cx="4480560" cy="384048"/>
          </a:xfrm>
          <a:prstGeom prst="rect">
            <a:avLst/>
          </a:prstGeom>
          <a:noFill/>
        </p:spPr>
        <p:txBody>
          <a:bodyPr wrap="square" lIns="27432" tIns="27432" rIns="27432" bIns="27432" anchor="t">
            <a:spAutoFit/>
          </a:bodyPr>
          <a:lstStyle/>
          <a:p>
            <a:pPr algn="l">
              <a:spcAft>
                <a:spcPts val="700"/>
              </a:spcAft>
              <a:defRPr sz="2100" b="1">
                <a:solidFill>
                  <a:srgbClr val="14223B"/>
                </a:solidFill>
                <a:latin typeface="Aptos"/>
              </a:defRPr>
            </a:pPr>
            <a:r>
              <a:t>Simplified model</a:t>
            </a:r>
          </a:p>
        </p:txBody>
      </p:sp>
      <p:sp>
        <p:nvSpPr>
          <p:cNvPr id="11" name="TextBox 10"/>
          <p:cNvSpPr txBox="1"/>
          <p:nvPr/>
        </p:nvSpPr>
        <p:spPr>
          <a:xfrm>
            <a:off x="6675120" y="2240280"/>
            <a:ext cx="4434840" cy="822960"/>
          </a:xfrm>
          <a:prstGeom prst="rect">
            <a:avLst/>
          </a:prstGeom>
          <a:noFill/>
        </p:spPr>
        <p:txBody>
          <a:bodyPr wrap="square" lIns="27432" tIns="27432" rIns="27432" bIns="27432" anchor="t">
            <a:spAutoFit/>
          </a:bodyPr>
          <a:lstStyle/>
          <a:p>
            <a:pPr algn="l">
              <a:spcAft>
                <a:spcPts val="700"/>
              </a:spcAft>
              <a:defRPr sz="1700" b="0">
                <a:solidFill>
                  <a:srgbClr val="283343"/>
                </a:solidFill>
                <a:latin typeface="Aptos"/>
              </a:defRPr>
            </a:pPr>
            <a:r>
              <a:t>Retains the selected predictors after significance and diagnostic checks.</a:t>
            </a:r>
          </a:p>
        </p:txBody>
      </p:sp>
      <p:sp>
        <p:nvSpPr>
          <p:cNvPr id="12" name="Rounded Rectangle 11"/>
          <p:cNvSpPr/>
          <p:nvPr/>
        </p:nvSpPr>
        <p:spPr>
          <a:xfrm>
            <a:off x="5349240" y="2057400"/>
            <a:ext cx="960120" cy="502920"/>
          </a:xfrm>
          <a:prstGeom prst="roundRect">
            <a:avLst>
              <a:gd name="adj" fmla="val 12000"/>
            </a:avLst>
          </a:prstGeom>
          <a:solidFill>
            <a:srgbClr val="1D9E93"/>
          </a:solidFill>
          <a:ln>
            <a:solidFill>
              <a:srgbClr val="1D9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40680" y="2157984"/>
            <a:ext cx="777240" cy="228600"/>
          </a:xfrm>
          <a:prstGeom prst="rect">
            <a:avLst/>
          </a:prstGeom>
          <a:noFill/>
        </p:spPr>
        <p:txBody>
          <a:bodyPr wrap="square" lIns="27432" tIns="27432" rIns="27432" bIns="27432" anchor="t">
            <a:spAutoFit/>
          </a:bodyPr>
          <a:lstStyle/>
          <a:p>
            <a:pPr algn="ctr">
              <a:spcAft>
                <a:spcPts val="700"/>
              </a:spcAft>
              <a:defRPr sz="1000" b="1">
                <a:solidFill>
                  <a:srgbClr val="FFFFFF"/>
                </a:solidFill>
                <a:latin typeface="Aptos"/>
              </a:defRPr>
            </a:pPr>
            <a:r>
              <a:t>COMPARE</a:t>
            </a:r>
          </a:p>
        </p:txBody>
      </p:sp>
      <p:sp>
        <p:nvSpPr>
          <p:cNvPr id="14" name="TextBox 13"/>
          <p:cNvSpPr txBox="1"/>
          <p:nvPr/>
        </p:nvSpPr>
        <p:spPr>
          <a:xfrm>
            <a:off x="822960" y="4069080"/>
            <a:ext cx="10515600" cy="594360"/>
          </a:xfrm>
          <a:prstGeom prst="rect">
            <a:avLst/>
          </a:prstGeom>
          <a:noFill/>
        </p:spPr>
        <p:txBody>
          <a:bodyPr wrap="square" lIns="27432" tIns="27432" rIns="27432" bIns="27432" anchor="t">
            <a:spAutoFit/>
          </a:bodyPr>
          <a:lstStyle/>
          <a:p>
            <a:pPr algn="l">
              <a:spcAft>
                <a:spcPts val="700"/>
              </a:spcAft>
              <a:defRPr sz="2000" b="1">
                <a:solidFill>
                  <a:srgbClr val="14223B"/>
                </a:solidFill>
                <a:latin typeface="Aptos"/>
              </a:defRPr>
            </a:pPr>
            <a:r>
              <a:t>The comparison found no statistically significant difference in fit.</a:t>
            </a:r>
          </a:p>
        </p:txBody>
      </p:sp>
      <p:sp>
        <p:nvSpPr>
          <p:cNvPr id="15" name="TextBox 14"/>
          <p:cNvSpPr txBox="1"/>
          <p:nvPr/>
        </p:nvSpPr>
        <p:spPr>
          <a:xfrm>
            <a:off x="822960" y="4800600"/>
            <a:ext cx="10515600" cy="777240"/>
          </a:xfrm>
          <a:prstGeom prst="rect">
            <a:avLst/>
          </a:prstGeom>
          <a:noFill/>
        </p:spPr>
        <p:txBody>
          <a:bodyPr wrap="square" lIns="27432" tIns="27432" rIns="27432" bIns="27432" anchor="t">
            <a:spAutoFit/>
          </a:bodyPr>
          <a:lstStyle/>
          <a:p>
            <a:pPr algn="l">
              <a:spcAft>
                <a:spcPts val="700"/>
              </a:spcAft>
              <a:defRPr sz="1700" b="0">
                <a:solidFill>
                  <a:srgbClr val="283343"/>
                </a:solidFill>
                <a:latin typeface="Aptos"/>
              </a:defRPr>
            </a:pPr>
            <a:r>
              <a:t>Interpret this as insufficient evidence that the larger model fits better—not proof that both models are identical. Prefer the simpler model if performance and diagnostics remain acceptable.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27080" cy="594360"/>
          </a:xfrm>
          <a:prstGeom prst="rect">
            <a:avLst/>
          </a:prstGeom>
          <a:noFill/>
        </p:spPr>
        <p:txBody>
          <a:bodyPr wrap="square" lIns="27432" tIns="27432" rIns="27432" bIns="27432" anchor="t">
            <a:spAutoFit/>
          </a:bodyPr>
          <a:lstStyle/>
          <a:p>
            <a:pPr algn="l">
              <a:spcAft>
                <a:spcPts val="700"/>
              </a:spcAft>
              <a:defRPr sz="2900" b="1">
                <a:solidFill>
                  <a:srgbClr val="14223B"/>
                </a:solidFill>
                <a:latin typeface="Aptos"/>
              </a:defRPr>
            </a:pPr>
            <a:r>
              <a:t>Discrimination: ROC curve and AUC</a:t>
            </a:r>
          </a:p>
        </p:txBody>
      </p:sp>
      <p:sp>
        <p:nvSpPr>
          <p:cNvPr id="4" name="TextBox 3"/>
          <p:cNvSpPr txBox="1"/>
          <p:nvPr/>
        </p:nvSpPr>
        <p:spPr>
          <a:xfrm>
            <a:off x="640080" y="6510528"/>
            <a:ext cx="8046720" cy="182880"/>
          </a:xfrm>
          <a:prstGeom prst="rect">
            <a:avLst/>
          </a:prstGeom>
          <a:noFill/>
        </p:spPr>
        <p:txBody>
          <a:bodyPr wrap="square" lIns="27432" tIns="27432" rIns="27432" bIns="27432" anchor="t">
            <a:spAutoFit/>
          </a:bodyPr>
          <a:lstStyle/>
          <a:p>
            <a:pPr algn="l">
              <a:spcAft>
                <a:spcPts val="700"/>
              </a:spcAft>
              <a:defRPr sz="900" b="1">
                <a:solidFill>
                  <a:srgbClr val="647182"/>
                </a:solidFill>
                <a:latin typeface="Aptos"/>
              </a:defRPr>
            </a:pPr>
            <a:r>
              <a:t>10  |  PERFORMANCE</a:t>
            </a:r>
          </a:p>
        </p:txBody>
      </p:sp>
      <p:sp>
        <p:nvSpPr>
          <p:cNvPr id="5" name="TextBox 4"/>
          <p:cNvSpPr txBox="1"/>
          <p:nvPr/>
        </p:nvSpPr>
        <p:spPr>
          <a:xfrm>
            <a:off x="11109960" y="6473952"/>
            <a:ext cx="438912" cy="219456"/>
          </a:xfrm>
          <a:prstGeom prst="rect">
            <a:avLst/>
          </a:prstGeom>
          <a:noFill/>
        </p:spPr>
        <p:txBody>
          <a:bodyPr wrap="square" lIns="27432" tIns="27432" rIns="27432" bIns="27432" anchor="t">
            <a:spAutoFit/>
          </a:bodyPr>
          <a:lstStyle/>
          <a:p>
            <a:pPr algn="r">
              <a:spcAft>
                <a:spcPts val="700"/>
              </a:spcAft>
              <a:defRPr sz="900" b="0">
                <a:solidFill>
                  <a:srgbClr val="647182"/>
                </a:solidFill>
                <a:latin typeface="Aptos"/>
              </a:defRPr>
            </a:pPr>
            <a:r>
              <a:t>11</a:t>
            </a:r>
          </a:p>
        </p:txBody>
      </p:sp>
      <p:sp>
        <p:nvSpPr>
          <p:cNvPr id="6" name="TextBox 5"/>
          <p:cNvSpPr txBox="1"/>
          <p:nvPr/>
        </p:nvSpPr>
        <p:spPr>
          <a:xfrm>
            <a:off x="731520" y="1234440"/>
            <a:ext cx="3657600" cy="640080"/>
          </a:xfrm>
          <a:prstGeom prst="rect">
            <a:avLst/>
          </a:prstGeom>
          <a:noFill/>
        </p:spPr>
        <p:txBody>
          <a:bodyPr wrap="square" lIns="27432" tIns="27432" rIns="27432" bIns="27432" anchor="t">
            <a:spAutoFit/>
          </a:bodyPr>
          <a:lstStyle/>
          <a:p>
            <a:pPr algn="l">
              <a:spcAft>
                <a:spcPts val="700"/>
              </a:spcAft>
              <a:defRPr sz="1700" b="0">
                <a:solidFill>
                  <a:srgbClr val="283343"/>
                </a:solidFill>
                <a:latin typeface="Aptos"/>
              </a:defRPr>
            </a:pPr>
            <a:r>
              <a:t>AUC measures how well the model ranks defaulters above non-defaulters.</a:t>
            </a:r>
          </a:p>
        </p:txBody>
      </p:sp>
      <p:sp>
        <p:nvSpPr>
          <p:cNvPr id="7" name="Rounded Rectangle 6"/>
          <p:cNvSpPr/>
          <p:nvPr/>
        </p:nvSpPr>
        <p:spPr>
          <a:xfrm>
            <a:off x="777240" y="2148840"/>
            <a:ext cx="3337560" cy="1051560"/>
          </a:xfrm>
          <a:prstGeom prst="roundRect">
            <a:avLst>
              <a:gd name="adj" fmla="val 12000"/>
            </a:avLst>
          </a:prstGeom>
          <a:solidFill>
            <a:srgbClr val="142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331720"/>
            <a:ext cx="3063240" cy="256032"/>
          </a:xfrm>
          <a:prstGeom prst="rect">
            <a:avLst/>
          </a:prstGeom>
          <a:noFill/>
        </p:spPr>
        <p:txBody>
          <a:bodyPr wrap="square" lIns="27432" tIns="27432" rIns="27432" bIns="27432" anchor="t">
            <a:spAutoFit/>
          </a:bodyPr>
          <a:lstStyle/>
          <a:p>
            <a:pPr algn="ctr">
              <a:spcAft>
                <a:spcPts val="700"/>
              </a:spcAft>
              <a:defRPr sz="1200" b="1">
                <a:solidFill>
                  <a:srgbClr val="BED2E4"/>
                </a:solidFill>
                <a:latin typeface="Aptos"/>
              </a:defRPr>
            </a:pPr>
            <a:r>
              <a:t>TRAIN AUC</a:t>
            </a:r>
          </a:p>
        </p:txBody>
      </p:sp>
      <p:sp>
        <p:nvSpPr>
          <p:cNvPr id="9" name="TextBox 8"/>
          <p:cNvSpPr txBox="1"/>
          <p:nvPr/>
        </p:nvSpPr>
        <p:spPr>
          <a:xfrm>
            <a:off x="914400" y="2624328"/>
            <a:ext cx="3063240" cy="384048"/>
          </a:xfrm>
          <a:prstGeom prst="rect">
            <a:avLst/>
          </a:prstGeom>
          <a:noFill/>
        </p:spPr>
        <p:txBody>
          <a:bodyPr wrap="square" lIns="27432" tIns="27432" rIns="27432" bIns="27432" anchor="t">
            <a:spAutoFit/>
          </a:bodyPr>
          <a:lstStyle/>
          <a:p>
            <a:pPr algn="ctr">
              <a:spcAft>
                <a:spcPts val="700"/>
              </a:spcAft>
              <a:defRPr sz="2600" b="1">
                <a:solidFill>
                  <a:srgbClr val="FFFFFF"/>
                </a:solidFill>
                <a:latin typeface="Aptos"/>
              </a:defRPr>
            </a:pPr>
            <a:r>
              <a:t>0.695</a:t>
            </a:r>
          </a:p>
        </p:txBody>
      </p:sp>
      <p:sp>
        <p:nvSpPr>
          <p:cNvPr id="10" name="Rounded Rectangle 9"/>
          <p:cNvSpPr/>
          <p:nvPr/>
        </p:nvSpPr>
        <p:spPr>
          <a:xfrm>
            <a:off x="777240" y="3429000"/>
            <a:ext cx="3337560" cy="1051560"/>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611880"/>
            <a:ext cx="3063240" cy="256032"/>
          </a:xfrm>
          <a:prstGeom prst="rect">
            <a:avLst/>
          </a:prstGeom>
          <a:noFill/>
        </p:spPr>
        <p:txBody>
          <a:bodyPr wrap="square" lIns="27432" tIns="27432" rIns="27432" bIns="27432" anchor="t">
            <a:spAutoFit/>
          </a:bodyPr>
          <a:lstStyle/>
          <a:p>
            <a:pPr algn="ctr">
              <a:spcAft>
                <a:spcPts val="700"/>
              </a:spcAft>
              <a:defRPr sz="1200" b="1">
                <a:solidFill>
                  <a:srgbClr val="FFFFFF"/>
                </a:solidFill>
                <a:latin typeface="Aptos"/>
              </a:defRPr>
            </a:pPr>
            <a:r>
              <a:t>TEST AUC</a:t>
            </a:r>
          </a:p>
        </p:txBody>
      </p:sp>
      <p:sp>
        <p:nvSpPr>
          <p:cNvPr id="12" name="TextBox 11"/>
          <p:cNvSpPr txBox="1"/>
          <p:nvPr/>
        </p:nvSpPr>
        <p:spPr>
          <a:xfrm>
            <a:off x="914400" y="3904487"/>
            <a:ext cx="3063240" cy="384048"/>
          </a:xfrm>
          <a:prstGeom prst="rect">
            <a:avLst/>
          </a:prstGeom>
          <a:noFill/>
        </p:spPr>
        <p:txBody>
          <a:bodyPr wrap="square" lIns="27432" tIns="27432" rIns="27432" bIns="27432" anchor="t">
            <a:spAutoFit/>
          </a:bodyPr>
          <a:lstStyle/>
          <a:p>
            <a:pPr algn="ctr">
              <a:spcAft>
                <a:spcPts val="700"/>
              </a:spcAft>
              <a:defRPr sz="2600" b="1">
                <a:solidFill>
                  <a:srgbClr val="FFFFFF"/>
                </a:solidFill>
                <a:latin typeface="Aptos"/>
              </a:defRPr>
            </a:pPr>
            <a:r>
              <a:t>0.692</a:t>
            </a:r>
          </a:p>
        </p:txBody>
      </p:sp>
      <p:pic>
        <p:nvPicPr>
          <p:cNvPr id="13" name="Picture 12" descr="image.png"/>
          <p:cNvPicPr>
            <a:picLocks noChangeAspect="1"/>
          </p:cNvPicPr>
          <p:nvPr/>
        </p:nvPicPr>
        <p:blipFill>
          <a:blip r:embed="rId3"/>
          <a:stretch>
            <a:fillRect/>
          </a:stretch>
        </p:blipFill>
        <p:spPr>
          <a:xfrm>
            <a:off x="4434840" y="1803824"/>
            <a:ext cx="6995160" cy="3478951"/>
          </a:xfrm>
          <a:prstGeom prst="rect">
            <a:avLst/>
          </a:prstGeom>
        </p:spPr>
      </p:pic>
      <p:sp>
        <p:nvSpPr>
          <p:cNvPr id="14" name="TextBox 13"/>
          <p:cNvSpPr txBox="1"/>
          <p:nvPr/>
        </p:nvSpPr>
        <p:spPr>
          <a:xfrm>
            <a:off x="777240" y="4983480"/>
            <a:ext cx="3383280" cy="777240"/>
          </a:xfrm>
          <a:prstGeom prst="rect">
            <a:avLst/>
          </a:prstGeom>
          <a:noFill/>
        </p:spPr>
        <p:txBody>
          <a:bodyPr wrap="square" lIns="27432" tIns="27432" rIns="27432" bIns="27432" anchor="t">
            <a:spAutoFit/>
          </a:bodyPr>
          <a:lstStyle/>
          <a:p>
            <a:pPr algn="l">
              <a:spcAft>
                <a:spcPts val="700"/>
              </a:spcAft>
              <a:defRPr sz="1400" b="0">
                <a:solidFill>
                  <a:srgbClr val="283343"/>
                </a:solidFill>
                <a:latin typeface="Aptos"/>
              </a:defRPr>
            </a:pPr>
            <a:r>
              <a:t>Similar train/test AUC suggests little apparent performance gap; AUC around 0.69 indicates modest discrimination.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27080" cy="594360"/>
          </a:xfrm>
          <a:prstGeom prst="rect">
            <a:avLst/>
          </a:prstGeom>
          <a:noFill/>
        </p:spPr>
        <p:txBody>
          <a:bodyPr wrap="square" lIns="27432" tIns="27432" rIns="27432" bIns="27432" anchor="t">
            <a:spAutoFit/>
          </a:bodyPr>
          <a:lstStyle/>
          <a:p>
            <a:pPr algn="l">
              <a:spcAft>
                <a:spcPts val="700"/>
              </a:spcAft>
              <a:defRPr sz="2900" b="1">
                <a:solidFill>
                  <a:srgbClr val="14223B"/>
                </a:solidFill>
                <a:latin typeface="Aptos"/>
              </a:defRPr>
            </a:pPr>
            <a:r>
              <a:t>Confusion matrix</a:t>
            </a:r>
          </a:p>
        </p:txBody>
      </p:sp>
      <p:sp>
        <p:nvSpPr>
          <p:cNvPr id="4" name="TextBox 3"/>
          <p:cNvSpPr txBox="1"/>
          <p:nvPr/>
        </p:nvSpPr>
        <p:spPr>
          <a:xfrm>
            <a:off x="640080" y="6510528"/>
            <a:ext cx="8046720" cy="182880"/>
          </a:xfrm>
          <a:prstGeom prst="rect">
            <a:avLst/>
          </a:prstGeom>
          <a:noFill/>
        </p:spPr>
        <p:txBody>
          <a:bodyPr wrap="square" lIns="27432" tIns="27432" rIns="27432" bIns="27432" anchor="t">
            <a:spAutoFit/>
          </a:bodyPr>
          <a:lstStyle/>
          <a:p>
            <a:pPr algn="l">
              <a:spcAft>
                <a:spcPts val="700"/>
              </a:spcAft>
              <a:defRPr sz="900" b="1">
                <a:solidFill>
                  <a:srgbClr val="647182"/>
                </a:solidFill>
                <a:latin typeface="Aptos"/>
              </a:defRPr>
            </a:pPr>
            <a:r>
              <a:t>11  |  PERFORMANCE</a:t>
            </a:r>
          </a:p>
        </p:txBody>
      </p:sp>
      <p:sp>
        <p:nvSpPr>
          <p:cNvPr id="5" name="TextBox 4"/>
          <p:cNvSpPr txBox="1"/>
          <p:nvPr/>
        </p:nvSpPr>
        <p:spPr>
          <a:xfrm>
            <a:off x="11109960" y="6473952"/>
            <a:ext cx="438912" cy="219456"/>
          </a:xfrm>
          <a:prstGeom prst="rect">
            <a:avLst/>
          </a:prstGeom>
          <a:noFill/>
        </p:spPr>
        <p:txBody>
          <a:bodyPr wrap="square" lIns="27432" tIns="27432" rIns="27432" bIns="27432" anchor="t">
            <a:spAutoFit/>
          </a:bodyPr>
          <a:lstStyle/>
          <a:p>
            <a:pPr algn="r">
              <a:spcAft>
                <a:spcPts val="700"/>
              </a:spcAft>
              <a:defRPr sz="900" b="0">
                <a:solidFill>
                  <a:srgbClr val="647182"/>
                </a:solidFill>
                <a:latin typeface="Aptos"/>
              </a:defRPr>
            </a:pPr>
            <a:r>
              <a:t>12</a:t>
            </a:r>
          </a:p>
        </p:txBody>
      </p:sp>
      <p:sp>
        <p:nvSpPr>
          <p:cNvPr id="6" name="TextBox 5"/>
          <p:cNvSpPr txBox="1"/>
          <p:nvPr/>
        </p:nvSpPr>
        <p:spPr>
          <a:xfrm>
            <a:off x="731520" y="1234440"/>
            <a:ext cx="10698480" cy="502920"/>
          </a:xfrm>
          <a:prstGeom prst="rect">
            <a:avLst/>
          </a:prstGeom>
          <a:noFill/>
        </p:spPr>
        <p:txBody>
          <a:bodyPr wrap="square" lIns="27432" tIns="27432" rIns="27432" bIns="27432" anchor="t">
            <a:spAutoFit/>
          </a:bodyPr>
          <a:lstStyle/>
          <a:p>
            <a:pPr algn="l">
              <a:spcAft>
                <a:spcPts val="700"/>
              </a:spcAft>
              <a:defRPr sz="1900" b="0">
                <a:solidFill>
                  <a:srgbClr val="283343"/>
                </a:solidFill>
                <a:latin typeface="Aptos"/>
              </a:defRPr>
            </a:pPr>
            <a:r>
              <a:t>At the selected classification threshold, compare predicted classes with actual outcomes.</a:t>
            </a:r>
          </a:p>
        </p:txBody>
      </p:sp>
      <p:sp>
        <p:nvSpPr>
          <p:cNvPr id="7" name="TextBox 6"/>
          <p:cNvSpPr txBox="1"/>
          <p:nvPr/>
        </p:nvSpPr>
        <p:spPr>
          <a:xfrm>
            <a:off x="777240" y="5806440"/>
            <a:ext cx="10515600" cy="347472"/>
          </a:xfrm>
          <a:prstGeom prst="rect">
            <a:avLst/>
          </a:prstGeom>
          <a:noFill/>
        </p:spPr>
        <p:txBody>
          <a:bodyPr wrap="square" lIns="27432" tIns="27432" rIns="27432" bIns="27432" anchor="t">
            <a:spAutoFit/>
          </a:bodyPr>
          <a:lstStyle/>
          <a:p>
            <a:pPr algn="l">
              <a:spcAft>
                <a:spcPts val="700"/>
              </a:spcAft>
              <a:defRPr sz="1400" b="0">
                <a:solidFill>
                  <a:srgbClr val="647182"/>
                </a:solidFill>
                <a:latin typeface="Aptos"/>
              </a:defRPr>
            </a:pPr>
            <a:r>
              <a:t>The matrix depends on the chosen threshold and the class balance in the test set.</a:t>
            </a:r>
          </a:p>
        </p:txBody>
      </p:sp>
      <p:pic>
        <p:nvPicPr>
          <p:cNvPr id="9" name="Picture 8">
            <a:extLst>
              <a:ext uri="{FF2B5EF4-FFF2-40B4-BE49-F238E27FC236}">
                <a16:creationId xmlns:a16="http://schemas.microsoft.com/office/drawing/2014/main" id="{FCDECD0D-F41E-1543-A5FB-7EC3DB28D4AE}"/>
              </a:ext>
            </a:extLst>
          </p:cNvPr>
          <p:cNvPicPr>
            <a:picLocks noChangeAspect="1"/>
          </p:cNvPicPr>
          <p:nvPr/>
        </p:nvPicPr>
        <p:blipFill>
          <a:blip r:embed="rId3"/>
          <a:stretch>
            <a:fillRect/>
          </a:stretch>
        </p:blipFill>
        <p:spPr>
          <a:xfrm>
            <a:off x="2583863" y="1737360"/>
            <a:ext cx="5493337" cy="395631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18872"/>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27080" cy="594360"/>
          </a:xfrm>
          <a:prstGeom prst="rect">
            <a:avLst/>
          </a:prstGeom>
          <a:noFill/>
        </p:spPr>
        <p:txBody>
          <a:bodyPr wrap="square" lIns="27432" tIns="27432" rIns="27432" bIns="27432" anchor="t">
            <a:spAutoFit/>
          </a:bodyPr>
          <a:lstStyle/>
          <a:p>
            <a:pPr algn="l">
              <a:spcAft>
                <a:spcPts val="700"/>
              </a:spcAft>
              <a:defRPr sz="2900" b="1">
                <a:solidFill>
                  <a:srgbClr val="14223B"/>
                </a:solidFill>
                <a:latin typeface="Aptos"/>
              </a:defRPr>
            </a:pPr>
            <a:r>
              <a:t>Performance metrics</a:t>
            </a:r>
          </a:p>
        </p:txBody>
      </p:sp>
      <p:sp>
        <p:nvSpPr>
          <p:cNvPr id="4" name="TextBox 3"/>
          <p:cNvSpPr txBox="1"/>
          <p:nvPr/>
        </p:nvSpPr>
        <p:spPr>
          <a:xfrm>
            <a:off x="640080" y="6510528"/>
            <a:ext cx="8046720" cy="182880"/>
          </a:xfrm>
          <a:prstGeom prst="rect">
            <a:avLst/>
          </a:prstGeom>
          <a:noFill/>
        </p:spPr>
        <p:txBody>
          <a:bodyPr wrap="square" lIns="27432" tIns="27432" rIns="27432" bIns="27432" anchor="t">
            <a:spAutoFit/>
          </a:bodyPr>
          <a:lstStyle/>
          <a:p>
            <a:pPr algn="l">
              <a:spcAft>
                <a:spcPts val="700"/>
              </a:spcAft>
              <a:defRPr sz="900" b="1">
                <a:solidFill>
                  <a:srgbClr val="647182"/>
                </a:solidFill>
                <a:latin typeface="Aptos"/>
              </a:defRPr>
            </a:pPr>
            <a:r>
              <a:t>12  |  PERFORMANCE</a:t>
            </a:r>
          </a:p>
        </p:txBody>
      </p:sp>
      <p:sp>
        <p:nvSpPr>
          <p:cNvPr id="5" name="TextBox 4"/>
          <p:cNvSpPr txBox="1"/>
          <p:nvPr/>
        </p:nvSpPr>
        <p:spPr>
          <a:xfrm>
            <a:off x="11109960" y="6473952"/>
            <a:ext cx="438912" cy="219456"/>
          </a:xfrm>
          <a:prstGeom prst="rect">
            <a:avLst/>
          </a:prstGeom>
          <a:noFill/>
        </p:spPr>
        <p:txBody>
          <a:bodyPr wrap="square" lIns="27432" tIns="27432" rIns="27432" bIns="27432" anchor="t">
            <a:spAutoFit/>
          </a:bodyPr>
          <a:lstStyle/>
          <a:p>
            <a:pPr algn="r">
              <a:spcAft>
                <a:spcPts val="700"/>
              </a:spcAft>
              <a:defRPr sz="900" b="0">
                <a:solidFill>
                  <a:srgbClr val="647182"/>
                </a:solidFill>
                <a:latin typeface="Aptos"/>
              </a:defRPr>
            </a:pPr>
            <a:r>
              <a:t>13</a:t>
            </a:r>
          </a:p>
        </p:txBody>
      </p:sp>
      <p:sp>
        <p:nvSpPr>
          <p:cNvPr id="6" name="Rounded Rectangle 5"/>
          <p:cNvSpPr/>
          <p:nvPr/>
        </p:nvSpPr>
        <p:spPr>
          <a:xfrm>
            <a:off x="777240" y="1417320"/>
            <a:ext cx="2788920" cy="658368"/>
          </a:xfrm>
          <a:prstGeom prst="roundRect">
            <a:avLst>
              <a:gd name="adj" fmla="val 12000"/>
            </a:avLst>
          </a:prstGeom>
          <a:solidFill>
            <a:srgbClr val="142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1591056"/>
            <a:ext cx="2651760" cy="274320"/>
          </a:xfrm>
          <a:prstGeom prst="rect">
            <a:avLst/>
          </a:prstGeom>
          <a:noFill/>
        </p:spPr>
        <p:txBody>
          <a:bodyPr wrap="square" lIns="27432" tIns="27432" rIns="27432" bIns="27432" anchor="t">
            <a:spAutoFit/>
          </a:bodyPr>
          <a:lstStyle/>
          <a:p>
            <a:pPr algn="l">
              <a:spcAft>
                <a:spcPts val="700"/>
              </a:spcAft>
              <a:defRPr sz="1400" b="1">
                <a:solidFill>
                  <a:srgbClr val="FFFFFF"/>
                </a:solidFill>
                <a:latin typeface="Aptos"/>
              </a:defRPr>
            </a:pPr>
            <a:r>
              <a:t>Metric</a:t>
            </a:r>
          </a:p>
        </p:txBody>
      </p:sp>
      <p:sp>
        <p:nvSpPr>
          <p:cNvPr id="8" name="Rounded Rectangle 7"/>
          <p:cNvSpPr/>
          <p:nvPr/>
        </p:nvSpPr>
        <p:spPr>
          <a:xfrm>
            <a:off x="3611880" y="1417320"/>
            <a:ext cx="1874520" cy="658368"/>
          </a:xfrm>
          <a:prstGeom prst="roundRect">
            <a:avLst>
              <a:gd name="adj" fmla="val 12000"/>
            </a:avLst>
          </a:prstGeom>
          <a:solidFill>
            <a:srgbClr val="142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5032" y="1591056"/>
            <a:ext cx="1737360" cy="274320"/>
          </a:xfrm>
          <a:prstGeom prst="rect">
            <a:avLst/>
          </a:prstGeom>
          <a:noFill/>
        </p:spPr>
        <p:txBody>
          <a:bodyPr wrap="square" lIns="27432" tIns="27432" rIns="27432" bIns="27432" anchor="t">
            <a:spAutoFit/>
          </a:bodyPr>
          <a:lstStyle/>
          <a:p>
            <a:pPr algn="ctr">
              <a:spcAft>
                <a:spcPts val="700"/>
              </a:spcAft>
              <a:defRPr sz="1400" b="1">
                <a:solidFill>
                  <a:srgbClr val="FFFFFF"/>
                </a:solidFill>
                <a:latin typeface="Aptos"/>
              </a:defRPr>
            </a:pPr>
            <a:r>
              <a:t>Train</a:t>
            </a:r>
          </a:p>
        </p:txBody>
      </p:sp>
      <p:sp>
        <p:nvSpPr>
          <p:cNvPr id="10" name="Rounded Rectangle 9"/>
          <p:cNvSpPr/>
          <p:nvPr/>
        </p:nvSpPr>
        <p:spPr>
          <a:xfrm>
            <a:off x="5532120" y="1417320"/>
            <a:ext cx="1874520" cy="658368"/>
          </a:xfrm>
          <a:prstGeom prst="roundRect">
            <a:avLst>
              <a:gd name="adj" fmla="val 12000"/>
            </a:avLst>
          </a:prstGeom>
          <a:solidFill>
            <a:srgbClr val="142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05272" y="1591056"/>
            <a:ext cx="1737360" cy="274320"/>
          </a:xfrm>
          <a:prstGeom prst="rect">
            <a:avLst/>
          </a:prstGeom>
          <a:noFill/>
        </p:spPr>
        <p:txBody>
          <a:bodyPr wrap="square" lIns="27432" tIns="27432" rIns="27432" bIns="27432" anchor="t">
            <a:spAutoFit/>
          </a:bodyPr>
          <a:lstStyle/>
          <a:p>
            <a:pPr algn="ctr">
              <a:spcAft>
                <a:spcPts val="700"/>
              </a:spcAft>
              <a:defRPr sz="1400" b="1">
                <a:solidFill>
                  <a:srgbClr val="FFFFFF"/>
                </a:solidFill>
                <a:latin typeface="Aptos"/>
              </a:defRPr>
            </a:pPr>
            <a:r>
              <a:t>Test</a:t>
            </a:r>
          </a:p>
        </p:txBody>
      </p:sp>
      <p:sp>
        <p:nvSpPr>
          <p:cNvPr id="12" name="Rounded Rectangle 11"/>
          <p:cNvSpPr/>
          <p:nvPr/>
        </p:nvSpPr>
        <p:spPr>
          <a:xfrm>
            <a:off x="7452360" y="1417320"/>
            <a:ext cx="3886200" cy="658368"/>
          </a:xfrm>
          <a:prstGeom prst="roundRect">
            <a:avLst>
              <a:gd name="adj" fmla="val 12000"/>
            </a:avLst>
          </a:prstGeom>
          <a:solidFill>
            <a:srgbClr val="142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25512" y="1591056"/>
            <a:ext cx="3749039" cy="274320"/>
          </a:xfrm>
          <a:prstGeom prst="rect">
            <a:avLst/>
          </a:prstGeom>
          <a:noFill/>
        </p:spPr>
        <p:txBody>
          <a:bodyPr wrap="square" lIns="27432" tIns="27432" rIns="27432" bIns="27432" anchor="t">
            <a:spAutoFit/>
          </a:bodyPr>
          <a:lstStyle/>
          <a:p>
            <a:pPr algn="l">
              <a:spcAft>
                <a:spcPts val="700"/>
              </a:spcAft>
              <a:defRPr sz="1400" b="1">
                <a:solidFill>
                  <a:srgbClr val="FFFFFF"/>
                </a:solidFill>
                <a:latin typeface="Aptos"/>
              </a:defRPr>
            </a:pPr>
            <a:r>
              <a:t>What it tells us</a:t>
            </a:r>
          </a:p>
        </p:txBody>
      </p:sp>
      <p:sp>
        <p:nvSpPr>
          <p:cNvPr id="14" name="Rounded Rectangle 13"/>
          <p:cNvSpPr/>
          <p:nvPr/>
        </p:nvSpPr>
        <p:spPr>
          <a:xfrm>
            <a:off x="777240" y="2075688"/>
            <a:ext cx="2788920" cy="6583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2240280"/>
            <a:ext cx="2651760" cy="320040"/>
          </a:xfrm>
          <a:prstGeom prst="rect">
            <a:avLst/>
          </a:prstGeom>
          <a:noFill/>
        </p:spPr>
        <p:txBody>
          <a:bodyPr wrap="square" lIns="27432" tIns="27432" rIns="27432" bIns="27432" anchor="t">
            <a:spAutoFit/>
          </a:bodyPr>
          <a:lstStyle/>
          <a:p>
            <a:pPr algn="l">
              <a:spcAft>
                <a:spcPts val="700"/>
              </a:spcAft>
              <a:defRPr sz="1400" b="1">
                <a:solidFill>
                  <a:srgbClr val="283343"/>
                </a:solidFill>
                <a:latin typeface="Aptos"/>
              </a:defRPr>
            </a:pPr>
            <a:r>
              <a:t>Accuracy</a:t>
            </a:r>
          </a:p>
        </p:txBody>
      </p:sp>
      <p:sp>
        <p:nvSpPr>
          <p:cNvPr id="16" name="Rounded Rectangle 15"/>
          <p:cNvSpPr/>
          <p:nvPr/>
        </p:nvSpPr>
        <p:spPr>
          <a:xfrm>
            <a:off x="3611880" y="2075688"/>
            <a:ext cx="1874520" cy="6583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85032" y="2240280"/>
            <a:ext cx="1737360" cy="320040"/>
          </a:xfrm>
          <a:prstGeom prst="rect">
            <a:avLst/>
          </a:prstGeom>
          <a:noFill/>
        </p:spPr>
        <p:txBody>
          <a:bodyPr wrap="square" lIns="27432" tIns="27432" rIns="27432" bIns="27432" anchor="t">
            <a:spAutoFit/>
          </a:bodyPr>
          <a:lstStyle/>
          <a:p>
            <a:pPr algn="ctr">
              <a:spcAft>
                <a:spcPts val="700"/>
              </a:spcAft>
              <a:defRPr sz="1400" b="0">
                <a:solidFill>
                  <a:srgbClr val="283343"/>
                </a:solidFill>
                <a:latin typeface="Aptos"/>
              </a:defRPr>
            </a:pPr>
            <a:r>
              <a:t>0.642</a:t>
            </a:r>
          </a:p>
        </p:txBody>
      </p:sp>
      <p:sp>
        <p:nvSpPr>
          <p:cNvPr id="18" name="Rounded Rectangle 17"/>
          <p:cNvSpPr/>
          <p:nvPr/>
        </p:nvSpPr>
        <p:spPr>
          <a:xfrm>
            <a:off x="5532120" y="2075688"/>
            <a:ext cx="1874520" cy="6583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05272" y="2240280"/>
            <a:ext cx="1737360" cy="320040"/>
          </a:xfrm>
          <a:prstGeom prst="rect">
            <a:avLst/>
          </a:prstGeom>
          <a:noFill/>
        </p:spPr>
        <p:txBody>
          <a:bodyPr wrap="square" lIns="27432" tIns="27432" rIns="27432" bIns="27432" anchor="t">
            <a:spAutoFit/>
          </a:bodyPr>
          <a:lstStyle/>
          <a:p>
            <a:pPr algn="ctr">
              <a:spcAft>
                <a:spcPts val="700"/>
              </a:spcAft>
              <a:defRPr sz="1400" b="0">
                <a:solidFill>
                  <a:srgbClr val="1D9E93"/>
                </a:solidFill>
                <a:latin typeface="Aptos"/>
              </a:defRPr>
            </a:pPr>
            <a:r>
              <a:t>0.644</a:t>
            </a:r>
          </a:p>
        </p:txBody>
      </p:sp>
      <p:sp>
        <p:nvSpPr>
          <p:cNvPr id="20" name="Rounded Rectangle 19"/>
          <p:cNvSpPr/>
          <p:nvPr/>
        </p:nvSpPr>
        <p:spPr>
          <a:xfrm>
            <a:off x="7452360" y="2075688"/>
            <a:ext cx="3886200" cy="6583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25512" y="2240280"/>
            <a:ext cx="3749039" cy="320040"/>
          </a:xfrm>
          <a:prstGeom prst="rect">
            <a:avLst/>
          </a:prstGeom>
          <a:noFill/>
        </p:spPr>
        <p:txBody>
          <a:bodyPr wrap="square" lIns="27432" tIns="27432" rIns="27432" bIns="27432" anchor="t">
            <a:spAutoFit/>
          </a:bodyPr>
          <a:lstStyle/>
          <a:p>
            <a:pPr algn="l">
              <a:spcAft>
                <a:spcPts val="700"/>
              </a:spcAft>
              <a:defRPr sz="1400" b="0">
                <a:solidFill>
                  <a:srgbClr val="283343"/>
                </a:solidFill>
                <a:latin typeface="Aptos"/>
              </a:defRPr>
            </a:pPr>
            <a:r>
              <a:t>Overall proportion classified correctly</a:t>
            </a:r>
          </a:p>
        </p:txBody>
      </p:sp>
      <p:sp>
        <p:nvSpPr>
          <p:cNvPr id="22" name="Rounded Rectangle 21"/>
          <p:cNvSpPr/>
          <p:nvPr/>
        </p:nvSpPr>
        <p:spPr>
          <a:xfrm>
            <a:off x="777240" y="2734056"/>
            <a:ext cx="2788920" cy="658368"/>
          </a:xfrm>
          <a:prstGeom prst="roundRect">
            <a:avLst>
              <a:gd name="adj" fmla="val 12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0392" y="2898648"/>
            <a:ext cx="2651760" cy="320040"/>
          </a:xfrm>
          <a:prstGeom prst="rect">
            <a:avLst/>
          </a:prstGeom>
          <a:noFill/>
        </p:spPr>
        <p:txBody>
          <a:bodyPr wrap="square" lIns="27432" tIns="27432" rIns="27432" bIns="27432" anchor="t">
            <a:spAutoFit/>
          </a:bodyPr>
          <a:lstStyle/>
          <a:p>
            <a:pPr algn="l">
              <a:spcAft>
                <a:spcPts val="700"/>
              </a:spcAft>
              <a:defRPr sz="1400" b="1">
                <a:solidFill>
                  <a:srgbClr val="283343"/>
                </a:solidFill>
                <a:latin typeface="Aptos"/>
              </a:defRPr>
            </a:pPr>
            <a:r>
              <a:t>Sensitivity</a:t>
            </a:r>
          </a:p>
        </p:txBody>
      </p:sp>
      <p:sp>
        <p:nvSpPr>
          <p:cNvPr id="24" name="Rounded Rectangle 23"/>
          <p:cNvSpPr/>
          <p:nvPr/>
        </p:nvSpPr>
        <p:spPr>
          <a:xfrm>
            <a:off x="3611880" y="2734056"/>
            <a:ext cx="1874520" cy="658368"/>
          </a:xfrm>
          <a:prstGeom prst="roundRect">
            <a:avLst>
              <a:gd name="adj" fmla="val 12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85032" y="2898648"/>
            <a:ext cx="1737360" cy="320040"/>
          </a:xfrm>
          <a:prstGeom prst="rect">
            <a:avLst/>
          </a:prstGeom>
          <a:noFill/>
        </p:spPr>
        <p:txBody>
          <a:bodyPr wrap="square" lIns="27432" tIns="27432" rIns="27432" bIns="27432" anchor="t">
            <a:spAutoFit/>
          </a:bodyPr>
          <a:lstStyle/>
          <a:p>
            <a:pPr algn="ctr">
              <a:spcAft>
                <a:spcPts val="700"/>
              </a:spcAft>
              <a:defRPr sz="1400" b="0">
                <a:solidFill>
                  <a:srgbClr val="283343"/>
                </a:solidFill>
                <a:latin typeface="Aptos"/>
              </a:defRPr>
            </a:pPr>
            <a:r>
              <a:t>0.557</a:t>
            </a:r>
          </a:p>
        </p:txBody>
      </p:sp>
      <p:sp>
        <p:nvSpPr>
          <p:cNvPr id="26" name="Rounded Rectangle 25"/>
          <p:cNvSpPr/>
          <p:nvPr/>
        </p:nvSpPr>
        <p:spPr>
          <a:xfrm>
            <a:off x="5532120" y="2734056"/>
            <a:ext cx="1874520" cy="658368"/>
          </a:xfrm>
          <a:prstGeom prst="roundRect">
            <a:avLst>
              <a:gd name="adj" fmla="val 12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605272" y="2898648"/>
            <a:ext cx="1737360" cy="320040"/>
          </a:xfrm>
          <a:prstGeom prst="rect">
            <a:avLst/>
          </a:prstGeom>
          <a:noFill/>
        </p:spPr>
        <p:txBody>
          <a:bodyPr wrap="square" lIns="27432" tIns="27432" rIns="27432" bIns="27432" anchor="t">
            <a:spAutoFit/>
          </a:bodyPr>
          <a:lstStyle/>
          <a:p>
            <a:pPr algn="ctr">
              <a:spcAft>
                <a:spcPts val="700"/>
              </a:spcAft>
              <a:defRPr sz="1400" b="0">
                <a:solidFill>
                  <a:srgbClr val="1D9E93"/>
                </a:solidFill>
                <a:latin typeface="Aptos"/>
              </a:defRPr>
            </a:pPr>
            <a:r>
              <a:t>0.554</a:t>
            </a:r>
          </a:p>
        </p:txBody>
      </p:sp>
      <p:sp>
        <p:nvSpPr>
          <p:cNvPr id="28" name="Rounded Rectangle 27"/>
          <p:cNvSpPr/>
          <p:nvPr/>
        </p:nvSpPr>
        <p:spPr>
          <a:xfrm>
            <a:off x="7452360" y="2734056"/>
            <a:ext cx="3886200" cy="658368"/>
          </a:xfrm>
          <a:prstGeom prst="roundRect">
            <a:avLst>
              <a:gd name="adj" fmla="val 12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525512" y="2898648"/>
            <a:ext cx="3749039" cy="320040"/>
          </a:xfrm>
          <a:prstGeom prst="rect">
            <a:avLst/>
          </a:prstGeom>
          <a:noFill/>
        </p:spPr>
        <p:txBody>
          <a:bodyPr wrap="square" lIns="27432" tIns="27432" rIns="27432" bIns="27432" anchor="t">
            <a:spAutoFit/>
          </a:bodyPr>
          <a:lstStyle/>
          <a:p>
            <a:pPr algn="l">
              <a:spcAft>
                <a:spcPts val="700"/>
              </a:spcAft>
              <a:defRPr sz="1400" b="0">
                <a:solidFill>
                  <a:srgbClr val="283343"/>
                </a:solidFill>
                <a:latin typeface="Aptos"/>
              </a:defRPr>
            </a:pPr>
            <a:r>
              <a:t>Share of actual defaults detected</a:t>
            </a:r>
          </a:p>
        </p:txBody>
      </p:sp>
      <p:sp>
        <p:nvSpPr>
          <p:cNvPr id="30" name="Rounded Rectangle 29"/>
          <p:cNvSpPr/>
          <p:nvPr/>
        </p:nvSpPr>
        <p:spPr>
          <a:xfrm>
            <a:off x="777240" y="3392424"/>
            <a:ext cx="2788920" cy="6583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50392" y="3557016"/>
            <a:ext cx="2651760" cy="320040"/>
          </a:xfrm>
          <a:prstGeom prst="rect">
            <a:avLst/>
          </a:prstGeom>
          <a:noFill/>
        </p:spPr>
        <p:txBody>
          <a:bodyPr wrap="square" lIns="27432" tIns="27432" rIns="27432" bIns="27432" anchor="t">
            <a:spAutoFit/>
          </a:bodyPr>
          <a:lstStyle/>
          <a:p>
            <a:pPr algn="l">
              <a:spcAft>
                <a:spcPts val="700"/>
              </a:spcAft>
              <a:defRPr sz="1400" b="1">
                <a:solidFill>
                  <a:srgbClr val="283343"/>
                </a:solidFill>
                <a:latin typeface="Aptos"/>
              </a:defRPr>
            </a:pPr>
            <a:r>
              <a:t>Specificity</a:t>
            </a:r>
          </a:p>
        </p:txBody>
      </p:sp>
      <p:sp>
        <p:nvSpPr>
          <p:cNvPr id="32" name="Rounded Rectangle 31"/>
          <p:cNvSpPr/>
          <p:nvPr/>
        </p:nvSpPr>
        <p:spPr>
          <a:xfrm>
            <a:off x="3611880" y="3392424"/>
            <a:ext cx="1874520" cy="6583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85032" y="3557016"/>
            <a:ext cx="1737360" cy="320040"/>
          </a:xfrm>
          <a:prstGeom prst="rect">
            <a:avLst/>
          </a:prstGeom>
          <a:noFill/>
        </p:spPr>
        <p:txBody>
          <a:bodyPr wrap="square" lIns="27432" tIns="27432" rIns="27432" bIns="27432" anchor="t">
            <a:spAutoFit/>
          </a:bodyPr>
          <a:lstStyle/>
          <a:p>
            <a:pPr algn="ctr">
              <a:spcAft>
                <a:spcPts val="700"/>
              </a:spcAft>
              <a:defRPr sz="1400" b="0">
                <a:solidFill>
                  <a:srgbClr val="283343"/>
                </a:solidFill>
                <a:latin typeface="Aptos"/>
              </a:defRPr>
            </a:pPr>
            <a:r>
              <a:t>0.728</a:t>
            </a:r>
          </a:p>
        </p:txBody>
      </p:sp>
      <p:sp>
        <p:nvSpPr>
          <p:cNvPr id="34" name="Rounded Rectangle 33"/>
          <p:cNvSpPr/>
          <p:nvPr/>
        </p:nvSpPr>
        <p:spPr>
          <a:xfrm>
            <a:off x="5532120" y="3392424"/>
            <a:ext cx="1874520" cy="6583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05272" y="3557016"/>
            <a:ext cx="1737360" cy="320040"/>
          </a:xfrm>
          <a:prstGeom prst="rect">
            <a:avLst/>
          </a:prstGeom>
          <a:noFill/>
        </p:spPr>
        <p:txBody>
          <a:bodyPr wrap="square" lIns="27432" tIns="27432" rIns="27432" bIns="27432" anchor="t">
            <a:spAutoFit/>
          </a:bodyPr>
          <a:lstStyle/>
          <a:p>
            <a:pPr algn="ctr">
              <a:spcAft>
                <a:spcPts val="700"/>
              </a:spcAft>
              <a:defRPr sz="1400" b="0">
                <a:solidFill>
                  <a:srgbClr val="1D9E93"/>
                </a:solidFill>
                <a:latin typeface="Aptos"/>
              </a:defRPr>
            </a:pPr>
            <a:r>
              <a:t>0.733</a:t>
            </a:r>
          </a:p>
        </p:txBody>
      </p:sp>
      <p:sp>
        <p:nvSpPr>
          <p:cNvPr id="36" name="Rounded Rectangle 35"/>
          <p:cNvSpPr/>
          <p:nvPr/>
        </p:nvSpPr>
        <p:spPr>
          <a:xfrm>
            <a:off x="7452360" y="3392424"/>
            <a:ext cx="3886200" cy="6583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525512" y="3557016"/>
            <a:ext cx="3749039" cy="320040"/>
          </a:xfrm>
          <a:prstGeom prst="rect">
            <a:avLst/>
          </a:prstGeom>
          <a:noFill/>
        </p:spPr>
        <p:txBody>
          <a:bodyPr wrap="square" lIns="27432" tIns="27432" rIns="27432" bIns="27432" anchor="t">
            <a:spAutoFit/>
          </a:bodyPr>
          <a:lstStyle/>
          <a:p>
            <a:pPr algn="l">
              <a:spcAft>
                <a:spcPts val="700"/>
              </a:spcAft>
              <a:defRPr sz="1400" b="0">
                <a:solidFill>
                  <a:srgbClr val="283343"/>
                </a:solidFill>
                <a:latin typeface="Aptos"/>
              </a:defRPr>
            </a:pPr>
            <a:r>
              <a:t>Share of non-defaults identified</a:t>
            </a:r>
          </a:p>
        </p:txBody>
      </p:sp>
      <p:sp>
        <p:nvSpPr>
          <p:cNvPr id="38" name="Rounded Rectangle 37"/>
          <p:cNvSpPr/>
          <p:nvPr/>
        </p:nvSpPr>
        <p:spPr>
          <a:xfrm>
            <a:off x="777240" y="4050791"/>
            <a:ext cx="2788920" cy="658368"/>
          </a:xfrm>
          <a:prstGeom prst="roundRect">
            <a:avLst>
              <a:gd name="adj" fmla="val 12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50392" y="4215383"/>
            <a:ext cx="2651760" cy="320040"/>
          </a:xfrm>
          <a:prstGeom prst="rect">
            <a:avLst/>
          </a:prstGeom>
          <a:noFill/>
        </p:spPr>
        <p:txBody>
          <a:bodyPr wrap="square" lIns="27432" tIns="27432" rIns="27432" bIns="27432" anchor="t">
            <a:spAutoFit/>
          </a:bodyPr>
          <a:lstStyle/>
          <a:p>
            <a:pPr algn="l">
              <a:spcAft>
                <a:spcPts val="700"/>
              </a:spcAft>
              <a:defRPr sz="1400" b="1">
                <a:solidFill>
                  <a:srgbClr val="283343"/>
                </a:solidFill>
                <a:latin typeface="Aptos"/>
              </a:defRPr>
            </a:pPr>
            <a:r>
              <a:t>Precision</a:t>
            </a:r>
          </a:p>
        </p:txBody>
      </p:sp>
      <p:sp>
        <p:nvSpPr>
          <p:cNvPr id="40" name="Rounded Rectangle 39"/>
          <p:cNvSpPr/>
          <p:nvPr/>
        </p:nvSpPr>
        <p:spPr>
          <a:xfrm>
            <a:off x="3611880" y="4050791"/>
            <a:ext cx="1874520" cy="658368"/>
          </a:xfrm>
          <a:prstGeom prst="roundRect">
            <a:avLst>
              <a:gd name="adj" fmla="val 12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85032" y="4215383"/>
            <a:ext cx="1737360" cy="320040"/>
          </a:xfrm>
          <a:prstGeom prst="rect">
            <a:avLst/>
          </a:prstGeom>
          <a:noFill/>
        </p:spPr>
        <p:txBody>
          <a:bodyPr wrap="square" lIns="27432" tIns="27432" rIns="27432" bIns="27432" anchor="t">
            <a:spAutoFit/>
          </a:bodyPr>
          <a:lstStyle/>
          <a:p>
            <a:pPr algn="ctr">
              <a:spcAft>
                <a:spcPts val="700"/>
              </a:spcAft>
              <a:defRPr sz="1400" b="0">
                <a:solidFill>
                  <a:srgbClr val="283343"/>
                </a:solidFill>
                <a:latin typeface="Aptos"/>
              </a:defRPr>
            </a:pPr>
            <a:r>
              <a:t>0.675</a:t>
            </a:r>
          </a:p>
        </p:txBody>
      </p:sp>
      <p:sp>
        <p:nvSpPr>
          <p:cNvPr id="42" name="Rounded Rectangle 41"/>
          <p:cNvSpPr/>
          <p:nvPr/>
        </p:nvSpPr>
        <p:spPr>
          <a:xfrm>
            <a:off x="5532120" y="4050791"/>
            <a:ext cx="1874520" cy="658368"/>
          </a:xfrm>
          <a:prstGeom prst="roundRect">
            <a:avLst>
              <a:gd name="adj" fmla="val 12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605272" y="4215383"/>
            <a:ext cx="1737360" cy="320040"/>
          </a:xfrm>
          <a:prstGeom prst="rect">
            <a:avLst/>
          </a:prstGeom>
          <a:noFill/>
        </p:spPr>
        <p:txBody>
          <a:bodyPr wrap="square" lIns="27432" tIns="27432" rIns="27432" bIns="27432" anchor="t">
            <a:spAutoFit/>
          </a:bodyPr>
          <a:lstStyle/>
          <a:p>
            <a:pPr algn="ctr">
              <a:spcAft>
                <a:spcPts val="700"/>
              </a:spcAft>
              <a:defRPr sz="1400" b="0">
                <a:solidFill>
                  <a:srgbClr val="1D9E93"/>
                </a:solidFill>
                <a:latin typeface="Aptos"/>
              </a:defRPr>
            </a:pPr>
            <a:r>
              <a:t>0.676</a:t>
            </a:r>
          </a:p>
        </p:txBody>
      </p:sp>
      <p:sp>
        <p:nvSpPr>
          <p:cNvPr id="44" name="Rounded Rectangle 43"/>
          <p:cNvSpPr/>
          <p:nvPr/>
        </p:nvSpPr>
        <p:spPr>
          <a:xfrm>
            <a:off x="7452360" y="4050791"/>
            <a:ext cx="3886200" cy="658368"/>
          </a:xfrm>
          <a:prstGeom prst="roundRect">
            <a:avLst>
              <a:gd name="adj" fmla="val 12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525512" y="4215383"/>
            <a:ext cx="3749039" cy="320040"/>
          </a:xfrm>
          <a:prstGeom prst="rect">
            <a:avLst/>
          </a:prstGeom>
          <a:noFill/>
        </p:spPr>
        <p:txBody>
          <a:bodyPr wrap="square" lIns="27432" tIns="27432" rIns="27432" bIns="27432" anchor="t">
            <a:spAutoFit/>
          </a:bodyPr>
          <a:lstStyle/>
          <a:p>
            <a:pPr algn="l">
              <a:spcAft>
                <a:spcPts val="700"/>
              </a:spcAft>
              <a:defRPr sz="1400" b="0">
                <a:solidFill>
                  <a:srgbClr val="283343"/>
                </a:solidFill>
                <a:latin typeface="Aptos"/>
              </a:defRPr>
            </a:pPr>
            <a:r>
              <a:t>Share of predicted defaults that were defaults</a:t>
            </a:r>
          </a:p>
        </p:txBody>
      </p:sp>
      <p:sp>
        <p:nvSpPr>
          <p:cNvPr id="46" name="Rounded Rectangle 45"/>
          <p:cNvSpPr/>
          <p:nvPr/>
        </p:nvSpPr>
        <p:spPr>
          <a:xfrm>
            <a:off x="777240" y="4709159"/>
            <a:ext cx="2788920" cy="6583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50392" y="4873751"/>
            <a:ext cx="2651760" cy="320040"/>
          </a:xfrm>
          <a:prstGeom prst="rect">
            <a:avLst/>
          </a:prstGeom>
          <a:noFill/>
        </p:spPr>
        <p:txBody>
          <a:bodyPr wrap="square" lIns="27432" tIns="27432" rIns="27432" bIns="27432" anchor="t">
            <a:spAutoFit/>
          </a:bodyPr>
          <a:lstStyle/>
          <a:p>
            <a:pPr algn="l">
              <a:spcAft>
                <a:spcPts val="700"/>
              </a:spcAft>
              <a:defRPr sz="1400" b="1">
                <a:solidFill>
                  <a:srgbClr val="283343"/>
                </a:solidFill>
                <a:latin typeface="Aptos"/>
              </a:defRPr>
            </a:pPr>
            <a:r>
              <a:t>F1 score</a:t>
            </a:r>
          </a:p>
        </p:txBody>
      </p:sp>
      <p:sp>
        <p:nvSpPr>
          <p:cNvPr id="48" name="Rounded Rectangle 47"/>
          <p:cNvSpPr/>
          <p:nvPr/>
        </p:nvSpPr>
        <p:spPr>
          <a:xfrm>
            <a:off x="3611880" y="4709159"/>
            <a:ext cx="1874520" cy="6583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685032" y="4873751"/>
            <a:ext cx="1737360" cy="320040"/>
          </a:xfrm>
          <a:prstGeom prst="rect">
            <a:avLst/>
          </a:prstGeom>
          <a:noFill/>
        </p:spPr>
        <p:txBody>
          <a:bodyPr wrap="square" lIns="27432" tIns="27432" rIns="27432" bIns="27432" anchor="t">
            <a:spAutoFit/>
          </a:bodyPr>
          <a:lstStyle/>
          <a:p>
            <a:pPr algn="ctr">
              <a:spcAft>
                <a:spcPts val="700"/>
              </a:spcAft>
              <a:defRPr sz="1400" b="0">
                <a:solidFill>
                  <a:srgbClr val="283343"/>
                </a:solidFill>
                <a:latin typeface="Aptos"/>
              </a:defRPr>
            </a:pPr>
            <a:r>
              <a:t>0.610</a:t>
            </a:r>
          </a:p>
        </p:txBody>
      </p:sp>
      <p:sp>
        <p:nvSpPr>
          <p:cNvPr id="50" name="Rounded Rectangle 49"/>
          <p:cNvSpPr/>
          <p:nvPr/>
        </p:nvSpPr>
        <p:spPr>
          <a:xfrm>
            <a:off x="5532120" y="4709159"/>
            <a:ext cx="1874520" cy="6583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605272" y="4873751"/>
            <a:ext cx="1737360" cy="320040"/>
          </a:xfrm>
          <a:prstGeom prst="rect">
            <a:avLst/>
          </a:prstGeom>
          <a:noFill/>
        </p:spPr>
        <p:txBody>
          <a:bodyPr wrap="square" lIns="27432" tIns="27432" rIns="27432" bIns="27432" anchor="t">
            <a:spAutoFit/>
          </a:bodyPr>
          <a:lstStyle/>
          <a:p>
            <a:pPr algn="ctr">
              <a:spcAft>
                <a:spcPts val="700"/>
              </a:spcAft>
              <a:defRPr sz="1400" b="0">
                <a:solidFill>
                  <a:srgbClr val="1D9E93"/>
                </a:solidFill>
                <a:latin typeface="Aptos"/>
              </a:defRPr>
            </a:pPr>
            <a:r>
              <a:t>0.609</a:t>
            </a:r>
          </a:p>
        </p:txBody>
      </p:sp>
      <p:sp>
        <p:nvSpPr>
          <p:cNvPr id="52" name="Rounded Rectangle 51"/>
          <p:cNvSpPr/>
          <p:nvPr/>
        </p:nvSpPr>
        <p:spPr>
          <a:xfrm>
            <a:off x="7452360" y="4709159"/>
            <a:ext cx="3886200" cy="658368"/>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525512" y="4873751"/>
            <a:ext cx="3749039" cy="320040"/>
          </a:xfrm>
          <a:prstGeom prst="rect">
            <a:avLst/>
          </a:prstGeom>
          <a:noFill/>
        </p:spPr>
        <p:txBody>
          <a:bodyPr wrap="square" lIns="27432" tIns="27432" rIns="27432" bIns="27432" anchor="t">
            <a:spAutoFit/>
          </a:bodyPr>
          <a:lstStyle/>
          <a:p>
            <a:pPr algn="l">
              <a:spcAft>
                <a:spcPts val="700"/>
              </a:spcAft>
              <a:defRPr sz="1400" b="0">
                <a:solidFill>
                  <a:srgbClr val="283343"/>
                </a:solidFill>
                <a:latin typeface="Aptos"/>
              </a:defRPr>
            </a:pPr>
            <a:r>
              <a:t>Balance of precision and sensitivity</a:t>
            </a:r>
          </a:p>
        </p:txBody>
      </p:sp>
      <p:sp>
        <p:nvSpPr>
          <p:cNvPr id="54" name="TextBox 53"/>
          <p:cNvSpPr txBox="1"/>
          <p:nvPr/>
        </p:nvSpPr>
        <p:spPr>
          <a:xfrm>
            <a:off x="822960" y="5623560"/>
            <a:ext cx="10424160" cy="457200"/>
          </a:xfrm>
          <a:prstGeom prst="rect">
            <a:avLst/>
          </a:prstGeom>
          <a:noFill/>
        </p:spPr>
        <p:txBody>
          <a:bodyPr wrap="square" lIns="27432" tIns="27432" rIns="27432" bIns="27432" anchor="t">
            <a:spAutoFit/>
          </a:bodyPr>
          <a:lstStyle/>
          <a:p>
            <a:pPr algn="l">
              <a:spcAft>
                <a:spcPts val="700"/>
              </a:spcAft>
              <a:defRPr sz="1500" b="1">
                <a:solidFill>
                  <a:srgbClr val="BE4E4E"/>
                </a:solidFill>
                <a:latin typeface="Aptos"/>
              </a:defRPr>
            </a:pPr>
            <a:r>
              <a:t>Train and test metrics are very similar. Sensitivity is relatively low, so many defaults may be missed at this threshold.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223B"/>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685800"/>
            <a:ext cx="10332720" cy="731520"/>
          </a:xfrm>
          <a:prstGeom prst="rect">
            <a:avLst/>
          </a:prstGeom>
          <a:noFill/>
        </p:spPr>
        <p:txBody>
          <a:bodyPr wrap="square" lIns="27432" tIns="27432" rIns="27432" bIns="27432" anchor="t">
            <a:spAutoFit/>
          </a:bodyPr>
          <a:lstStyle/>
          <a:p>
            <a:pPr algn="l">
              <a:spcAft>
                <a:spcPts val="700"/>
              </a:spcAft>
              <a:defRPr sz="3000" b="1">
                <a:solidFill>
                  <a:srgbClr val="FFFFFF"/>
                </a:solidFill>
                <a:latin typeface="Aptos"/>
              </a:defRPr>
            </a:pPr>
            <a:r>
              <a:t>Conclusion</a:t>
            </a:r>
          </a:p>
        </p:txBody>
      </p:sp>
      <p:sp>
        <p:nvSpPr>
          <p:cNvPr id="4" name="TextBox 3"/>
          <p:cNvSpPr txBox="1"/>
          <p:nvPr/>
        </p:nvSpPr>
        <p:spPr>
          <a:xfrm>
            <a:off x="868680" y="1691640"/>
            <a:ext cx="9966960" cy="777240"/>
          </a:xfrm>
          <a:prstGeom prst="rect">
            <a:avLst/>
          </a:prstGeom>
          <a:noFill/>
        </p:spPr>
        <p:txBody>
          <a:bodyPr wrap="square" lIns="27432" tIns="27432" rIns="27432" bIns="27432" anchor="t">
            <a:spAutoFit/>
          </a:bodyPr>
          <a:lstStyle/>
          <a:p>
            <a:pPr algn="l">
              <a:spcAft>
                <a:spcPts val="700"/>
              </a:spcAft>
              <a:defRPr sz="2300" b="1">
                <a:solidFill>
                  <a:srgbClr val="CDDDEB"/>
                </a:solidFill>
                <a:latin typeface="Aptos"/>
              </a:defRPr>
            </a:pPr>
            <a:r>
              <a:t>The model is stable across train and test data, but its predictive power is limited.</a:t>
            </a:r>
          </a:p>
        </p:txBody>
      </p:sp>
      <p:sp>
        <p:nvSpPr>
          <p:cNvPr id="5" name="Rounded Rectangle 4"/>
          <p:cNvSpPr/>
          <p:nvPr/>
        </p:nvSpPr>
        <p:spPr>
          <a:xfrm>
            <a:off x="868680" y="2926080"/>
            <a:ext cx="3200400" cy="137160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68680" y="2926080"/>
            <a:ext cx="82296" cy="1371600"/>
          </a:xfrm>
          <a:prstGeom prst="roundRect">
            <a:avLst>
              <a:gd name="adj" fmla="val 12000"/>
            </a:avLst>
          </a:prstGeom>
          <a:solidFill>
            <a:srgbClr val="1D9E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3090672"/>
            <a:ext cx="2761488" cy="347472"/>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t>WHAT WORKS</a:t>
            </a:r>
          </a:p>
        </p:txBody>
      </p:sp>
      <p:sp>
        <p:nvSpPr>
          <p:cNvPr id="8" name="TextBox 7"/>
          <p:cNvSpPr txBox="1"/>
          <p:nvPr/>
        </p:nvSpPr>
        <p:spPr>
          <a:xfrm>
            <a:off x="1097280" y="3529584"/>
            <a:ext cx="2761488" cy="658368"/>
          </a:xfrm>
          <a:prstGeom prst="rect">
            <a:avLst/>
          </a:prstGeom>
          <a:noFill/>
        </p:spPr>
        <p:txBody>
          <a:bodyPr wrap="square" lIns="27432" tIns="27432" rIns="27432" bIns="27432" anchor="t">
            <a:spAutoFit/>
          </a:bodyPr>
          <a:lstStyle/>
          <a:p>
            <a:pPr algn="l">
              <a:spcAft>
                <a:spcPts val="700"/>
              </a:spcAft>
              <a:defRPr sz="1600" b="0">
                <a:solidFill>
                  <a:srgbClr val="283343"/>
                </a:solidFill>
                <a:latin typeface="Aptos"/>
              </a:defRPr>
            </a:pPr>
            <a:r>
              <a:t>Similar train/test performance</a:t>
            </a:r>
          </a:p>
        </p:txBody>
      </p:sp>
      <p:sp>
        <p:nvSpPr>
          <p:cNvPr id="9" name="Rounded Rectangle 8"/>
          <p:cNvSpPr/>
          <p:nvPr/>
        </p:nvSpPr>
        <p:spPr>
          <a:xfrm>
            <a:off x="4480560" y="2926080"/>
            <a:ext cx="3200400" cy="137160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480560" y="2926080"/>
            <a:ext cx="82296" cy="1371600"/>
          </a:xfrm>
          <a:prstGeom prst="roundRect">
            <a:avLst>
              <a:gd name="adj" fmla="val 12000"/>
            </a:avLst>
          </a:prstGeom>
          <a:solidFill>
            <a:srgbClr val="EFB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60" y="3090672"/>
            <a:ext cx="2761488" cy="347472"/>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t>MAIN LIMITATION</a:t>
            </a:r>
          </a:p>
        </p:txBody>
      </p:sp>
      <p:sp>
        <p:nvSpPr>
          <p:cNvPr id="12" name="TextBox 11"/>
          <p:cNvSpPr txBox="1"/>
          <p:nvPr/>
        </p:nvSpPr>
        <p:spPr>
          <a:xfrm>
            <a:off x="4709160" y="3529584"/>
            <a:ext cx="2761488" cy="658368"/>
          </a:xfrm>
          <a:prstGeom prst="rect">
            <a:avLst/>
          </a:prstGeom>
          <a:noFill/>
        </p:spPr>
        <p:txBody>
          <a:bodyPr wrap="square" lIns="27432" tIns="27432" rIns="27432" bIns="27432" anchor="t">
            <a:spAutoFit/>
          </a:bodyPr>
          <a:lstStyle/>
          <a:p>
            <a:pPr algn="l">
              <a:spcAft>
                <a:spcPts val="700"/>
              </a:spcAft>
              <a:defRPr sz="1600" b="0">
                <a:solidFill>
                  <a:srgbClr val="283343"/>
                </a:solidFill>
                <a:latin typeface="Aptos"/>
              </a:defRPr>
            </a:pPr>
            <a:r>
              <a:t>AUC ≈ 0.69; sensitivity ≈ 0.55</a:t>
            </a:r>
          </a:p>
        </p:txBody>
      </p:sp>
      <p:sp>
        <p:nvSpPr>
          <p:cNvPr id="13" name="Rounded Rectangle 12"/>
          <p:cNvSpPr/>
          <p:nvPr/>
        </p:nvSpPr>
        <p:spPr>
          <a:xfrm>
            <a:off x="8092440" y="2926080"/>
            <a:ext cx="3200400" cy="1371600"/>
          </a:xfrm>
          <a:prstGeom prst="roundRect">
            <a:avLst>
              <a:gd name="adj" fmla="val 12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092440" y="2926080"/>
            <a:ext cx="82296" cy="1371600"/>
          </a:xfrm>
          <a:prstGeom prst="roundRect">
            <a:avLst>
              <a:gd name="adj" fmla="val 12000"/>
            </a:avLst>
          </a:prstGeom>
          <a:solidFill>
            <a:srgbClr val="2C6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3090672"/>
            <a:ext cx="2761488" cy="347472"/>
          </a:xfrm>
          <a:prstGeom prst="rect">
            <a:avLst/>
          </a:prstGeom>
          <a:noFill/>
        </p:spPr>
        <p:txBody>
          <a:bodyPr wrap="square" lIns="27432" tIns="27432" rIns="27432" bIns="27432" anchor="t">
            <a:spAutoFit/>
          </a:bodyPr>
          <a:lstStyle/>
          <a:p>
            <a:pPr algn="l">
              <a:spcAft>
                <a:spcPts val="700"/>
              </a:spcAft>
              <a:defRPr sz="1700" b="1">
                <a:solidFill>
                  <a:srgbClr val="14223B"/>
                </a:solidFill>
                <a:latin typeface="Aptos"/>
              </a:defRPr>
            </a:pPr>
            <a:r>
              <a:t>NEXT STEP</a:t>
            </a:r>
          </a:p>
        </p:txBody>
      </p:sp>
      <p:sp>
        <p:nvSpPr>
          <p:cNvPr id="16" name="TextBox 15"/>
          <p:cNvSpPr txBox="1"/>
          <p:nvPr/>
        </p:nvSpPr>
        <p:spPr>
          <a:xfrm>
            <a:off x="8321040" y="3529584"/>
            <a:ext cx="2761488" cy="658368"/>
          </a:xfrm>
          <a:prstGeom prst="rect">
            <a:avLst/>
          </a:prstGeom>
          <a:noFill/>
        </p:spPr>
        <p:txBody>
          <a:bodyPr wrap="square" lIns="27432" tIns="27432" rIns="27432" bIns="27432" anchor="t">
            <a:spAutoFit/>
          </a:bodyPr>
          <a:lstStyle/>
          <a:p>
            <a:pPr algn="l">
              <a:spcAft>
                <a:spcPts val="700"/>
              </a:spcAft>
              <a:defRPr sz="1600" b="0">
                <a:solidFill>
                  <a:srgbClr val="283343"/>
                </a:solidFill>
                <a:latin typeface="Aptos"/>
              </a:defRPr>
            </a:pPr>
            <a:r>
              <a:t>Compare alternative models on the same held-out data</a:t>
            </a:r>
          </a:p>
        </p:txBody>
      </p:sp>
      <p:sp>
        <p:nvSpPr>
          <p:cNvPr id="17" name="TextBox 16"/>
          <p:cNvSpPr txBox="1"/>
          <p:nvPr/>
        </p:nvSpPr>
        <p:spPr>
          <a:xfrm>
            <a:off x="868680" y="5074920"/>
            <a:ext cx="9966960" cy="685800"/>
          </a:xfrm>
          <a:prstGeom prst="rect">
            <a:avLst/>
          </a:prstGeom>
          <a:noFill/>
        </p:spPr>
        <p:txBody>
          <a:bodyPr wrap="square" lIns="27432" tIns="27432" rIns="27432" bIns="27432" anchor="t">
            <a:spAutoFit/>
          </a:bodyPr>
          <a:lstStyle/>
          <a:p>
            <a:pPr algn="l">
              <a:spcAft>
                <a:spcPts val="700"/>
              </a:spcAft>
              <a:defRPr sz="1700" b="0">
                <a:solidFill>
                  <a:srgbClr val="FFFFFF"/>
                </a:solidFill>
                <a:latin typeface="Aptos"/>
              </a:defRPr>
            </a:pPr>
            <a:r>
              <a:t>Use a consistent validation strategy, tune the decision threshold to the costs of false positives/negatives, and assess calibration before deployment.</a:t>
            </a:r>
          </a:p>
        </p:txBody>
      </p:sp>
      <p:sp>
        <p:nvSpPr>
          <p:cNvPr id="18" name="TextBox 17"/>
          <p:cNvSpPr txBox="1"/>
          <p:nvPr/>
        </p:nvSpPr>
        <p:spPr>
          <a:xfrm>
            <a:off x="868680" y="6263640"/>
            <a:ext cx="7315200" cy="228600"/>
          </a:xfrm>
          <a:prstGeom prst="rect">
            <a:avLst/>
          </a:prstGeom>
          <a:noFill/>
        </p:spPr>
        <p:txBody>
          <a:bodyPr wrap="square" lIns="27432" tIns="27432" rIns="27432" bIns="27432" anchor="t">
            <a:spAutoFit/>
          </a:bodyPr>
          <a:lstStyle/>
          <a:p>
            <a:pPr algn="l">
              <a:spcAft>
                <a:spcPts val="700"/>
              </a:spcAft>
              <a:defRPr sz="1000" b="1">
                <a:solidFill>
                  <a:srgbClr val="A0B8CD"/>
                </a:solidFill>
                <a:latin typeface="Aptos"/>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2496</TotalTime>
  <Words>1309</Words>
  <Application>Microsoft Office PowerPoint</Application>
  <PresentationFormat>Widescreen</PresentationFormat>
  <Paragraphs>247</Paragraphs>
  <Slides>15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Jaun Minnaar</cp:lastModifiedBy>
  <cp:revision>14</cp:revision>
  <dcterms:created xsi:type="dcterms:W3CDTF">2013-01-27T09:14:16Z</dcterms:created>
  <dcterms:modified xsi:type="dcterms:W3CDTF">2026-10-16T06:07:50Z</dcterms:modified>
  <cp:category/>
</cp:coreProperties>
</file>
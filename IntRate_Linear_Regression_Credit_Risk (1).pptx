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72" r:id="rId4"/>
    <p:sldId id="266" r:id="rId5"/>
    <p:sldId id="269" r:id="rId6"/>
    <p:sldId id="258" r:id="rId7"/>
    <p:sldId id="263" r:id="rId8"/>
    <p:sldId id="260" r:id="rId9"/>
    <p:sldId id="267" r:id="rId10"/>
    <p:sldId id="265" r:id="rId11"/>
    <p:sldId id="268" r:id="rId12"/>
    <p:sldId id="271" r:id="rId13"/>
    <p:sldId id="26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112B74-139D-452E-B402-BBC19F6CF8EC}" v="174" dt="2026-10-15T14:33:33.9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21" autoAdjust="0"/>
    <p:restoredTop sz="93487" autoAdjust="0"/>
  </p:normalViewPr>
  <p:slideViewPr>
    <p:cSldViewPr snapToGrid="0" snapToObjects="1">
      <p:cViewPr varScale="1">
        <p:scale>
          <a:sx n="82" d="100"/>
          <a:sy n="82" d="100"/>
        </p:scale>
        <p:origin x="710" y="72"/>
      </p:cViewPr>
      <p:guideLst>
        <p:guide orient="horz" pos="2160"/>
        <p:guide pos="2880"/>
      </p:guideLst>
    </p:cSldViewPr>
  </p:slideViewPr>
  <p:outlineViewPr>
    <p:cViewPr>
      <p:scale>
        <a:sx n="33" d="100"/>
        <a:sy n="33" d="100"/>
      </p:scale>
      <p:origin x="0" y="0"/>
    </p:cViewPr>
  </p:outlin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uis-Bosch Malan" userId="67d63ac36b593411" providerId="LiveId" clId="{70063C88-AE20-4B97-A504-785602946100}"/>
    <pc:docChg chg="undo custSel addSld delSld modSld sldOrd">
      <pc:chgData name="Louis-Bosch Malan" userId="67d63ac36b593411" providerId="LiveId" clId="{70063C88-AE20-4B97-A504-785602946100}" dt="2026-10-15T14:37:14.171" v="818" actId="1076"/>
      <pc:docMkLst>
        <pc:docMk/>
      </pc:docMkLst>
      <pc:sldChg chg="modSp mod modNotesTx">
        <pc:chgData name="Louis-Bosch Malan" userId="67d63ac36b593411" providerId="LiveId" clId="{70063C88-AE20-4B97-A504-785602946100}" dt="2026-10-15T09:05:49.440" v="378" actId="20577"/>
        <pc:sldMkLst>
          <pc:docMk/>
          <pc:sldMk cId="0" sldId="257"/>
        </pc:sldMkLst>
        <pc:spChg chg="mod">
          <ac:chgData name="Louis-Bosch Malan" userId="67d63ac36b593411" providerId="LiveId" clId="{70063C88-AE20-4B97-A504-785602946100}" dt="2026-10-09T14:07:10.436" v="20" actId="1076"/>
          <ac:spMkLst>
            <pc:docMk/>
            <pc:sldMk cId="0" sldId="257"/>
            <ac:spMk id="2" creationId="{00000000-0000-0000-0000-000000000000}"/>
          </ac:spMkLst>
        </pc:spChg>
        <pc:spChg chg="mod">
          <ac:chgData name="Louis-Bosch Malan" userId="67d63ac36b593411" providerId="LiveId" clId="{70063C88-AE20-4B97-A504-785602946100}" dt="2026-10-09T14:06:50.071" v="17" actId="20577"/>
          <ac:spMkLst>
            <pc:docMk/>
            <pc:sldMk cId="0" sldId="257"/>
            <ac:spMk id="8" creationId="{00000000-0000-0000-0000-000000000000}"/>
          </ac:spMkLst>
        </pc:spChg>
        <pc:spChg chg="mod">
          <ac:chgData name="Louis-Bosch Malan" userId="67d63ac36b593411" providerId="LiveId" clId="{70063C88-AE20-4B97-A504-785602946100}" dt="2026-10-15T08:53:36.665" v="218" actId="20577"/>
          <ac:spMkLst>
            <pc:docMk/>
            <pc:sldMk cId="0" sldId="257"/>
            <ac:spMk id="11" creationId="{00000000-0000-0000-0000-000000000000}"/>
          </ac:spMkLst>
        </pc:spChg>
      </pc:sldChg>
      <pc:sldChg chg="addSp delSp modSp mod">
        <pc:chgData name="Louis-Bosch Malan" userId="67d63ac36b593411" providerId="LiveId" clId="{70063C88-AE20-4B97-A504-785602946100}" dt="2026-10-15T14:26:14.524" v="804" actId="164"/>
        <pc:sldMkLst>
          <pc:docMk/>
          <pc:sldMk cId="0" sldId="258"/>
        </pc:sldMkLst>
        <pc:spChg chg="add del mod topLvl">
          <ac:chgData name="Louis-Bosch Malan" userId="67d63ac36b593411" providerId="LiveId" clId="{70063C88-AE20-4B97-A504-785602946100}" dt="2026-10-15T14:25:55.189" v="800" actId="478"/>
          <ac:spMkLst>
            <pc:docMk/>
            <pc:sldMk cId="0" sldId="258"/>
            <ac:spMk id="2" creationId="{00000000-0000-0000-0000-000000000000}"/>
          </ac:spMkLst>
        </pc:spChg>
        <pc:spChg chg="add del mod topLvl">
          <ac:chgData name="Louis-Bosch Malan" userId="67d63ac36b593411" providerId="LiveId" clId="{70063C88-AE20-4B97-A504-785602946100}" dt="2026-10-15T14:17:27.161" v="789" actId="165"/>
          <ac:spMkLst>
            <pc:docMk/>
            <pc:sldMk cId="0" sldId="258"/>
            <ac:spMk id="7" creationId="{00000000-0000-0000-0000-000000000000}"/>
          </ac:spMkLst>
        </pc:spChg>
        <pc:spChg chg="add del mod topLvl">
          <ac:chgData name="Louis-Bosch Malan" userId="67d63ac36b593411" providerId="LiveId" clId="{70063C88-AE20-4B97-A504-785602946100}" dt="2026-10-15T14:17:27.161" v="789" actId="165"/>
          <ac:spMkLst>
            <pc:docMk/>
            <pc:sldMk cId="0" sldId="258"/>
            <ac:spMk id="8" creationId="{00000000-0000-0000-0000-000000000000}"/>
          </ac:spMkLst>
        </pc:spChg>
        <pc:spChg chg="add del mod topLvl">
          <ac:chgData name="Louis-Bosch Malan" userId="67d63ac36b593411" providerId="LiveId" clId="{70063C88-AE20-4B97-A504-785602946100}" dt="2026-10-15T14:17:27.161" v="789" actId="165"/>
          <ac:spMkLst>
            <pc:docMk/>
            <pc:sldMk cId="0" sldId="258"/>
            <ac:spMk id="9" creationId="{00000000-0000-0000-0000-000000000000}"/>
          </ac:spMkLst>
        </pc:spChg>
        <pc:spChg chg="mod">
          <ac:chgData name="Louis-Bosch Malan" userId="67d63ac36b593411" providerId="LiveId" clId="{70063C88-AE20-4B97-A504-785602946100}" dt="2026-10-15T14:17:26.192" v="787" actId="164"/>
          <ac:spMkLst>
            <pc:docMk/>
            <pc:sldMk cId="0" sldId="258"/>
            <ac:spMk id="10" creationId="{00000000-0000-0000-0000-000000000000}"/>
          </ac:spMkLst>
        </pc:spChg>
        <pc:spChg chg="mod">
          <ac:chgData name="Louis-Bosch Malan" userId="67d63ac36b593411" providerId="LiveId" clId="{70063C88-AE20-4B97-A504-785602946100}" dt="2026-10-15T14:17:26.192" v="787" actId="164"/>
          <ac:spMkLst>
            <pc:docMk/>
            <pc:sldMk cId="0" sldId="258"/>
            <ac:spMk id="11" creationId="{00000000-0000-0000-0000-000000000000}"/>
          </ac:spMkLst>
        </pc:spChg>
        <pc:spChg chg="mod">
          <ac:chgData name="Louis-Bosch Malan" userId="67d63ac36b593411" providerId="LiveId" clId="{70063C88-AE20-4B97-A504-785602946100}" dt="2026-10-15T14:17:26.192" v="787" actId="164"/>
          <ac:spMkLst>
            <pc:docMk/>
            <pc:sldMk cId="0" sldId="258"/>
            <ac:spMk id="12" creationId="{00000000-0000-0000-0000-000000000000}"/>
          </ac:spMkLst>
        </pc:spChg>
        <pc:spChg chg="mod">
          <ac:chgData name="Louis-Bosch Malan" userId="67d63ac36b593411" providerId="LiveId" clId="{70063C88-AE20-4B97-A504-785602946100}" dt="2026-10-15T14:17:26.192" v="787" actId="164"/>
          <ac:spMkLst>
            <pc:docMk/>
            <pc:sldMk cId="0" sldId="258"/>
            <ac:spMk id="13" creationId="{00000000-0000-0000-0000-000000000000}"/>
          </ac:spMkLst>
        </pc:spChg>
        <pc:spChg chg="mod">
          <ac:chgData name="Louis-Bosch Malan" userId="67d63ac36b593411" providerId="LiveId" clId="{70063C88-AE20-4B97-A504-785602946100}" dt="2026-10-15T14:17:26.192" v="787" actId="164"/>
          <ac:spMkLst>
            <pc:docMk/>
            <pc:sldMk cId="0" sldId="258"/>
            <ac:spMk id="14" creationId="{00000000-0000-0000-0000-000000000000}"/>
          </ac:spMkLst>
        </pc:spChg>
        <pc:spChg chg="mod">
          <ac:chgData name="Louis-Bosch Malan" userId="67d63ac36b593411" providerId="LiveId" clId="{70063C88-AE20-4B97-A504-785602946100}" dt="2026-10-15T14:17:26.192" v="787" actId="164"/>
          <ac:spMkLst>
            <pc:docMk/>
            <pc:sldMk cId="0" sldId="258"/>
            <ac:spMk id="15" creationId="{00000000-0000-0000-0000-000000000000}"/>
          </ac:spMkLst>
        </pc:spChg>
        <pc:spChg chg="mod">
          <ac:chgData name="Louis-Bosch Malan" userId="67d63ac36b593411" providerId="LiveId" clId="{70063C88-AE20-4B97-A504-785602946100}" dt="2026-10-15T14:17:26.192" v="787" actId="164"/>
          <ac:spMkLst>
            <pc:docMk/>
            <pc:sldMk cId="0" sldId="258"/>
            <ac:spMk id="16" creationId="{00000000-0000-0000-0000-000000000000}"/>
          </ac:spMkLst>
        </pc:spChg>
        <pc:spChg chg="mod">
          <ac:chgData name="Louis-Bosch Malan" userId="67d63ac36b593411" providerId="LiveId" clId="{70063C88-AE20-4B97-A504-785602946100}" dt="2026-10-15T14:17:26.192" v="787" actId="164"/>
          <ac:spMkLst>
            <pc:docMk/>
            <pc:sldMk cId="0" sldId="258"/>
            <ac:spMk id="17" creationId="{00000000-0000-0000-0000-000000000000}"/>
          </ac:spMkLst>
        </pc:spChg>
        <pc:spChg chg="mod">
          <ac:chgData name="Louis-Bosch Malan" userId="67d63ac36b593411" providerId="LiveId" clId="{70063C88-AE20-4B97-A504-785602946100}" dt="2026-10-15T14:17:26.192" v="787" actId="164"/>
          <ac:spMkLst>
            <pc:docMk/>
            <pc:sldMk cId="0" sldId="258"/>
            <ac:spMk id="18" creationId="{00000000-0000-0000-0000-000000000000}"/>
          </ac:spMkLst>
        </pc:spChg>
        <pc:spChg chg="mod">
          <ac:chgData name="Louis-Bosch Malan" userId="67d63ac36b593411" providerId="LiveId" clId="{70063C88-AE20-4B97-A504-785602946100}" dt="2026-10-15T08:54:17.977" v="241" actId="20577"/>
          <ac:spMkLst>
            <pc:docMk/>
            <pc:sldMk cId="0" sldId="258"/>
            <ac:spMk id="19" creationId="{00000000-0000-0000-0000-000000000000}"/>
          </ac:spMkLst>
        </pc:spChg>
        <pc:spChg chg="mod">
          <ac:chgData name="Louis-Bosch Malan" userId="67d63ac36b593411" providerId="LiveId" clId="{70063C88-AE20-4B97-A504-785602946100}" dt="2026-10-15T14:15:41.347" v="753" actId="571"/>
          <ac:spMkLst>
            <pc:docMk/>
            <pc:sldMk cId="0" sldId="258"/>
            <ac:spMk id="26" creationId="{F2AF2F6E-1785-74D7-5A32-4E97F8189205}"/>
          </ac:spMkLst>
        </pc:spChg>
        <pc:spChg chg="mod">
          <ac:chgData name="Louis-Bosch Malan" userId="67d63ac36b593411" providerId="LiveId" clId="{70063C88-AE20-4B97-A504-785602946100}" dt="2026-10-15T14:15:41.347" v="753" actId="571"/>
          <ac:spMkLst>
            <pc:docMk/>
            <pc:sldMk cId="0" sldId="258"/>
            <ac:spMk id="27" creationId="{8D0421AF-1012-0992-F490-40048B0EEEEC}"/>
          </ac:spMkLst>
        </pc:spChg>
        <pc:spChg chg="mod">
          <ac:chgData name="Louis-Bosch Malan" userId="67d63ac36b593411" providerId="LiveId" clId="{70063C88-AE20-4B97-A504-785602946100}" dt="2026-10-15T14:15:41.347" v="753" actId="571"/>
          <ac:spMkLst>
            <pc:docMk/>
            <pc:sldMk cId="0" sldId="258"/>
            <ac:spMk id="28" creationId="{169203CF-5050-53FA-E77D-4B9A561B0722}"/>
          </ac:spMkLst>
        </pc:spChg>
        <pc:spChg chg="mod">
          <ac:chgData name="Louis-Bosch Malan" userId="67d63ac36b593411" providerId="LiveId" clId="{70063C88-AE20-4B97-A504-785602946100}" dt="2026-10-15T14:15:41.347" v="753" actId="571"/>
          <ac:spMkLst>
            <pc:docMk/>
            <pc:sldMk cId="0" sldId="258"/>
            <ac:spMk id="29" creationId="{E3A2DE8C-6A5E-D5E9-0ABD-6EC39C331FB6}"/>
          </ac:spMkLst>
        </pc:spChg>
        <pc:spChg chg="mod">
          <ac:chgData name="Louis-Bosch Malan" userId="67d63ac36b593411" providerId="LiveId" clId="{70063C88-AE20-4B97-A504-785602946100}" dt="2026-10-15T14:15:41.347" v="753" actId="571"/>
          <ac:spMkLst>
            <pc:docMk/>
            <pc:sldMk cId="0" sldId="258"/>
            <ac:spMk id="31" creationId="{D7DD9DB1-910C-EDDF-786E-67124DDEEC20}"/>
          </ac:spMkLst>
        </pc:spChg>
        <pc:spChg chg="mod">
          <ac:chgData name="Louis-Bosch Malan" userId="67d63ac36b593411" providerId="LiveId" clId="{70063C88-AE20-4B97-A504-785602946100}" dt="2026-10-15T14:15:41.347" v="753" actId="571"/>
          <ac:spMkLst>
            <pc:docMk/>
            <pc:sldMk cId="0" sldId="258"/>
            <ac:spMk id="32" creationId="{DE81F830-2F3B-6C0D-6549-A65AFF438996}"/>
          </ac:spMkLst>
        </pc:spChg>
        <pc:spChg chg="mod">
          <ac:chgData name="Louis-Bosch Malan" userId="67d63ac36b593411" providerId="LiveId" clId="{70063C88-AE20-4B97-A504-785602946100}" dt="2026-10-15T14:15:41.347" v="753" actId="571"/>
          <ac:spMkLst>
            <pc:docMk/>
            <pc:sldMk cId="0" sldId="258"/>
            <ac:spMk id="33" creationId="{6D07106A-3BAF-A444-CF70-2C5787FA6B9F}"/>
          </ac:spMkLst>
        </pc:spChg>
        <pc:spChg chg="add del mod topLvl">
          <ac:chgData name="Louis-Bosch Malan" userId="67d63ac36b593411" providerId="LiveId" clId="{70063C88-AE20-4B97-A504-785602946100}" dt="2026-10-15T14:17:19.067" v="779" actId="571"/>
          <ac:spMkLst>
            <pc:docMk/>
            <pc:sldMk cId="0" sldId="258"/>
            <ac:spMk id="37" creationId="{19C0FB4B-6BCF-E186-F20F-42615A149B94}"/>
          </ac:spMkLst>
        </pc:spChg>
        <pc:spChg chg="add del mod topLvl">
          <ac:chgData name="Louis-Bosch Malan" userId="67d63ac36b593411" providerId="LiveId" clId="{70063C88-AE20-4B97-A504-785602946100}" dt="2026-10-15T14:17:19.067" v="779" actId="571"/>
          <ac:spMkLst>
            <pc:docMk/>
            <pc:sldMk cId="0" sldId="258"/>
            <ac:spMk id="38" creationId="{350F9D7E-114E-C08E-6043-B97A8D890672}"/>
          </ac:spMkLst>
        </pc:spChg>
        <pc:spChg chg="add del mod">
          <ac:chgData name="Louis-Bosch Malan" userId="67d63ac36b593411" providerId="LiveId" clId="{70063C88-AE20-4B97-A504-785602946100}" dt="2026-10-15T14:17:15.853" v="772" actId="22"/>
          <ac:spMkLst>
            <pc:docMk/>
            <pc:sldMk cId="0" sldId="258"/>
            <ac:spMk id="41" creationId="{69F4E55B-38F7-36AC-2088-094378C3240B}"/>
          </ac:spMkLst>
        </pc:spChg>
        <pc:spChg chg="add del mod">
          <ac:chgData name="Louis-Bosch Malan" userId="67d63ac36b593411" providerId="LiveId" clId="{70063C88-AE20-4B97-A504-785602946100}" dt="2026-10-15T14:17:15.853" v="772" actId="22"/>
          <ac:spMkLst>
            <pc:docMk/>
            <pc:sldMk cId="0" sldId="258"/>
            <ac:spMk id="43" creationId="{953872A0-FBF3-6C44-BA85-5C731434221E}"/>
          </ac:spMkLst>
        </pc:spChg>
        <pc:spChg chg="add del mod">
          <ac:chgData name="Louis-Bosch Malan" userId="67d63ac36b593411" providerId="LiveId" clId="{70063C88-AE20-4B97-A504-785602946100}" dt="2026-10-15T14:17:15.853" v="772" actId="22"/>
          <ac:spMkLst>
            <pc:docMk/>
            <pc:sldMk cId="0" sldId="258"/>
            <ac:spMk id="45" creationId="{4FECE76D-BF8D-3B93-533F-DD956B149189}"/>
          </ac:spMkLst>
        </pc:spChg>
        <pc:spChg chg="add del mod">
          <ac:chgData name="Louis-Bosch Malan" userId="67d63ac36b593411" providerId="LiveId" clId="{70063C88-AE20-4B97-A504-785602946100}" dt="2026-10-15T14:17:15.853" v="772" actId="22"/>
          <ac:spMkLst>
            <pc:docMk/>
            <pc:sldMk cId="0" sldId="258"/>
            <ac:spMk id="47" creationId="{98870D73-5ED8-7D36-69D1-5C3636D960DA}"/>
          </ac:spMkLst>
        </pc:spChg>
        <pc:spChg chg="add del mod">
          <ac:chgData name="Louis-Bosch Malan" userId="67d63ac36b593411" providerId="LiveId" clId="{70063C88-AE20-4B97-A504-785602946100}" dt="2026-10-15T14:17:15.853" v="772" actId="22"/>
          <ac:spMkLst>
            <pc:docMk/>
            <pc:sldMk cId="0" sldId="258"/>
            <ac:spMk id="49" creationId="{5C8BE9E0-732A-BB71-28BF-5CD3878D239D}"/>
          </ac:spMkLst>
        </pc:spChg>
        <pc:spChg chg="add del mod">
          <ac:chgData name="Louis-Bosch Malan" userId="67d63ac36b593411" providerId="LiveId" clId="{70063C88-AE20-4B97-A504-785602946100}" dt="2026-10-15T14:17:15.853" v="772" actId="22"/>
          <ac:spMkLst>
            <pc:docMk/>
            <pc:sldMk cId="0" sldId="258"/>
            <ac:spMk id="51" creationId="{279E90FF-2135-9D9F-E003-37FF1F1A855F}"/>
          </ac:spMkLst>
        </pc:spChg>
        <pc:grpChg chg="add del mod ord">
          <ac:chgData name="Louis-Bosch Malan" userId="67d63ac36b593411" providerId="LiveId" clId="{70063C88-AE20-4B97-A504-785602946100}" dt="2026-10-15T14:26:14.524" v="804" actId="164"/>
          <ac:grpSpMkLst>
            <pc:docMk/>
            <pc:sldMk cId="0" sldId="258"/>
            <ac:grpSpMk id="20" creationId="{CFDE15E2-94E5-0C42-B207-9D0204D00212}"/>
          </ac:grpSpMkLst>
        </pc:grpChg>
        <pc:grpChg chg="add mod">
          <ac:chgData name="Louis-Bosch Malan" userId="67d63ac36b593411" providerId="LiveId" clId="{70063C88-AE20-4B97-A504-785602946100}" dt="2026-10-15T14:26:14.524" v="804" actId="164"/>
          <ac:grpSpMkLst>
            <pc:docMk/>
            <pc:sldMk cId="0" sldId="258"/>
            <ac:grpSpMk id="21" creationId="{EC71A0B8-0D27-EED3-BABE-2FBB29A3C85B}"/>
          </ac:grpSpMkLst>
        </pc:grpChg>
        <pc:grpChg chg="add mod">
          <ac:chgData name="Louis-Bosch Malan" userId="67d63ac36b593411" providerId="LiveId" clId="{70063C88-AE20-4B97-A504-785602946100}" dt="2026-10-15T14:26:14.524" v="804" actId="164"/>
          <ac:grpSpMkLst>
            <pc:docMk/>
            <pc:sldMk cId="0" sldId="258"/>
            <ac:grpSpMk id="22" creationId="{4E4BFE4F-D8D0-D516-7187-EA8315EBED14}"/>
          </ac:grpSpMkLst>
        </pc:grpChg>
        <pc:grpChg chg="add mod">
          <ac:chgData name="Louis-Bosch Malan" userId="67d63ac36b593411" providerId="LiveId" clId="{70063C88-AE20-4B97-A504-785602946100}" dt="2026-10-15T14:26:14.524" v="804" actId="164"/>
          <ac:grpSpMkLst>
            <pc:docMk/>
            <pc:sldMk cId="0" sldId="258"/>
            <ac:grpSpMk id="23" creationId="{9163C6E2-8491-D32C-7EE0-0163ADEE4C20}"/>
          </ac:grpSpMkLst>
        </pc:grpChg>
        <pc:grpChg chg="add del mod">
          <ac:chgData name="Louis-Bosch Malan" userId="67d63ac36b593411" providerId="LiveId" clId="{70063C88-AE20-4B97-A504-785602946100}" dt="2026-10-15T14:17:26.712" v="788" actId="164"/>
          <ac:grpSpMkLst>
            <pc:docMk/>
            <pc:sldMk cId="0" sldId="258"/>
            <ac:grpSpMk id="24" creationId="{0CE38B2A-9803-19DA-9246-E82930103354}"/>
          </ac:grpSpMkLst>
        </pc:grpChg>
        <pc:grpChg chg="add mod">
          <ac:chgData name="Louis-Bosch Malan" userId="67d63ac36b593411" providerId="LiveId" clId="{70063C88-AE20-4B97-A504-785602946100}" dt="2026-10-15T14:26:14.524" v="804" actId="164"/>
          <ac:grpSpMkLst>
            <pc:docMk/>
            <pc:sldMk cId="0" sldId="258"/>
            <ac:grpSpMk id="24" creationId="{D6016D61-754D-F0CF-7FCD-AE2AA12F5609}"/>
          </ac:grpSpMkLst>
        </pc:grpChg>
        <pc:grpChg chg="add mod">
          <ac:chgData name="Louis-Bosch Malan" userId="67d63ac36b593411" providerId="LiveId" clId="{70063C88-AE20-4B97-A504-785602946100}" dt="2026-10-15T14:15:41.347" v="753" actId="571"/>
          <ac:grpSpMkLst>
            <pc:docMk/>
            <pc:sldMk cId="0" sldId="258"/>
            <ac:grpSpMk id="25" creationId="{3C6EA2B4-F49C-999A-E964-2EC75D90004A}"/>
          </ac:grpSpMkLst>
        </pc:grpChg>
        <pc:grpChg chg="add mod">
          <ac:chgData name="Louis-Bosch Malan" userId="67d63ac36b593411" providerId="LiveId" clId="{70063C88-AE20-4B97-A504-785602946100}" dt="2026-10-15T14:15:41.347" v="753" actId="571"/>
          <ac:grpSpMkLst>
            <pc:docMk/>
            <pc:sldMk cId="0" sldId="258"/>
            <ac:grpSpMk id="30" creationId="{1372A526-47C3-D93F-09E6-9897948EDB9B}"/>
          </ac:grpSpMkLst>
        </pc:grpChg>
        <pc:grpChg chg="add mod">
          <ac:chgData name="Louis-Bosch Malan" userId="67d63ac36b593411" providerId="LiveId" clId="{70063C88-AE20-4B97-A504-785602946100}" dt="2026-10-15T14:17:20.211" v="781" actId="1076"/>
          <ac:grpSpMkLst>
            <pc:docMk/>
            <pc:sldMk cId="0" sldId="258"/>
            <ac:grpSpMk id="34" creationId="{1C7A2BFB-D75E-69AF-AA7D-CE365F08893F}"/>
          </ac:grpSpMkLst>
        </pc:grpChg>
        <pc:grpChg chg="add del mod">
          <ac:chgData name="Louis-Bosch Malan" userId="67d63ac36b593411" providerId="LiveId" clId="{70063C88-AE20-4B97-A504-785602946100}" dt="2026-10-15T14:17:25.513" v="785" actId="164"/>
          <ac:grpSpMkLst>
            <pc:docMk/>
            <pc:sldMk cId="0" sldId="258"/>
            <ac:grpSpMk id="35" creationId="{C73B6324-57C3-0ADA-0BA3-ED6725484BDF}"/>
          </ac:grpSpMkLst>
        </pc:grpChg>
        <pc:grpChg chg="add del mod">
          <ac:chgData name="Louis-Bosch Malan" userId="67d63ac36b593411" providerId="LiveId" clId="{70063C88-AE20-4B97-A504-785602946100}" dt="2026-10-15T14:17:24.541" v="782" actId="164"/>
          <ac:grpSpMkLst>
            <pc:docMk/>
            <pc:sldMk cId="0" sldId="258"/>
            <ac:grpSpMk id="36" creationId="{B8F01CFB-98BC-4948-19FD-CCECAC1362E7}"/>
          </ac:grpSpMkLst>
        </pc:grpChg>
        <pc:grpChg chg="add del mod">
          <ac:chgData name="Louis-Bosch Malan" userId="67d63ac36b593411" providerId="LiveId" clId="{70063C88-AE20-4B97-A504-785602946100}" dt="2026-10-15T14:17:18.170" v="777" actId="338"/>
          <ac:grpSpMkLst>
            <pc:docMk/>
            <pc:sldMk cId="0" sldId="258"/>
            <ac:grpSpMk id="39" creationId="{AA8DE707-F248-B5F4-FEE6-A408796238DA}"/>
          </ac:grpSpMkLst>
        </pc:grpChg>
      </pc:sldChg>
      <pc:sldChg chg="addSp modSp mod">
        <pc:chgData name="Louis-Bosch Malan" userId="67d63ac36b593411" providerId="LiveId" clId="{70063C88-AE20-4B97-A504-785602946100}" dt="2026-10-15T14:31:44.681" v="814" actId="164"/>
        <pc:sldMkLst>
          <pc:docMk/>
          <pc:sldMk cId="0" sldId="260"/>
        </pc:sldMkLst>
        <pc:spChg chg="mod">
          <ac:chgData name="Louis-Bosch Malan" userId="67d63ac36b593411" providerId="LiveId" clId="{70063C88-AE20-4B97-A504-785602946100}" dt="2026-10-15T08:57:11.411" v="287" actId="1076"/>
          <ac:spMkLst>
            <pc:docMk/>
            <pc:sldMk cId="0" sldId="260"/>
            <ac:spMk id="2" creationId="{00000000-0000-0000-0000-000000000000}"/>
          </ac:spMkLst>
        </pc:spChg>
        <pc:spChg chg="mod">
          <ac:chgData name="Louis-Bosch Malan" userId="67d63ac36b593411" providerId="LiveId" clId="{70063C88-AE20-4B97-A504-785602946100}" dt="2026-10-15T08:55:31.128" v="286" actId="20577"/>
          <ac:spMkLst>
            <pc:docMk/>
            <pc:sldMk cId="0" sldId="260"/>
            <ac:spMk id="3" creationId="{00000000-0000-0000-0000-000000000000}"/>
          </ac:spMkLst>
        </pc:spChg>
        <pc:spChg chg="mod">
          <ac:chgData name="Louis-Bosch Malan" userId="67d63ac36b593411" providerId="LiveId" clId="{70063C88-AE20-4B97-A504-785602946100}" dt="2026-10-15T14:31:33.859" v="812" actId="164"/>
          <ac:spMkLst>
            <pc:docMk/>
            <pc:sldMk cId="0" sldId="260"/>
            <ac:spMk id="8" creationId="{00000000-0000-0000-0000-000000000000}"/>
          </ac:spMkLst>
        </pc:spChg>
        <pc:spChg chg="mod">
          <ac:chgData name="Louis-Bosch Malan" userId="67d63ac36b593411" providerId="LiveId" clId="{70063C88-AE20-4B97-A504-785602946100}" dt="2026-10-15T14:31:33.859" v="812" actId="164"/>
          <ac:spMkLst>
            <pc:docMk/>
            <pc:sldMk cId="0" sldId="260"/>
            <ac:spMk id="9" creationId="{00000000-0000-0000-0000-000000000000}"/>
          </ac:spMkLst>
        </pc:spChg>
        <pc:spChg chg="mod">
          <ac:chgData name="Louis-Bosch Malan" userId="67d63ac36b593411" providerId="LiveId" clId="{70063C88-AE20-4B97-A504-785602946100}" dt="2026-10-15T14:31:33.859" v="812" actId="164"/>
          <ac:spMkLst>
            <pc:docMk/>
            <pc:sldMk cId="0" sldId="260"/>
            <ac:spMk id="10" creationId="{00000000-0000-0000-0000-000000000000}"/>
          </ac:spMkLst>
        </pc:spChg>
        <pc:spChg chg="mod">
          <ac:chgData name="Louis-Bosch Malan" userId="67d63ac36b593411" providerId="LiveId" clId="{70063C88-AE20-4B97-A504-785602946100}" dt="2026-10-15T14:31:41.288" v="813" actId="164"/>
          <ac:spMkLst>
            <pc:docMk/>
            <pc:sldMk cId="0" sldId="260"/>
            <ac:spMk id="11" creationId="{00000000-0000-0000-0000-000000000000}"/>
          </ac:spMkLst>
        </pc:spChg>
        <pc:spChg chg="mod">
          <ac:chgData name="Louis-Bosch Malan" userId="67d63ac36b593411" providerId="LiveId" clId="{70063C88-AE20-4B97-A504-785602946100}" dt="2026-10-15T14:31:41.288" v="813" actId="164"/>
          <ac:spMkLst>
            <pc:docMk/>
            <pc:sldMk cId="0" sldId="260"/>
            <ac:spMk id="12" creationId="{00000000-0000-0000-0000-000000000000}"/>
          </ac:spMkLst>
        </pc:spChg>
        <pc:spChg chg="mod">
          <ac:chgData name="Louis-Bosch Malan" userId="67d63ac36b593411" providerId="LiveId" clId="{70063C88-AE20-4B97-A504-785602946100}" dt="2026-10-15T14:31:41.288" v="813" actId="164"/>
          <ac:spMkLst>
            <pc:docMk/>
            <pc:sldMk cId="0" sldId="260"/>
            <ac:spMk id="13" creationId="{00000000-0000-0000-0000-000000000000}"/>
          </ac:spMkLst>
        </pc:spChg>
        <pc:spChg chg="mod">
          <ac:chgData name="Louis-Bosch Malan" userId="67d63ac36b593411" providerId="LiveId" clId="{70063C88-AE20-4B97-A504-785602946100}" dt="2026-10-15T08:58:51.635" v="304" actId="255"/>
          <ac:spMkLst>
            <pc:docMk/>
            <pc:sldMk cId="0" sldId="260"/>
            <ac:spMk id="14" creationId="{00000000-0000-0000-0000-000000000000}"/>
          </ac:spMkLst>
        </pc:spChg>
        <pc:spChg chg="mod">
          <ac:chgData name="Louis-Bosch Malan" userId="67d63ac36b593411" providerId="LiveId" clId="{70063C88-AE20-4B97-A504-785602946100}" dt="2026-10-15T08:59:08.094" v="305" actId="1076"/>
          <ac:spMkLst>
            <pc:docMk/>
            <pc:sldMk cId="0" sldId="260"/>
            <ac:spMk id="17" creationId="{00000000-0000-0000-0000-000000000000}"/>
          </ac:spMkLst>
        </pc:spChg>
        <pc:grpChg chg="add mod">
          <ac:chgData name="Louis-Bosch Malan" userId="67d63ac36b593411" providerId="LiveId" clId="{70063C88-AE20-4B97-A504-785602946100}" dt="2026-10-15T14:31:44.681" v="814" actId="164"/>
          <ac:grpSpMkLst>
            <pc:docMk/>
            <pc:sldMk cId="0" sldId="260"/>
            <ac:grpSpMk id="18" creationId="{BF7AEC6D-5B17-C166-E1CA-4DAAC41650A4}"/>
          </ac:grpSpMkLst>
        </pc:grpChg>
        <pc:grpChg chg="add mod">
          <ac:chgData name="Louis-Bosch Malan" userId="67d63ac36b593411" providerId="LiveId" clId="{70063C88-AE20-4B97-A504-785602946100}" dt="2026-10-15T14:31:44.681" v="814" actId="164"/>
          <ac:grpSpMkLst>
            <pc:docMk/>
            <pc:sldMk cId="0" sldId="260"/>
            <ac:grpSpMk id="19" creationId="{C929CABA-82CC-F860-4D86-0D8E56EA7D8E}"/>
          </ac:grpSpMkLst>
        </pc:grpChg>
        <pc:grpChg chg="add mod">
          <ac:chgData name="Louis-Bosch Malan" userId="67d63ac36b593411" providerId="LiveId" clId="{70063C88-AE20-4B97-A504-785602946100}" dt="2026-10-15T14:31:44.681" v="814" actId="164"/>
          <ac:grpSpMkLst>
            <pc:docMk/>
            <pc:sldMk cId="0" sldId="260"/>
            <ac:grpSpMk id="20" creationId="{2F80735A-F5F0-52C6-47C8-8D31B3978356}"/>
          </ac:grpSpMkLst>
        </pc:grpChg>
      </pc:sldChg>
      <pc:sldChg chg="modSp mod">
        <pc:chgData name="Louis-Bosch Malan" userId="67d63ac36b593411" providerId="LiveId" clId="{70063C88-AE20-4B97-A504-785602946100}" dt="2026-10-14T13:03:26.173" v="38" actId="1076"/>
        <pc:sldMkLst>
          <pc:docMk/>
          <pc:sldMk cId="0" sldId="261"/>
        </pc:sldMkLst>
        <pc:spChg chg="mod">
          <ac:chgData name="Louis-Bosch Malan" userId="67d63ac36b593411" providerId="LiveId" clId="{70063C88-AE20-4B97-A504-785602946100}" dt="2026-10-14T13:03:26.173" v="38" actId="1076"/>
          <ac:spMkLst>
            <pc:docMk/>
            <pc:sldMk cId="0" sldId="261"/>
            <ac:spMk id="2" creationId="{00000000-0000-0000-0000-000000000000}"/>
          </ac:spMkLst>
        </pc:spChg>
      </pc:sldChg>
      <pc:sldChg chg="addSp modSp mod modNotesTx">
        <pc:chgData name="Louis-Bosch Malan" userId="67d63ac36b593411" providerId="LiveId" clId="{70063C88-AE20-4B97-A504-785602946100}" dt="2026-10-15T14:30:43.860" v="811" actId="164"/>
        <pc:sldMkLst>
          <pc:docMk/>
          <pc:sldMk cId="13467081" sldId="263"/>
        </pc:sldMkLst>
        <pc:spChg chg="mod">
          <ac:chgData name="Louis-Bosch Malan" userId="67d63ac36b593411" providerId="LiveId" clId="{70063C88-AE20-4B97-A504-785602946100}" dt="2026-10-15T14:27:32.114" v="809" actId="1076"/>
          <ac:spMkLst>
            <pc:docMk/>
            <pc:sldMk cId="13467081" sldId="263"/>
            <ac:spMk id="2" creationId="{D68043AE-942D-CCAC-EE6A-0FF6D0DACBE1}"/>
          </ac:spMkLst>
        </pc:spChg>
        <pc:spChg chg="mod">
          <ac:chgData name="Louis-Bosch Malan" userId="67d63ac36b593411" providerId="LiveId" clId="{70063C88-AE20-4B97-A504-785602946100}" dt="2026-10-15T14:27:08.870" v="805" actId="164"/>
          <ac:spMkLst>
            <pc:docMk/>
            <pc:sldMk cId="13467081" sldId="263"/>
            <ac:spMk id="7" creationId="{6511CAFB-CF50-4DCC-6A9E-69732E1EDB9E}"/>
          </ac:spMkLst>
        </pc:spChg>
        <pc:spChg chg="mod">
          <ac:chgData name="Louis-Bosch Malan" userId="67d63ac36b593411" providerId="LiveId" clId="{70063C88-AE20-4B97-A504-785602946100}" dt="2026-10-15T14:27:08.870" v="805" actId="164"/>
          <ac:spMkLst>
            <pc:docMk/>
            <pc:sldMk cId="13467081" sldId="263"/>
            <ac:spMk id="8" creationId="{30A40FBE-3E79-C787-8D29-785AC1E1A09D}"/>
          </ac:spMkLst>
        </pc:spChg>
        <pc:spChg chg="mod">
          <ac:chgData name="Louis-Bosch Malan" userId="67d63ac36b593411" providerId="LiveId" clId="{70063C88-AE20-4B97-A504-785602946100}" dt="2026-10-15T14:27:08.870" v="805" actId="164"/>
          <ac:spMkLst>
            <pc:docMk/>
            <pc:sldMk cId="13467081" sldId="263"/>
            <ac:spMk id="9" creationId="{D6FAAC77-EFAA-E21C-54E4-29AA7C7412D7}"/>
          </ac:spMkLst>
        </pc:spChg>
        <pc:spChg chg="mod">
          <ac:chgData name="Louis-Bosch Malan" userId="67d63ac36b593411" providerId="LiveId" clId="{70063C88-AE20-4B97-A504-785602946100}" dt="2026-10-15T14:27:14.036" v="806" actId="164"/>
          <ac:spMkLst>
            <pc:docMk/>
            <pc:sldMk cId="13467081" sldId="263"/>
            <ac:spMk id="10" creationId="{1407B795-FAAA-12B1-0A52-EEECC4CAA45D}"/>
          </ac:spMkLst>
        </pc:spChg>
        <pc:spChg chg="mod">
          <ac:chgData name="Louis-Bosch Malan" userId="67d63ac36b593411" providerId="LiveId" clId="{70063C88-AE20-4B97-A504-785602946100}" dt="2026-10-15T14:27:14.036" v="806" actId="164"/>
          <ac:spMkLst>
            <pc:docMk/>
            <pc:sldMk cId="13467081" sldId="263"/>
            <ac:spMk id="11" creationId="{E8EFAF03-46CC-8039-5C66-1D8C94BDF85E}"/>
          </ac:spMkLst>
        </pc:spChg>
        <pc:spChg chg="mod">
          <ac:chgData name="Louis-Bosch Malan" userId="67d63ac36b593411" providerId="LiveId" clId="{70063C88-AE20-4B97-A504-785602946100}" dt="2026-10-15T14:27:14.036" v="806" actId="164"/>
          <ac:spMkLst>
            <pc:docMk/>
            <pc:sldMk cId="13467081" sldId="263"/>
            <ac:spMk id="12" creationId="{20E91277-79D4-5A73-8507-6AB9518C485E}"/>
          </ac:spMkLst>
        </pc:spChg>
        <pc:spChg chg="mod">
          <ac:chgData name="Louis-Bosch Malan" userId="67d63ac36b593411" providerId="LiveId" clId="{70063C88-AE20-4B97-A504-785602946100}" dt="2026-10-15T14:27:29.026" v="807" actId="164"/>
          <ac:spMkLst>
            <pc:docMk/>
            <pc:sldMk cId="13467081" sldId="263"/>
            <ac:spMk id="13" creationId="{349A34BE-57E7-7B1B-65DD-604981DD7DFA}"/>
          </ac:spMkLst>
        </pc:spChg>
        <pc:spChg chg="mod">
          <ac:chgData name="Louis-Bosch Malan" userId="67d63ac36b593411" providerId="LiveId" clId="{70063C88-AE20-4B97-A504-785602946100}" dt="2026-10-15T14:27:29.026" v="807" actId="164"/>
          <ac:spMkLst>
            <pc:docMk/>
            <pc:sldMk cId="13467081" sldId="263"/>
            <ac:spMk id="14" creationId="{1BC5E875-87EB-E48D-A68B-CD0078A71CED}"/>
          </ac:spMkLst>
        </pc:spChg>
        <pc:spChg chg="mod">
          <ac:chgData name="Louis-Bosch Malan" userId="67d63ac36b593411" providerId="LiveId" clId="{70063C88-AE20-4B97-A504-785602946100}" dt="2026-10-15T14:27:29.026" v="807" actId="164"/>
          <ac:spMkLst>
            <pc:docMk/>
            <pc:sldMk cId="13467081" sldId="263"/>
            <ac:spMk id="15" creationId="{44923690-5FF6-F930-9890-91DAD4060B73}"/>
          </ac:spMkLst>
        </pc:spChg>
        <pc:spChg chg="mod">
          <ac:chgData name="Louis-Bosch Malan" userId="67d63ac36b593411" providerId="LiveId" clId="{70063C88-AE20-4B97-A504-785602946100}" dt="2026-10-15T14:30:40.327" v="810" actId="164"/>
          <ac:spMkLst>
            <pc:docMk/>
            <pc:sldMk cId="13467081" sldId="263"/>
            <ac:spMk id="16" creationId="{D0468D7D-0D79-470E-ECCA-CBB153BA2826}"/>
          </ac:spMkLst>
        </pc:spChg>
        <pc:spChg chg="mod">
          <ac:chgData name="Louis-Bosch Malan" userId="67d63ac36b593411" providerId="LiveId" clId="{70063C88-AE20-4B97-A504-785602946100}" dt="2026-10-15T14:30:40.327" v="810" actId="164"/>
          <ac:spMkLst>
            <pc:docMk/>
            <pc:sldMk cId="13467081" sldId="263"/>
            <ac:spMk id="17" creationId="{5813A7D4-31CE-E51A-398D-7E86050B9F80}"/>
          </ac:spMkLst>
        </pc:spChg>
        <pc:spChg chg="mod">
          <ac:chgData name="Louis-Bosch Malan" userId="67d63ac36b593411" providerId="LiveId" clId="{70063C88-AE20-4B97-A504-785602946100}" dt="2026-10-15T14:30:40.327" v="810" actId="164"/>
          <ac:spMkLst>
            <pc:docMk/>
            <pc:sldMk cId="13467081" sldId="263"/>
            <ac:spMk id="18" creationId="{41CD2985-A0BC-DCAD-91AE-32A805141E7F}"/>
          </ac:spMkLst>
        </pc:spChg>
        <pc:spChg chg="mod">
          <ac:chgData name="Louis-Bosch Malan" userId="67d63ac36b593411" providerId="LiveId" clId="{70063C88-AE20-4B97-A504-785602946100}" dt="2026-10-15T08:54:41.613" v="263" actId="20577"/>
          <ac:spMkLst>
            <pc:docMk/>
            <pc:sldMk cId="13467081" sldId="263"/>
            <ac:spMk id="19" creationId="{42257EBA-1FE1-4AAB-1AE1-59E766D70B5D}"/>
          </ac:spMkLst>
        </pc:spChg>
        <pc:grpChg chg="add mod">
          <ac:chgData name="Louis-Bosch Malan" userId="67d63ac36b593411" providerId="LiveId" clId="{70063C88-AE20-4B97-A504-785602946100}" dt="2026-10-15T14:30:43.860" v="811" actId="164"/>
          <ac:grpSpMkLst>
            <pc:docMk/>
            <pc:sldMk cId="13467081" sldId="263"/>
            <ac:grpSpMk id="20" creationId="{BA7C615C-5584-F6A1-F330-5DB0D35C27F1}"/>
          </ac:grpSpMkLst>
        </pc:grpChg>
        <pc:grpChg chg="add mod">
          <ac:chgData name="Louis-Bosch Malan" userId="67d63ac36b593411" providerId="LiveId" clId="{70063C88-AE20-4B97-A504-785602946100}" dt="2026-10-15T14:30:43.860" v="811" actId="164"/>
          <ac:grpSpMkLst>
            <pc:docMk/>
            <pc:sldMk cId="13467081" sldId="263"/>
            <ac:grpSpMk id="21" creationId="{F9AE0BCB-6AC7-1927-4BF5-DFDC44099D0F}"/>
          </ac:grpSpMkLst>
        </pc:grpChg>
        <pc:grpChg chg="add mod">
          <ac:chgData name="Louis-Bosch Malan" userId="67d63ac36b593411" providerId="LiveId" clId="{70063C88-AE20-4B97-A504-785602946100}" dt="2026-10-15T14:30:43.860" v="811" actId="164"/>
          <ac:grpSpMkLst>
            <pc:docMk/>
            <pc:sldMk cId="13467081" sldId="263"/>
            <ac:grpSpMk id="22" creationId="{C11DEB6E-4F22-2D22-5815-43FEF081B4D2}"/>
          </ac:grpSpMkLst>
        </pc:grpChg>
        <pc:grpChg chg="add mod">
          <ac:chgData name="Louis-Bosch Malan" userId="67d63ac36b593411" providerId="LiveId" clId="{70063C88-AE20-4B97-A504-785602946100}" dt="2026-10-15T14:30:43.860" v="811" actId="164"/>
          <ac:grpSpMkLst>
            <pc:docMk/>
            <pc:sldMk cId="13467081" sldId="263"/>
            <ac:grpSpMk id="23" creationId="{372D39B4-EE8F-6918-2DD5-B49332998224}"/>
          </ac:grpSpMkLst>
        </pc:grpChg>
        <pc:grpChg chg="add mod">
          <ac:chgData name="Louis-Bosch Malan" userId="67d63ac36b593411" providerId="LiveId" clId="{70063C88-AE20-4B97-A504-785602946100}" dt="2026-10-15T14:30:43.860" v="811" actId="164"/>
          <ac:grpSpMkLst>
            <pc:docMk/>
            <pc:sldMk cId="13467081" sldId="263"/>
            <ac:grpSpMk id="24" creationId="{E1D416A6-A4D9-F52F-AA8F-A0D459D0184E}"/>
          </ac:grpSpMkLst>
        </pc:grpChg>
      </pc:sldChg>
      <pc:sldChg chg="addSp modSp">
        <pc:chgData name="Louis-Bosch Malan" userId="67d63ac36b593411" providerId="LiveId" clId="{70063C88-AE20-4B97-A504-785602946100}" dt="2026-10-15T14:33:33.946" v="817" actId="164"/>
        <pc:sldMkLst>
          <pc:docMk/>
          <pc:sldMk cId="470299514" sldId="265"/>
        </pc:sldMkLst>
        <pc:spChg chg="mod">
          <ac:chgData name="Louis-Bosch Malan" userId="67d63ac36b593411" providerId="LiveId" clId="{70063C88-AE20-4B97-A504-785602946100}" dt="2026-10-15T14:33:24.482" v="815" actId="164"/>
          <ac:spMkLst>
            <pc:docMk/>
            <pc:sldMk cId="470299514" sldId="265"/>
            <ac:spMk id="8" creationId="{B64695B8-AC8A-D4E1-DADA-C011294F6C89}"/>
          </ac:spMkLst>
        </pc:spChg>
        <pc:spChg chg="mod">
          <ac:chgData name="Louis-Bosch Malan" userId="67d63ac36b593411" providerId="LiveId" clId="{70063C88-AE20-4B97-A504-785602946100}" dt="2026-10-15T14:33:24.482" v="815" actId="164"/>
          <ac:spMkLst>
            <pc:docMk/>
            <pc:sldMk cId="470299514" sldId="265"/>
            <ac:spMk id="9" creationId="{2F49B000-E02C-67DF-9F7E-F24E9555CBA1}"/>
          </ac:spMkLst>
        </pc:spChg>
        <pc:spChg chg="mod">
          <ac:chgData name="Louis-Bosch Malan" userId="67d63ac36b593411" providerId="LiveId" clId="{70063C88-AE20-4B97-A504-785602946100}" dt="2026-10-15T14:33:24.482" v="815" actId="164"/>
          <ac:spMkLst>
            <pc:docMk/>
            <pc:sldMk cId="470299514" sldId="265"/>
            <ac:spMk id="10" creationId="{FC9C21BE-3252-5F52-F403-F37753DE8890}"/>
          </ac:spMkLst>
        </pc:spChg>
        <pc:spChg chg="mod">
          <ac:chgData name="Louis-Bosch Malan" userId="67d63ac36b593411" providerId="LiveId" clId="{70063C88-AE20-4B97-A504-785602946100}" dt="2026-10-15T14:33:31.272" v="816" actId="164"/>
          <ac:spMkLst>
            <pc:docMk/>
            <pc:sldMk cId="470299514" sldId="265"/>
            <ac:spMk id="11" creationId="{19543964-6883-5935-B137-35727C130630}"/>
          </ac:spMkLst>
        </pc:spChg>
        <pc:spChg chg="mod">
          <ac:chgData name="Louis-Bosch Malan" userId="67d63ac36b593411" providerId="LiveId" clId="{70063C88-AE20-4B97-A504-785602946100}" dt="2026-10-15T14:33:31.272" v="816" actId="164"/>
          <ac:spMkLst>
            <pc:docMk/>
            <pc:sldMk cId="470299514" sldId="265"/>
            <ac:spMk id="12" creationId="{D8DFBD28-D18D-65FB-25F4-FE7A8111AF43}"/>
          </ac:spMkLst>
        </pc:spChg>
        <pc:spChg chg="mod">
          <ac:chgData name="Louis-Bosch Malan" userId="67d63ac36b593411" providerId="LiveId" clId="{70063C88-AE20-4B97-A504-785602946100}" dt="2026-10-15T14:33:31.272" v="816" actId="164"/>
          <ac:spMkLst>
            <pc:docMk/>
            <pc:sldMk cId="470299514" sldId="265"/>
            <ac:spMk id="13" creationId="{10F0BF0E-C399-6255-B44C-535ABC7699B4}"/>
          </ac:spMkLst>
        </pc:spChg>
        <pc:grpChg chg="add mod">
          <ac:chgData name="Louis-Bosch Malan" userId="67d63ac36b593411" providerId="LiveId" clId="{70063C88-AE20-4B97-A504-785602946100}" dt="2026-10-15T14:33:33.946" v="817" actId="164"/>
          <ac:grpSpMkLst>
            <pc:docMk/>
            <pc:sldMk cId="470299514" sldId="265"/>
            <ac:grpSpMk id="18" creationId="{0CFEF77F-09E6-4228-666A-A31B1C1493A0}"/>
          </ac:grpSpMkLst>
        </pc:grpChg>
        <pc:grpChg chg="add mod">
          <ac:chgData name="Louis-Bosch Malan" userId="67d63ac36b593411" providerId="LiveId" clId="{70063C88-AE20-4B97-A504-785602946100}" dt="2026-10-15T14:33:33.946" v="817" actId="164"/>
          <ac:grpSpMkLst>
            <pc:docMk/>
            <pc:sldMk cId="470299514" sldId="265"/>
            <ac:grpSpMk id="19" creationId="{0AED2DB9-0CAE-D95D-702C-A87973A1AD72}"/>
          </ac:grpSpMkLst>
        </pc:grpChg>
        <pc:grpChg chg="add mod">
          <ac:chgData name="Louis-Bosch Malan" userId="67d63ac36b593411" providerId="LiveId" clId="{70063C88-AE20-4B97-A504-785602946100}" dt="2026-10-15T14:33:33.946" v="817" actId="164"/>
          <ac:grpSpMkLst>
            <pc:docMk/>
            <pc:sldMk cId="470299514" sldId="265"/>
            <ac:grpSpMk id="20" creationId="{D3F40E7E-FF2F-0D6F-AD03-EE93675436F6}"/>
          </ac:grpSpMkLst>
        </pc:grpChg>
      </pc:sldChg>
      <pc:sldChg chg="modSp mod ord">
        <pc:chgData name="Louis-Bosch Malan" userId="67d63ac36b593411" providerId="LiveId" clId="{70063C88-AE20-4B97-A504-785602946100}" dt="2026-10-14T13:10:35.122" v="144"/>
        <pc:sldMkLst>
          <pc:docMk/>
          <pc:sldMk cId="3953398529" sldId="266"/>
        </pc:sldMkLst>
        <pc:spChg chg="mod">
          <ac:chgData name="Louis-Bosch Malan" userId="67d63ac36b593411" providerId="LiveId" clId="{70063C88-AE20-4B97-A504-785602946100}" dt="2026-10-14T12:41:15.457" v="35" actId="1076"/>
          <ac:spMkLst>
            <pc:docMk/>
            <pc:sldMk cId="3953398529" sldId="266"/>
            <ac:spMk id="3" creationId="{58A9EB9A-CD6E-A840-2DB6-F8FA473D2937}"/>
          </ac:spMkLst>
        </pc:spChg>
        <pc:spChg chg="mod">
          <ac:chgData name="Louis-Bosch Malan" userId="67d63ac36b593411" providerId="LiveId" clId="{70063C88-AE20-4B97-A504-785602946100}" dt="2026-10-14T13:10:35.122" v="144"/>
          <ac:spMkLst>
            <pc:docMk/>
            <pc:sldMk cId="3953398529" sldId="266"/>
            <ac:spMk id="4" creationId="{A6C3AA60-5C2D-4952-E33F-0BA308FCF32D}"/>
          </ac:spMkLst>
        </pc:spChg>
        <pc:graphicFrameChg chg="mod modGraphic">
          <ac:chgData name="Louis-Bosch Malan" userId="67d63ac36b593411" providerId="LiveId" clId="{70063C88-AE20-4B97-A504-785602946100}" dt="2026-10-14T13:08:10.318" v="105" actId="207"/>
          <ac:graphicFrameMkLst>
            <pc:docMk/>
            <pc:sldMk cId="3953398529" sldId="266"/>
            <ac:graphicFrameMk id="6" creationId="{7E3E5BF2-17AD-4EFA-81FF-69BDC369ADEE}"/>
          </ac:graphicFrameMkLst>
        </pc:graphicFrameChg>
      </pc:sldChg>
      <pc:sldChg chg="addSp delSp modSp mod setBg">
        <pc:chgData name="Louis-Bosch Malan" userId="67d63ac36b593411" providerId="LiveId" clId="{70063C88-AE20-4B97-A504-785602946100}" dt="2026-10-14T13:20:17.042" v="150"/>
        <pc:sldMkLst>
          <pc:docMk/>
          <pc:sldMk cId="1805372522" sldId="268"/>
        </pc:sldMkLst>
        <pc:spChg chg="add del mod">
          <ac:chgData name="Louis-Bosch Malan" userId="67d63ac36b593411" providerId="LiveId" clId="{70063C88-AE20-4B97-A504-785602946100}" dt="2026-10-14T13:19:43.791" v="149"/>
          <ac:spMkLst>
            <pc:docMk/>
            <pc:sldMk cId="1805372522" sldId="268"/>
            <ac:spMk id="2" creationId="{14663D89-E125-8A09-86BC-51309AC8B456}"/>
          </ac:spMkLst>
        </pc:spChg>
      </pc:sldChg>
      <pc:sldChg chg="modSp mod">
        <pc:chgData name="Louis-Bosch Malan" userId="67d63ac36b593411" providerId="LiveId" clId="{70063C88-AE20-4B97-A504-785602946100}" dt="2026-10-15T12:52:38.640" v="741" actId="1076"/>
        <pc:sldMkLst>
          <pc:docMk/>
          <pc:sldMk cId="2277111740" sldId="269"/>
        </pc:sldMkLst>
        <pc:picChg chg="mod">
          <ac:chgData name="Louis-Bosch Malan" userId="67d63ac36b593411" providerId="LiveId" clId="{70063C88-AE20-4B97-A504-785602946100}" dt="2026-10-15T12:52:38.640" v="741" actId="1076"/>
          <ac:picMkLst>
            <pc:docMk/>
            <pc:sldMk cId="2277111740" sldId="269"/>
            <ac:picMk id="5" creationId="{7EB7D930-7BFC-9E3E-D9CF-C54897FB9CDE}"/>
          </ac:picMkLst>
        </pc:picChg>
      </pc:sldChg>
      <pc:sldChg chg="addSp delSp modSp new del mod ord setBg chgLayout">
        <pc:chgData name="Louis-Bosch Malan" userId="67d63ac36b593411" providerId="LiveId" clId="{70063C88-AE20-4B97-A504-785602946100}" dt="2026-10-14T13:22:10.299" v="182" actId="47"/>
        <pc:sldMkLst>
          <pc:docMk/>
          <pc:sldMk cId="2386976067" sldId="270"/>
        </pc:sldMkLst>
        <pc:picChg chg="add del mod">
          <ac:chgData name="Louis-Bosch Malan" userId="67d63ac36b593411" providerId="LiveId" clId="{70063C88-AE20-4B97-A504-785602946100}" dt="2026-10-14T13:21:16.908" v="170" actId="21"/>
          <ac:picMkLst>
            <pc:docMk/>
            <pc:sldMk cId="2386976067" sldId="270"/>
            <ac:picMk id="3" creationId="{E8C5DF00-AE87-29E3-6ED9-1CA5070815BA}"/>
          </ac:picMkLst>
        </pc:picChg>
      </pc:sldChg>
      <pc:sldChg chg="addSp delSp modSp add mod">
        <pc:chgData name="Louis-Bosch Malan" userId="67d63ac36b593411" providerId="LiveId" clId="{70063C88-AE20-4B97-A504-785602946100}" dt="2026-10-15T14:37:14.171" v="818" actId="1076"/>
        <pc:sldMkLst>
          <pc:docMk/>
          <pc:sldMk cId="3963933616" sldId="271"/>
        </pc:sldMkLst>
        <pc:spChg chg="add mod">
          <ac:chgData name="Louis-Bosch Malan" userId="67d63ac36b593411" providerId="LiveId" clId="{70063C88-AE20-4B97-A504-785602946100}" dt="2026-10-15T09:38:33.950" v="437" actId="122"/>
          <ac:spMkLst>
            <pc:docMk/>
            <pc:sldMk cId="3963933616" sldId="271"/>
            <ac:spMk id="21" creationId="{66360FBA-9C9C-1471-5267-EDB65B380485}"/>
          </ac:spMkLst>
        </pc:spChg>
        <pc:spChg chg="add mod">
          <ac:chgData name="Louis-Bosch Malan" userId="67d63ac36b593411" providerId="LiveId" clId="{70063C88-AE20-4B97-A504-785602946100}" dt="2026-10-15T09:38:56.455" v="453" actId="122"/>
          <ac:spMkLst>
            <pc:docMk/>
            <pc:sldMk cId="3963933616" sldId="271"/>
            <ac:spMk id="23" creationId="{51F80270-6DF2-C878-0B6C-5A3C5B7B145E}"/>
          </ac:spMkLst>
        </pc:spChg>
        <pc:picChg chg="del">
          <ac:chgData name="Louis-Bosch Malan" userId="67d63ac36b593411" providerId="LiveId" clId="{70063C88-AE20-4B97-A504-785602946100}" dt="2026-10-14T13:21:19.269" v="171" actId="478"/>
          <ac:picMkLst>
            <pc:docMk/>
            <pc:sldMk cId="3963933616" sldId="271"/>
            <ac:picMk id="3" creationId="{6EFD4150-55C2-AFA9-4CC8-691DD7DB4B70}"/>
          </ac:picMkLst>
        </pc:picChg>
        <pc:picChg chg="add del mod ord">
          <ac:chgData name="Louis-Bosch Malan" userId="67d63ac36b593411" providerId="LiveId" clId="{70063C88-AE20-4B97-A504-785602946100}" dt="2026-10-15T09:34:04.504" v="394" actId="478"/>
          <ac:picMkLst>
            <pc:docMk/>
            <pc:sldMk cId="3963933616" sldId="271"/>
            <ac:picMk id="4" creationId="{B6F36709-3FA0-E6E0-C07A-D481D8389907}"/>
          </ac:picMkLst>
        </pc:picChg>
        <pc:picChg chg="add del mod">
          <ac:chgData name="Louis-Bosch Malan" userId="67d63ac36b593411" providerId="LiveId" clId="{70063C88-AE20-4B97-A504-785602946100}" dt="2026-10-15T09:37:27.432" v="406" actId="478"/>
          <ac:picMkLst>
            <pc:docMk/>
            <pc:sldMk cId="3963933616" sldId="271"/>
            <ac:picMk id="7" creationId="{BFE0D3C4-BD1B-7FFA-7580-1494B2E9AEA7}"/>
          </ac:picMkLst>
        </pc:picChg>
        <pc:picChg chg="add mod">
          <ac:chgData name="Louis-Bosch Malan" userId="67d63ac36b593411" providerId="LiveId" clId="{70063C88-AE20-4B97-A504-785602946100}" dt="2026-10-15T14:37:14.171" v="818" actId="1076"/>
          <ac:picMkLst>
            <pc:docMk/>
            <pc:sldMk cId="3963933616" sldId="271"/>
            <ac:picMk id="13" creationId="{5C0EE877-B818-425D-A7A1-99C7311DBBD0}"/>
          </ac:picMkLst>
        </pc:picChg>
        <pc:picChg chg="add mod">
          <ac:chgData name="Louis-Bosch Malan" userId="67d63ac36b593411" providerId="LiveId" clId="{70063C88-AE20-4B97-A504-785602946100}" dt="2026-10-15T09:37:49.364" v="411" actId="14100"/>
          <ac:picMkLst>
            <pc:docMk/>
            <pc:sldMk cId="3963933616" sldId="271"/>
            <ac:picMk id="20" creationId="{5EBB18A5-7CDE-B32A-8C6D-FADE340F3F84}"/>
          </ac:picMkLst>
        </pc:picChg>
        <pc:inkChg chg="add">
          <ac:chgData name="Louis-Bosch Malan" userId="67d63ac36b593411" providerId="LiveId" clId="{70063C88-AE20-4B97-A504-785602946100}" dt="2026-10-15T09:35:08.682" v="402" actId="9405"/>
          <ac:inkMkLst>
            <pc:docMk/>
            <pc:sldMk cId="3963933616" sldId="271"/>
            <ac:inkMk id="15" creationId="{0289BDB4-814B-6CE2-43D1-0003F9D61561}"/>
          </ac:inkMkLst>
        </pc:inkChg>
        <pc:inkChg chg="add">
          <ac:chgData name="Louis-Bosch Malan" userId="67d63ac36b593411" providerId="LiveId" clId="{70063C88-AE20-4B97-A504-785602946100}" dt="2026-10-15T09:37:17.278" v="403" actId="9405"/>
          <ac:inkMkLst>
            <pc:docMk/>
            <pc:sldMk cId="3963933616" sldId="271"/>
            <ac:inkMk id="17" creationId="{53FB1681-3776-BB67-28A3-465F4A6A1A72}"/>
          </ac:inkMkLst>
        </pc:inkChg>
        <pc:inkChg chg="add">
          <ac:chgData name="Louis-Bosch Malan" userId="67d63ac36b593411" providerId="LiveId" clId="{70063C88-AE20-4B97-A504-785602946100}" dt="2026-10-15T09:37:19.814" v="404" actId="9405"/>
          <ac:inkMkLst>
            <pc:docMk/>
            <pc:sldMk cId="3963933616" sldId="271"/>
            <ac:inkMk id="18" creationId="{C8F75C70-35D2-065D-D921-0DD6C98448EE}"/>
          </ac:inkMkLst>
        </pc:inkChg>
      </pc:sldChg>
      <pc:sldChg chg="addSp delSp modSp new mod">
        <pc:chgData name="Louis-Bosch Malan" userId="67d63ac36b593411" providerId="LiveId" clId="{70063C88-AE20-4B97-A504-785602946100}" dt="2026-10-15T12:40:21.192" v="740"/>
        <pc:sldMkLst>
          <pc:docMk/>
          <pc:sldMk cId="4038099351" sldId="272"/>
        </pc:sldMkLst>
        <pc:spChg chg="add mod">
          <ac:chgData name="Louis-Bosch Malan" userId="67d63ac36b593411" providerId="LiveId" clId="{70063C88-AE20-4B97-A504-785602946100}" dt="2026-10-15T12:31:04.691" v="489" actId="20577"/>
          <ac:spMkLst>
            <pc:docMk/>
            <pc:sldMk cId="4038099351" sldId="272"/>
            <ac:spMk id="5" creationId="{03A4D7EE-1E27-2A9D-20DF-F8E5F7CACF3A}"/>
          </ac:spMkLst>
        </pc:spChg>
        <pc:spChg chg="add mod">
          <ac:chgData name="Louis-Bosch Malan" userId="67d63ac36b593411" providerId="LiveId" clId="{70063C88-AE20-4B97-A504-785602946100}" dt="2026-10-15T12:31:59.007" v="539" actId="20577"/>
          <ac:spMkLst>
            <pc:docMk/>
            <pc:sldMk cId="4038099351" sldId="272"/>
            <ac:spMk id="6" creationId="{48210EE2-CDFE-CCFA-4EA2-8B1013656BA0}"/>
          </ac:spMkLst>
        </pc:spChg>
        <pc:spChg chg="add mod">
          <ac:chgData name="Louis-Bosch Malan" userId="67d63ac36b593411" providerId="LiveId" clId="{70063C88-AE20-4B97-A504-785602946100}" dt="2026-10-15T12:32:20.041" v="551" actId="20577"/>
          <ac:spMkLst>
            <pc:docMk/>
            <pc:sldMk cId="4038099351" sldId="272"/>
            <ac:spMk id="8" creationId="{194EDD2A-35D0-C9E7-DE30-ED912E2EA6E6}"/>
          </ac:spMkLst>
        </pc:spChg>
        <pc:spChg chg="add mod">
          <ac:chgData name="Louis-Bosch Malan" userId="67d63ac36b593411" providerId="LiveId" clId="{70063C88-AE20-4B97-A504-785602946100}" dt="2026-10-15T12:40:13.101" v="737" actId="1076"/>
          <ac:spMkLst>
            <pc:docMk/>
            <pc:sldMk cId="4038099351" sldId="272"/>
            <ac:spMk id="10" creationId="{DB2C5CBF-59D3-9024-EE82-5041588A032F}"/>
          </ac:spMkLst>
        </pc:spChg>
        <pc:spChg chg="add mod">
          <ac:chgData name="Louis-Bosch Malan" userId="67d63ac36b593411" providerId="LiveId" clId="{70063C88-AE20-4B97-A504-785602946100}" dt="2026-10-15T12:40:09.818" v="736" actId="1076"/>
          <ac:spMkLst>
            <pc:docMk/>
            <pc:sldMk cId="4038099351" sldId="272"/>
            <ac:spMk id="12" creationId="{556C0230-5268-3BC3-D45A-50687123AD4D}"/>
          </ac:spMkLst>
        </pc:spChg>
        <pc:spChg chg="add del mod">
          <ac:chgData name="Louis-Bosch Malan" userId="67d63ac36b593411" providerId="LiveId" clId="{70063C88-AE20-4B97-A504-785602946100}" dt="2026-10-15T12:40:05.286" v="735" actId="1076"/>
          <ac:spMkLst>
            <pc:docMk/>
            <pc:sldMk cId="4038099351" sldId="272"/>
            <ac:spMk id="14" creationId="{B5AD2F4C-AFB5-9548-86AE-53230AFC4569}"/>
          </ac:spMkLst>
        </pc:spChg>
        <pc:spChg chg="add del">
          <ac:chgData name="Louis-Bosch Malan" userId="67d63ac36b593411" providerId="LiveId" clId="{70063C88-AE20-4B97-A504-785602946100}" dt="2026-10-15T12:35:14.569" v="631" actId="22"/>
          <ac:spMkLst>
            <pc:docMk/>
            <pc:sldMk cId="4038099351" sldId="272"/>
            <ac:spMk id="16" creationId="{5D144212-F56D-6CBB-AEF2-4DED17563381}"/>
          </ac:spMkLst>
        </pc:spChg>
        <pc:spChg chg="add mod">
          <ac:chgData name="Louis-Bosch Malan" userId="67d63ac36b593411" providerId="LiveId" clId="{70063C88-AE20-4B97-A504-785602946100}" dt="2026-10-15T12:37:02.031" v="727" actId="14100"/>
          <ac:spMkLst>
            <pc:docMk/>
            <pc:sldMk cId="4038099351" sldId="272"/>
            <ac:spMk id="18" creationId="{FB892E6D-D6CA-14C3-39EC-174E41E10A2E}"/>
          </ac:spMkLst>
        </pc:spChg>
        <pc:spChg chg="add del mod">
          <ac:chgData name="Louis-Bosch Malan" userId="67d63ac36b593411" providerId="LiveId" clId="{70063C88-AE20-4B97-A504-785602946100}" dt="2026-10-15T12:40:21.192" v="740"/>
          <ac:spMkLst>
            <pc:docMk/>
            <pc:sldMk cId="4038099351" sldId="272"/>
            <ac:spMk id="21" creationId="{043BE83B-DF02-B9C5-FF64-29CCAC03CDE8}"/>
          </ac:spMkLst>
        </pc:spChg>
        <pc:picChg chg="add del">
          <ac:chgData name="Louis-Bosch Malan" userId="67d63ac36b593411" providerId="LiveId" clId="{70063C88-AE20-4B97-A504-785602946100}" dt="2026-10-15T12:30:35.351" v="456" actId="478"/>
          <ac:picMkLst>
            <pc:docMk/>
            <pc:sldMk cId="4038099351" sldId="272"/>
            <ac:picMk id="3" creationId="{9A8F5AAE-DB91-6B68-8C30-8F241BE78E71}"/>
          </ac:picMkLst>
        </pc:picChg>
        <pc:picChg chg="add mod">
          <ac:chgData name="Louis-Bosch Malan" userId="67d63ac36b593411" providerId="LiveId" clId="{70063C88-AE20-4B97-A504-785602946100}" dt="2026-10-15T12:40:02.516" v="734" actId="1076"/>
          <ac:picMkLst>
            <pc:docMk/>
            <pc:sldMk cId="4038099351" sldId="272"/>
            <ac:picMk id="20" creationId="{559B1641-F00E-0F26-BF79-E002F2DC240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192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Opening: This presentation reviews a multiple linear regression model that predicts </a:t>
            </a:r>
            <a:r>
              <a:rPr dirty="0" err="1"/>
              <a:t>IntRate</a:t>
            </a:r>
            <a:r>
              <a:rPr dirty="0"/>
              <a:t> using borrower and loan characteristics. The focus is not only on fit, but also on interpretation, validation and responsible use in credit-risk decisions. Add your name, course or </a:t>
            </a:r>
            <a:r>
              <a:rPr dirty="0" err="1"/>
              <a:t>organisation</a:t>
            </a:r>
            <a:r>
              <a:rPr dirty="0"/>
              <a:t>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4400" dirty="0"/>
              <a:t>Explain that </a:t>
            </a:r>
            <a:r>
              <a:rPr lang="en-GB" sz="4400" dirty="0"/>
              <a:t>interest rate</a:t>
            </a:r>
            <a:r>
              <a:rPr sz="4400" dirty="0"/>
              <a:t> is the target variable. DTI, </a:t>
            </a:r>
            <a:r>
              <a:rPr sz="4400" dirty="0" err="1"/>
              <a:t>HistLen</a:t>
            </a:r>
            <a:r>
              <a:rPr sz="4400" dirty="0"/>
              <a:t> and Age are numerical predictors; </a:t>
            </a:r>
            <a:r>
              <a:rPr sz="4400" dirty="0" err="1"/>
              <a:t>EmpStatus</a:t>
            </a:r>
            <a:r>
              <a:rPr sz="4400" dirty="0"/>
              <a:t>, </a:t>
            </a:r>
            <a:r>
              <a:rPr sz="4400" dirty="0" err="1"/>
              <a:t>HomeOwn</a:t>
            </a:r>
            <a:r>
              <a:rPr sz="4400" dirty="0"/>
              <a:t> and Purpose are categorical predictors represented by indicator variables. The model uses 8,004 observations. </a:t>
            </a:r>
            <a:endParaRPr sz="2800"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ZA" dirty="0"/>
          </a:p>
        </p:txBody>
      </p:sp>
    </p:spTree>
    <p:extLst>
      <p:ext uri="{BB962C8B-B14F-4D97-AF65-F5344CB8AC3E}">
        <p14:creationId xmlns:p14="http://schemas.microsoft.com/office/powerpoint/2010/main" val="1213700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that R-squared is the proportion of observed variation accounted for by the fitted model in this dataset. Adjusted R-squared is similar, which suggests the reported fit remains high after accounting for the number of predictors. The F-statistic tests whether the explanatory variables are jointly useful compared with an intercept-only model. The printed p-value of 0.00 is rounding, not a literal probability of zero. High in-sample R-squared does not establish performance on new borrowers.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E1319-DA81-B445-8839-5CD9BBF2A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A6068-AD45-A927-78BA-18D256C4D8C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F044E8A-77EE-5682-4445-BEC6963BAE1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58A3033-C6A3-5DEA-DDFE-B23B1C22DD9F}"/>
              </a:ext>
            </a:extLst>
          </p:cNvPr>
          <p:cNvSpPr>
            <a:spLocks noGrp="1"/>
          </p:cNvSpPr>
          <p:nvPr>
            <p:ph type="sldNum" sz="quarter" idx="5"/>
          </p:nvPr>
        </p:nvSpPr>
        <p:spPr/>
      </p:sp>
    </p:spTree>
    <p:extLst>
      <p:ext uri="{BB962C8B-B14F-4D97-AF65-F5344CB8AC3E}">
        <p14:creationId xmlns:p14="http://schemas.microsoft.com/office/powerpoint/2010/main" val="3713857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average error of about 1.043 and maximum error of 7.12 were previously reported, but the exact error definition has not been confirmed. Do not label 1.043 as MAE unless it was calculated as the mean absolute error. The 5,004 count is about 62.5% of 8,004, assuming the count truly refers to absolute errors below one. These figures should be checked against code. The Shapiro–Wilk result is relevant only if it was applied to residuals; if it was applied to the raw target, rerun it on </a:t>
            </a:r>
            <a:r>
              <a:rPr dirty="0" err="1"/>
              <a:t>model_sign.resid</a:t>
            </a:r>
            <a:r>
              <a:rPr dirty="0"/>
              <a:t>. With 8,004 cases, use a Q–Q plot and residuals-versus-fitted plot alongside formal tests. No actual diagnostic plot is included here because the residual-level data were not provided.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40BCD-3788-1988-D48F-1C5CEC45D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7327DE-7226-6D44-3440-1CABAF82681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76F4A47-70F0-190D-CC64-C1772656BF54}"/>
              </a:ext>
            </a:extLst>
          </p:cNvPr>
          <p:cNvSpPr>
            <a:spLocks noGrp="1"/>
          </p:cNvSpPr>
          <p:nvPr>
            <p:ph type="body" sz="quarter" idx="3"/>
          </p:nvPr>
        </p:nvSpPr>
        <p:spPr/>
        <p:txBody>
          <a:bodyPr/>
          <a:lstStyle/>
          <a:p>
            <a:r>
              <a:rPr dirty="0"/>
              <a:t>The average error of about 1.043 and maximum error of 7.12 were previously reported, but the exact error definition has not been confirmed. Do not label 1.043 as MAE unless it was calculated as the mean absolute error. The 5,004 count is about 62.5% of 8,004, assuming the count truly refers to absolute errors below one. These figures should be checked against code. The Shapiro–Wilk result is relevant only if it was applied to residuals; if it was applied to the raw target, rerun it on </a:t>
            </a:r>
            <a:r>
              <a:rPr dirty="0" err="1"/>
              <a:t>model_sign.resid</a:t>
            </a:r>
            <a:r>
              <a:rPr dirty="0"/>
              <a:t>. With 8,004 cases, use a Q–Q plot and residuals-versus-fitted plot alongside formal tests. No actual diagnostic plot is included here because the residual-level data were not provided.</a:t>
            </a:r>
          </a:p>
        </p:txBody>
      </p:sp>
      <p:sp>
        <p:nvSpPr>
          <p:cNvPr id="4" name="Slide Number Placeholder 3">
            <a:extLst>
              <a:ext uri="{FF2B5EF4-FFF2-40B4-BE49-F238E27FC236}">
                <a16:creationId xmlns:a16="http://schemas.microsoft.com/office/drawing/2014/main" id="{CE20E91A-CCC2-829F-6B8F-9724C64CEECA}"/>
              </a:ext>
            </a:extLst>
          </p:cNvPr>
          <p:cNvSpPr>
            <a:spLocks noGrp="1"/>
          </p:cNvSpPr>
          <p:nvPr>
            <p:ph type="sldNum" sz="quarter" idx="5"/>
          </p:nvPr>
        </p:nvSpPr>
        <p:spPr/>
      </p:sp>
    </p:spTree>
    <p:extLst>
      <p:ext uri="{BB962C8B-B14F-4D97-AF65-F5344CB8AC3E}">
        <p14:creationId xmlns:p14="http://schemas.microsoft.com/office/powerpoint/2010/main" val="637506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distinguishing statistical fit from a production-ready credit-risk model. Before deployment, use a proper train/test split or cross-validation, compare baseline models, report MAE and RMSE on unseen data, inspect residual assumptions and influential cases, and conduct appropriate fairness and governance checks. The model should support—not replace—policy, regulatory, affordability and human review. Avoid making a claim that the model should set actual loan rates without further validation.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23B"/>
        </a:solidFill>
        <a:effectLst/>
      </p:bgPr>
    </p:bg>
    <p:spTree>
      <p:nvGrpSpPr>
        <p:cNvPr id="1" name=""/>
        <p:cNvGrpSpPr/>
        <p:nvPr/>
      </p:nvGrpSpPr>
      <p:grpSpPr>
        <a:xfrm>
          <a:off x="0" y="0"/>
          <a:ext cx="0" cy="0"/>
          <a:chOff x="0" y="0"/>
          <a:chExt cx="0" cy="0"/>
        </a:xfrm>
      </p:grpSpPr>
      <p:sp>
        <p:nvSpPr>
          <p:cNvPr id="2" name="Rectangle 2"/>
          <p:cNvSpPr/>
          <p:nvPr/>
        </p:nvSpPr>
        <p:spPr>
          <a:xfrm>
            <a:off x="0" y="0"/>
            <a:ext cx="201168" cy="6858000"/>
          </a:xfrm>
          <a:prstGeom prst="rect">
            <a:avLst/>
          </a:prstGeom>
          <a:solidFill>
            <a:srgbClr val="1D9E93"/>
          </a:solidFill>
          <a:ln>
            <a:noFill/>
          </a:ln>
        </p:spPr>
        <p:txBody>
          <a:bodyPr rtlCol="0" anchor="ctr"/>
          <a:lstStyle/>
          <a:p>
            <a:pPr algn="ctr"/>
            <a:endParaRPr lang="en-ZA"/>
          </a:p>
        </p:txBody>
      </p:sp>
      <p:sp>
        <p:nvSpPr>
          <p:cNvPr id="3" name="Rectangle 3"/>
          <p:cNvSpPr/>
          <p:nvPr/>
        </p:nvSpPr>
        <p:spPr>
          <a:xfrm>
            <a:off x="822960" y="1024128"/>
            <a:ext cx="914400" cy="109728"/>
          </a:xfrm>
          <a:prstGeom prst="rect">
            <a:avLst/>
          </a:prstGeom>
          <a:solidFill>
            <a:srgbClr val="EFB44B"/>
          </a:solidFill>
          <a:ln>
            <a:noFill/>
          </a:ln>
        </p:spPr>
        <p:txBody>
          <a:bodyPr rtlCol="0" anchor="ctr"/>
          <a:lstStyle/>
          <a:p>
            <a:pPr algn="ctr"/>
            <a:endParaRPr lang="en-ZA"/>
          </a:p>
        </p:txBody>
      </p:sp>
      <p:sp>
        <p:nvSpPr>
          <p:cNvPr id="4" name="Title 4"/>
          <p:cNvSpPr txBox="1"/>
          <p:nvPr/>
        </p:nvSpPr>
        <p:spPr>
          <a:xfrm>
            <a:off x="822960" y="1444752"/>
            <a:ext cx="10241280" cy="1371600"/>
          </a:xfrm>
          <a:prstGeom prst="rect">
            <a:avLst/>
          </a:prstGeom>
          <a:noFill/>
        </p:spPr>
        <p:txBody>
          <a:bodyPr wrap="square" lIns="27432" tIns="27432" rIns="27432" bIns="27432" anchor="t">
            <a:noAutofit/>
          </a:bodyPr>
          <a:lstStyle/>
          <a:p>
            <a:pPr algn="l">
              <a:spcAft>
                <a:spcPts val="700"/>
              </a:spcAft>
              <a:buNone/>
            </a:pPr>
            <a:r>
              <a:rPr lang="en-ZA" sz="3600" b="1" i="0" dirty="0">
                <a:solidFill>
                  <a:srgbClr val="FFFFFF"/>
                </a:solidFill>
                <a:latin typeface="Aptos"/>
              </a:rPr>
              <a:t>PREDICTING INTEREST RATES</a:t>
            </a:r>
          </a:p>
          <a:p>
            <a:pPr algn="l">
              <a:spcAft>
                <a:spcPts val="700"/>
              </a:spcAft>
              <a:buNone/>
            </a:pPr>
            <a:r>
              <a:rPr lang="en-ZA" sz="3600" b="1" i="0" dirty="0">
                <a:solidFill>
                  <a:srgbClr val="FFFFFF"/>
                </a:solidFill>
                <a:latin typeface="Aptos"/>
              </a:rPr>
              <a:t>WITH LINEAR REGRESSION</a:t>
            </a:r>
          </a:p>
        </p:txBody>
      </p:sp>
      <p:sp>
        <p:nvSpPr>
          <p:cNvPr id="5" name="Subtitle 5"/>
          <p:cNvSpPr txBox="1"/>
          <p:nvPr/>
        </p:nvSpPr>
        <p:spPr>
          <a:xfrm>
            <a:off x="868680" y="3703320"/>
            <a:ext cx="8778240" cy="548640"/>
          </a:xfrm>
          <a:prstGeom prst="rect">
            <a:avLst/>
          </a:prstGeom>
          <a:noFill/>
        </p:spPr>
        <p:txBody>
          <a:bodyPr wrap="square" lIns="27432" tIns="27432" rIns="27432" bIns="27432" anchor="t">
            <a:noAutofit/>
          </a:bodyPr>
          <a:lstStyle/>
          <a:p>
            <a:pPr algn="l">
              <a:spcAft>
                <a:spcPts val="700"/>
              </a:spcAft>
              <a:buNone/>
            </a:pPr>
            <a:r>
              <a:rPr lang="en-ZA" sz="2200" b="0" i="0" dirty="0">
                <a:solidFill>
                  <a:srgbClr val="CAD8E7"/>
                </a:solidFill>
                <a:latin typeface="Aptos"/>
              </a:rPr>
              <a:t>Model results, key drivers, prediction performance and limitations</a:t>
            </a:r>
          </a:p>
        </p:txBody>
      </p:sp>
      <p:sp>
        <p:nvSpPr>
          <p:cNvPr id="6" name="TextBox 6"/>
          <p:cNvSpPr txBox="1"/>
          <p:nvPr/>
        </p:nvSpPr>
        <p:spPr>
          <a:xfrm>
            <a:off x="868680" y="5120640"/>
            <a:ext cx="7315200" cy="365760"/>
          </a:xfrm>
          <a:prstGeom prst="rect">
            <a:avLst/>
          </a:prstGeom>
          <a:noFill/>
        </p:spPr>
        <p:txBody>
          <a:bodyPr wrap="square" lIns="27432" tIns="27432" rIns="27432" bIns="27432" anchor="t">
            <a:noAutofit/>
          </a:bodyPr>
          <a:lstStyle/>
          <a:p>
            <a:pPr algn="l">
              <a:spcAft>
                <a:spcPts val="700"/>
              </a:spcAft>
              <a:buNone/>
            </a:pPr>
            <a:r>
              <a:rPr lang="en-ZA" sz="1600" b="0" i="0" dirty="0">
                <a:solidFill>
                  <a:srgbClr val="FFFFFF"/>
                </a:solidFill>
                <a:latin typeface="Aptos"/>
              </a:rPr>
              <a:t>Python • Spyder • Statsmodels</a:t>
            </a:r>
          </a:p>
        </p:txBody>
      </p:sp>
      <p:sp>
        <p:nvSpPr>
          <p:cNvPr id="7" name="TextBox 7"/>
          <p:cNvSpPr txBox="1"/>
          <p:nvPr/>
        </p:nvSpPr>
        <p:spPr>
          <a:xfrm>
            <a:off x="868680" y="6263640"/>
            <a:ext cx="7315200" cy="228600"/>
          </a:xfrm>
          <a:prstGeom prst="rect">
            <a:avLst/>
          </a:prstGeom>
          <a:noFill/>
        </p:spPr>
        <p:txBody>
          <a:bodyPr wrap="square" lIns="27432" tIns="27432" rIns="27432" bIns="27432" anchor="t">
            <a:noAutofit/>
          </a:bodyPr>
          <a:lstStyle/>
          <a:p>
            <a:pPr algn="l">
              <a:spcAft>
                <a:spcPts val="700"/>
              </a:spcAft>
              <a:buNone/>
            </a:pPr>
            <a:r>
              <a:rPr lang="en-ZA" sz="1000" b="1" i="0" dirty="0">
                <a:solidFill>
                  <a:srgbClr val="A0B8CD"/>
                </a:solidFill>
                <a:latin typeface="Aptos"/>
              </a:rPr>
              <a:t>BUSINESS &amp; CREDIT RISK ANALYTICS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1695" cy="118872"/>
          </a:xfrm>
          <a:prstGeom prst="rect">
            <a:avLst/>
          </a:prstGeom>
          <a:solidFill>
            <a:srgbClr val="1D9E93"/>
          </a:solidFill>
          <a:ln>
            <a:noFill/>
          </a:ln>
        </p:spPr>
        <p:txBody>
          <a:bodyPr rtlCol="0" anchor="ctr"/>
          <a:lstStyle/>
          <a:p>
            <a:pPr algn="ctr"/>
            <a:endParaRPr lang="en-ZA"/>
          </a:p>
        </p:txBody>
      </p:sp>
      <p:sp>
        <p:nvSpPr>
          <p:cNvPr id="3" name="Title 3"/>
          <p:cNvSpPr txBox="1"/>
          <p:nvPr/>
        </p:nvSpPr>
        <p:spPr>
          <a:xfrm>
            <a:off x="621792" y="384048"/>
            <a:ext cx="10927080" cy="594360"/>
          </a:xfrm>
          <a:prstGeom prst="rect">
            <a:avLst/>
          </a:prstGeom>
          <a:noFill/>
        </p:spPr>
        <p:txBody>
          <a:bodyPr wrap="square" lIns="27432" tIns="27432" rIns="27432" bIns="27432" anchor="t">
            <a:noAutofit/>
          </a:bodyPr>
          <a:lstStyle/>
          <a:p>
            <a:pPr algn="l">
              <a:spcAft>
                <a:spcPts val="0"/>
              </a:spcAft>
              <a:buNone/>
            </a:pPr>
            <a:r>
              <a:rPr lang="en-ZA" sz="2900" b="1" i="0" dirty="0">
                <a:solidFill>
                  <a:srgbClr val="14223B"/>
                </a:solidFill>
                <a:latin typeface="Aptos"/>
              </a:rPr>
              <a:t>Business question &amp; model setup</a:t>
            </a:r>
          </a:p>
        </p:txBody>
      </p:sp>
      <p:sp>
        <p:nvSpPr>
          <p:cNvPr id="4" name="Subtitle 4"/>
          <p:cNvSpPr txBox="1"/>
          <p:nvPr/>
        </p:nvSpPr>
        <p:spPr>
          <a:xfrm>
            <a:off x="731520" y="952255"/>
            <a:ext cx="10698480" cy="502920"/>
          </a:xfrm>
          <a:prstGeom prst="rect">
            <a:avLst/>
          </a:prstGeom>
          <a:noFill/>
        </p:spPr>
        <p:txBody>
          <a:bodyPr wrap="square" lIns="27432" tIns="27432" rIns="27432" bIns="27432" anchor="t">
            <a:noAutofit/>
          </a:bodyPr>
          <a:lstStyle/>
          <a:p>
            <a:pPr algn="l">
              <a:spcAft>
                <a:spcPts val="0"/>
              </a:spcAft>
              <a:buNone/>
            </a:pPr>
            <a:r>
              <a:rPr lang="en-ZA" sz="2000" b="0" i="0" dirty="0">
                <a:solidFill>
                  <a:srgbClr val="283343"/>
                </a:solidFill>
                <a:latin typeface="Aptos"/>
              </a:rPr>
              <a:t>What are we trying to estimate?</a:t>
            </a:r>
          </a:p>
        </p:txBody>
      </p:sp>
      <p:sp>
        <p:nvSpPr>
          <p:cNvPr id="5" name="Footer 5"/>
          <p:cNvSpPr txBox="1"/>
          <p:nvPr/>
        </p:nvSpPr>
        <p:spPr>
          <a:xfrm>
            <a:off x="640080" y="6510528"/>
            <a:ext cx="8046720" cy="182880"/>
          </a:xfrm>
          <a:prstGeom prst="rect">
            <a:avLst/>
          </a:prstGeom>
          <a:noFill/>
        </p:spPr>
        <p:txBody>
          <a:bodyPr wrap="square" lIns="27432" tIns="27432" rIns="27432" bIns="27432" anchor="t">
            <a:noAutofit/>
          </a:bodyPr>
          <a:lstStyle/>
          <a:p>
            <a:pPr algn="l">
              <a:spcAft>
                <a:spcPts val="0"/>
              </a:spcAft>
              <a:buNone/>
            </a:pPr>
            <a:r>
              <a:rPr lang="en-ZA" sz="900" b="1" i="0" dirty="0">
                <a:solidFill>
                  <a:srgbClr val="647182"/>
                </a:solidFill>
                <a:latin typeface="Aptos"/>
              </a:rPr>
              <a:t>01  |  OBJECTIVE</a:t>
            </a:r>
          </a:p>
        </p:txBody>
      </p:sp>
      <p:sp>
        <p:nvSpPr>
          <p:cNvPr id="6" name="Page 6"/>
          <p:cNvSpPr txBox="1"/>
          <p:nvPr/>
        </p:nvSpPr>
        <p:spPr>
          <a:xfrm>
            <a:off x="11109960" y="6473952"/>
            <a:ext cx="438912" cy="219456"/>
          </a:xfrm>
          <a:prstGeom prst="rect">
            <a:avLst/>
          </a:prstGeom>
          <a:noFill/>
        </p:spPr>
        <p:txBody>
          <a:bodyPr wrap="square" lIns="27432" tIns="27432" rIns="27432" bIns="27432" anchor="t">
            <a:noAutofit/>
          </a:bodyPr>
          <a:lstStyle/>
          <a:p>
            <a:pPr algn="r">
              <a:spcAft>
                <a:spcPts val="0"/>
              </a:spcAft>
              <a:buNone/>
            </a:pPr>
            <a:r>
              <a:rPr lang="en-ZA" sz="900" b="0" i="0" dirty="0">
                <a:solidFill>
                  <a:srgbClr val="647182"/>
                </a:solidFill>
                <a:latin typeface="Aptos"/>
              </a:rPr>
              <a:t>02</a:t>
            </a:r>
          </a:p>
        </p:txBody>
      </p:sp>
      <p:sp>
        <p:nvSpPr>
          <p:cNvPr id="7" name="Rectangle 7"/>
          <p:cNvSpPr/>
          <p:nvPr/>
        </p:nvSpPr>
        <p:spPr>
          <a:xfrm>
            <a:off x="815811" y="1600000"/>
            <a:ext cx="5015709" cy="1150000"/>
          </a:xfrm>
          <a:prstGeom prst="roundRect">
            <a:avLst>
              <a:gd name="adj" fmla="val 6260"/>
            </a:avLst>
          </a:prstGeom>
          <a:solidFill>
            <a:srgbClr val="F0F5FA"/>
          </a:solidFill>
          <a:ln>
            <a:noFill/>
          </a:ln>
        </p:spPr>
        <p:txBody>
          <a:bodyPr rtlCol="0" anchor="ctr"/>
          <a:lstStyle/>
          <a:p>
            <a:pPr algn="ctr"/>
            <a:endParaRPr lang="en-ZA"/>
          </a:p>
        </p:txBody>
      </p:sp>
      <p:sp>
        <p:nvSpPr>
          <p:cNvPr id="8" name="Rectangle 8"/>
          <p:cNvSpPr/>
          <p:nvPr/>
        </p:nvSpPr>
        <p:spPr>
          <a:xfrm>
            <a:off x="731520" y="1610881"/>
            <a:ext cx="99579" cy="1128238"/>
          </a:xfrm>
          <a:prstGeom prst="roundRect">
            <a:avLst>
              <a:gd name="adj" fmla="val 12000"/>
            </a:avLst>
          </a:prstGeom>
          <a:solidFill>
            <a:srgbClr val="1D9E93"/>
          </a:solidFill>
          <a:ln>
            <a:noFill/>
          </a:ln>
        </p:spPr>
        <p:txBody>
          <a:bodyPr rtlCol="0" anchor="ctr"/>
          <a:lstStyle/>
          <a:p>
            <a:pPr algn="ctr"/>
            <a:endParaRPr lang="en-ZA"/>
          </a:p>
        </p:txBody>
      </p:sp>
      <p:sp>
        <p:nvSpPr>
          <p:cNvPr id="9" name="TextBox 9"/>
          <p:cNvSpPr txBox="1"/>
          <p:nvPr/>
        </p:nvSpPr>
        <p:spPr>
          <a:xfrm>
            <a:off x="981520" y="1690000"/>
            <a:ext cx="4700000" cy="1010000"/>
          </a:xfrm>
          <a:prstGeom prst="rect">
            <a:avLst/>
          </a:prstGeom>
          <a:noFill/>
        </p:spPr>
        <p:txBody>
          <a:bodyPr wrap="square" lIns="27432" tIns="27432" rIns="27432" bIns="27432" anchor="t">
            <a:noAutofit/>
          </a:bodyPr>
          <a:lstStyle/>
          <a:p>
            <a:pPr algn="l">
              <a:spcAft>
                <a:spcPts val="300"/>
              </a:spcAft>
              <a:buNone/>
            </a:pPr>
            <a:r>
              <a:rPr lang="en-ZA" sz="1200" b="1" i="0" cap="all" dirty="0">
                <a:solidFill>
                  <a:srgbClr val="14223B"/>
                </a:solidFill>
                <a:latin typeface="Aptos"/>
              </a:rPr>
              <a:t>TARGET</a:t>
            </a:r>
          </a:p>
          <a:p>
            <a:pPr algn="l">
              <a:spcAft>
                <a:spcPts val="0"/>
              </a:spcAft>
              <a:buNone/>
            </a:pPr>
            <a:r>
              <a:rPr lang="en-ZA" sz="2000" b="1" i="0" dirty="0">
                <a:solidFill>
                  <a:srgbClr val="14223B"/>
                </a:solidFill>
                <a:latin typeface="Aptos"/>
              </a:rPr>
              <a:t>To predict the interest rate</a:t>
            </a:r>
          </a:p>
        </p:txBody>
      </p:sp>
      <p:sp>
        <p:nvSpPr>
          <p:cNvPr id="10" name="TextBox 10"/>
          <p:cNvSpPr txBox="1"/>
          <p:nvPr/>
        </p:nvSpPr>
        <p:spPr>
          <a:xfrm>
            <a:off x="731520" y="2950000"/>
            <a:ext cx="5100000" cy="1700000"/>
          </a:xfrm>
          <a:prstGeom prst="rect">
            <a:avLst/>
          </a:prstGeom>
          <a:noFill/>
        </p:spPr>
        <p:txBody>
          <a:bodyPr wrap="square" lIns="27432" tIns="27432" rIns="27432" bIns="27432" anchor="t">
            <a:noAutofit/>
          </a:bodyPr>
          <a:lstStyle/>
          <a:p>
            <a:pPr algn="l">
              <a:spcAft>
                <a:spcPts val="0"/>
              </a:spcAft>
              <a:buNone/>
            </a:pPr>
            <a:r>
              <a:rPr lang="en-ZA" sz="1600" b="0" i="0" dirty="0">
                <a:solidFill>
                  <a:srgbClr val="283343"/>
                </a:solidFill>
                <a:latin typeface="Aptos"/>
              </a:rPr>
              <a:t>We want to see if can built a model that can predict the interest rate of our individuels.Before we use a other model to predict if the wil pay or not</a:t>
            </a:r>
          </a:p>
        </p:txBody>
      </p:sp>
      <p:sp>
        <p:nvSpPr>
          <p:cNvPr id="11" name="Rectangle 11"/>
          <p:cNvSpPr/>
          <p:nvPr/>
        </p:nvSpPr>
        <p:spPr>
          <a:xfrm>
            <a:off x="6302211" y="1600000"/>
            <a:ext cx="5173509" cy="2600000"/>
          </a:xfrm>
          <a:prstGeom prst="roundRect">
            <a:avLst>
              <a:gd name="adj" fmla="val 2769"/>
            </a:avLst>
          </a:prstGeom>
          <a:solidFill>
            <a:srgbClr val="F0F5FA"/>
          </a:solidFill>
          <a:ln>
            <a:noFill/>
          </a:ln>
        </p:spPr>
        <p:txBody>
          <a:bodyPr rtlCol="0" anchor="ctr"/>
          <a:lstStyle/>
          <a:p>
            <a:pPr algn="ctr"/>
            <a:endParaRPr lang="en-ZA"/>
          </a:p>
        </p:txBody>
      </p:sp>
      <p:sp>
        <p:nvSpPr>
          <p:cNvPr id="12" name="Rectangle 12"/>
          <p:cNvSpPr/>
          <p:nvPr/>
        </p:nvSpPr>
        <p:spPr>
          <a:xfrm>
            <a:off x="6217920" y="1610881"/>
            <a:ext cx="99579" cy="2578238"/>
          </a:xfrm>
          <a:prstGeom prst="roundRect">
            <a:avLst>
              <a:gd name="adj" fmla="val 12000"/>
            </a:avLst>
          </a:prstGeom>
          <a:solidFill>
            <a:srgbClr val="2C66A8"/>
          </a:solidFill>
          <a:ln>
            <a:noFill/>
          </a:ln>
        </p:spPr>
        <p:txBody>
          <a:bodyPr rtlCol="0" anchor="ctr"/>
          <a:lstStyle/>
          <a:p>
            <a:pPr algn="ctr"/>
            <a:endParaRPr lang="en-ZA"/>
          </a:p>
        </p:txBody>
      </p:sp>
      <p:sp>
        <p:nvSpPr>
          <p:cNvPr id="13" name="TextBox 13"/>
          <p:cNvSpPr txBox="1"/>
          <p:nvPr/>
        </p:nvSpPr>
        <p:spPr>
          <a:xfrm>
            <a:off x="6467920" y="1690000"/>
            <a:ext cx="4857800" cy="2460000"/>
          </a:xfrm>
          <a:prstGeom prst="rect">
            <a:avLst/>
          </a:prstGeom>
          <a:noFill/>
        </p:spPr>
        <p:txBody>
          <a:bodyPr wrap="square" lIns="27432" tIns="27432" rIns="27432" bIns="27432" anchor="t">
            <a:noAutofit/>
          </a:bodyPr>
          <a:lstStyle/>
          <a:p>
            <a:pPr algn="l">
              <a:spcAft>
                <a:spcPts val="300"/>
              </a:spcAft>
              <a:buNone/>
            </a:pPr>
            <a:r>
              <a:rPr lang="en-ZA" sz="1200" b="1" i="0" cap="all" dirty="0">
                <a:solidFill>
                  <a:srgbClr val="14223B"/>
                </a:solidFill>
                <a:latin typeface="Aptos"/>
              </a:rPr>
              <a:t>MODEL INPUTS</a:t>
            </a:r>
          </a:p>
          <a:p>
            <a:pPr marL="228600" indent="-228600" algn="l">
              <a:spcAft>
                <a:spcPts val="500"/>
              </a:spcAft>
              <a:buClr>
                <a:srgbClr val="1D9E93"/>
              </a:buClr>
              <a:buFont typeface="Arial"/>
              <a:buChar char="•"/>
            </a:pPr>
            <a:r>
              <a:rPr lang="en-ZA" sz="1400" b="0" i="0" dirty="0">
                <a:solidFill>
                  <a:srgbClr val="283343"/>
                </a:solidFill>
                <a:latin typeface="Aptos"/>
              </a:rPr>
              <a:t>3 Numerical variables : DTI, HistLen, Age</a:t>
            </a:r>
          </a:p>
          <a:p>
            <a:pPr marL="228600" indent="-228600" algn="l">
              <a:spcAft>
                <a:spcPts val="500"/>
              </a:spcAft>
              <a:buClr>
                <a:srgbClr val="1D9E93"/>
              </a:buClr>
              <a:buFont typeface="Arial"/>
              <a:buChar char="•"/>
            </a:pPr>
            <a:r>
              <a:rPr lang="en-ZA" sz="1400" b="0" i="0" dirty="0">
                <a:solidFill>
                  <a:srgbClr val="283343"/>
                </a:solidFill>
                <a:latin typeface="Aptos"/>
              </a:rPr>
              <a:t>3 Categorical variables: EmpStatus, HomeOwn, Purpose</a:t>
            </a:r>
          </a:p>
          <a:p>
            <a:pPr marL="228600" indent="-228600" algn="l">
              <a:spcAft>
                <a:spcPts val="500"/>
              </a:spcAft>
              <a:buClr>
                <a:srgbClr val="1D9E93"/>
              </a:buClr>
              <a:buFont typeface="Arial"/>
              <a:buChar char="•"/>
            </a:pPr>
            <a:r>
              <a:rPr lang="en-ZA" sz="1400" b="0" i="0" dirty="0">
                <a:solidFill>
                  <a:srgbClr val="283343"/>
                </a:solidFill>
                <a:latin typeface="Aptos"/>
              </a:rPr>
              <a:t>Sample: 8004 observations of our train data and 2001 observation of our test data</a:t>
            </a:r>
          </a:p>
          <a:p>
            <a:pPr marL="228600" indent="-228600" algn="l">
              <a:spcAft>
                <a:spcPts val="500"/>
              </a:spcAft>
              <a:buClr>
                <a:srgbClr val="1D9E93"/>
              </a:buClr>
              <a:buFont typeface="Arial"/>
              <a:buChar char="•"/>
            </a:pPr>
            <a:r>
              <a:rPr lang="en-ZA" sz="1400" b="0" i="0" dirty="0">
                <a:solidFill>
                  <a:srgbClr val="283343"/>
                </a:solidFill>
                <a:latin typeface="Aptos"/>
              </a:rPr>
              <a:t>Method: ordinary least squares (OLS)</a:t>
            </a:r>
          </a:p>
        </p:txBody>
      </p:sp>
      <p:sp>
        <p:nvSpPr>
          <p:cNvPr id="14" name="Rectangle 14"/>
          <p:cNvSpPr/>
          <p:nvPr/>
        </p:nvSpPr>
        <p:spPr>
          <a:xfrm>
            <a:off x="815811" y="4750000"/>
            <a:ext cx="10659909" cy="800000"/>
          </a:xfrm>
          <a:prstGeom prst="roundRect">
            <a:avLst>
              <a:gd name="adj" fmla="val 9000"/>
            </a:avLst>
          </a:prstGeom>
          <a:solidFill>
            <a:srgbClr val="F0F5FA"/>
          </a:solidFill>
          <a:ln>
            <a:noFill/>
          </a:ln>
        </p:spPr>
        <p:txBody>
          <a:bodyPr rtlCol="0" anchor="ctr"/>
          <a:lstStyle/>
          <a:p>
            <a:pPr algn="ctr"/>
            <a:endParaRPr lang="en-ZA"/>
          </a:p>
        </p:txBody>
      </p:sp>
      <p:sp>
        <p:nvSpPr>
          <p:cNvPr id="15" name="Rectangle 15"/>
          <p:cNvSpPr/>
          <p:nvPr/>
        </p:nvSpPr>
        <p:spPr>
          <a:xfrm>
            <a:off x="731520" y="4760881"/>
            <a:ext cx="99579" cy="778238"/>
          </a:xfrm>
          <a:prstGeom prst="roundRect">
            <a:avLst>
              <a:gd name="adj" fmla="val 12000"/>
            </a:avLst>
          </a:prstGeom>
          <a:solidFill>
            <a:srgbClr val="EFB44B"/>
          </a:solidFill>
          <a:ln>
            <a:noFill/>
          </a:ln>
        </p:spPr>
        <p:txBody>
          <a:bodyPr rtlCol="0" anchor="ctr"/>
          <a:lstStyle/>
          <a:p>
            <a:pPr algn="ctr"/>
            <a:endParaRPr lang="en-ZA"/>
          </a:p>
        </p:txBody>
      </p:sp>
      <p:sp>
        <p:nvSpPr>
          <p:cNvPr id="16" name="TextBox 16"/>
          <p:cNvSpPr txBox="1"/>
          <p:nvPr/>
        </p:nvSpPr>
        <p:spPr>
          <a:xfrm>
            <a:off x="981520" y="4840000"/>
            <a:ext cx="10344200" cy="660000"/>
          </a:xfrm>
          <a:prstGeom prst="rect">
            <a:avLst/>
          </a:prstGeom>
          <a:noFill/>
        </p:spPr>
        <p:txBody>
          <a:bodyPr wrap="square" lIns="27432" tIns="27432" rIns="27432" bIns="27432" anchor="t">
            <a:noAutofit/>
          </a:bodyPr>
          <a:lstStyle/>
          <a:p>
            <a:pPr algn="l">
              <a:spcAft>
                <a:spcPts val="300"/>
              </a:spcAft>
              <a:buNone/>
            </a:pPr>
            <a:r>
              <a:rPr lang="en-ZA" sz="1200" b="1" i="0" cap="all" dirty="0">
                <a:solidFill>
                  <a:srgbClr val="14223B"/>
                </a:solidFill>
                <a:latin typeface="Aptos"/>
              </a:rPr>
              <a:t>Note</a:t>
            </a:r>
          </a:p>
          <a:p>
            <a:pPr algn="l">
              <a:spcAft>
                <a:spcPts val="0"/>
              </a:spcAft>
              <a:buNone/>
            </a:pPr>
            <a:r>
              <a:rPr lang="en-ZA" sz="1400" b="0" i="0" dirty="0">
                <a:solidFill>
                  <a:srgbClr val="283343"/>
                </a:solidFill>
                <a:latin typeface="Aptos"/>
              </a:rPr>
              <a:t>Interpretation is conditional: coefficients describe associations while the other included predictors are held constant.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1695" cy="118872"/>
          </a:xfrm>
          <a:prstGeom prst="rect">
            <a:avLst/>
          </a:prstGeom>
          <a:solidFill>
            <a:srgbClr val="1D9E93"/>
          </a:solidFill>
          <a:ln>
            <a:noFill/>
          </a:ln>
        </p:spPr>
        <p:txBody>
          <a:bodyPr rtlCol="0" anchor="ctr"/>
          <a:lstStyle/>
          <a:p>
            <a:pPr algn="ctr"/>
            <a:endParaRPr lang="en-ZA"/>
          </a:p>
        </p:txBody>
      </p:sp>
      <p:sp>
        <p:nvSpPr>
          <p:cNvPr id="3" name="Title 3"/>
          <p:cNvSpPr txBox="1"/>
          <p:nvPr/>
        </p:nvSpPr>
        <p:spPr>
          <a:xfrm>
            <a:off x="621792" y="384048"/>
            <a:ext cx="10927080" cy="594360"/>
          </a:xfrm>
          <a:prstGeom prst="rect">
            <a:avLst/>
          </a:prstGeom>
          <a:noFill/>
        </p:spPr>
        <p:txBody>
          <a:bodyPr wrap="square" lIns="27432" tIns="27432" rIns="27432" bIns="27432" anchor="t">
            <a:noAutofit/>
          </a:bodyPr>
          <a:lstStyle/>
          <a:p>
            <a:pPr algn="l">
              <a:spcAft>
                <a:spcPts val="0"/>
              </a:spcAft>
              <a:buNone/>
            </a:pPr>
            <a:r>
              <a:rPr lang="en-ZA" sz="2900" b="1" i="0" dirty="0">
                <a:solidFill>
                  <a:srgbClr val="14223B"/>
                </a:solidFill>
                <a:latin typeface="Aptos"/>
              </a:rPr>
              <a:t>Intrate is it normal</a:t>
            </a:r>
          </a:p>
        </p:txBody>
      </p:sp>
      <p:sp>
        <p:nvSpPr>
          <p:cNvPr id="4" name="Footer 4"/>
          <p:cNvSpPr txBox="1"/>
          <p:nvPr/>
        </p:nvSpPr>
        <p:spPr>
          <a:xfrm>
            <a:off x="640080" y="6510528"/>
            <a:ext cx="8046720" cy="182880"/>
          </a:xfrm>
          <a:prstGeom prst="rect">
            <a:avLst/>
          </a:prstGeom>
          <a:noFill/>
        </p:spPr>
        <p:txBody>
          <a:bodyPr wrap="square" lIns="27432" tIns="27432" rIns="27432" bIns="27432" anchor="t">
            <a:noAutofit/>
          </a:bodyPr>
          <a:lstStyle/>
          <a:p>
            <a:pPr algn="l">
              <a:spcAft>
                <a:spcPts val="0"/>
              </a:spcAft>
              <a:buNone/>
            </a:pPr>
            <a:r>
              <a:rPr lang="en-ZA" sz="900" b="1" i="0" dirty="0">
                <a:solidFill>
                  <a:srgbClr val="647182"/>
                </a:solidFill>
                <a:latin typeface="Aptos"/>
              </a:rPr>
              <a:t>02  |  TARGET DISTRIBUTION</a:t>
            </a:r>
          </a:p>
        </p:txBody>
      </p:sp>
      <p:sp>
        <p:nvSpPr>
          <p:cNvPr id="5" name="Page 5"/>
          <p:cNvSpPr txBox="1"/>
          <p:nvPr/>
        </p:nvSpPr>
        <p:spPr>
          <a:xfrm>
            <a:off x="11109960" y="6473952"/>
            <a:ext cx="438912" cy="219456"/>
          </a:xfrm>
          <a:prstGeom prst="rect">
            <a:avLst/>
          </a:prstGeom>
          <a:noFill/>
        </p:spPr>
        <p:txBody>
          <a:bodyPr wrap="square" lIns="27432" tIns="27432" rIns="27432" bIns="27432" anchor="t">
            <a:noAutofit/>
          </a:bodyPr>
          <a:lstStyle/>
          <a:p>
            <a:pPr algn="r">
              <a:spcAft>
                <a:spcPts val="0"/>
              </a:spcAft>
              <a:buNone/>
            </a:pPr>
            <a:r>
              <a:rPr lang="en-ZA" sz="900" b="0" i="0" dirty="0">
                <a:solidFill>
                  <a:srgbClr val="647182"/>
                </a:solidFill>
                <a:latin typeface="Aptos"/>
              </a:rPr>
              <a:t>03</a:t>
            </a:r>
          </a:p>
        </p:txBody>
      </p:sp>
      <p:sp>
        <p:nvSpPr>
          <p:cNvPr id="6" name="Rectangle 6"/>
          <p:cNvSpPr/>
          <p:nvPr/>
        </p:nvSpPr>
        <p:spPr>
          <a:xfrm>
            <a:off x="815811" y="1200000"/>
            <a:ext cx="5315709" cy="640000"/>
          </a:xfrm>
          <a:prstGeom prst="roundRect">
            <a:avLst>
              <a:gd name="adj" fmla="val 11250"/>
            </a:avLst>
          </a:prstGeom>
          <a:solidFill>
            <a:srgbClr val="F0F5FA"/>
          </a:solidFill>
          <a:ln>
            <a:noFill/>
          </a:ln>
        </p:spPr>
        <p:txBody>
          <a:bodyPr rtlCol="0" anchor="ctr"/>
          <a:lstStyle/>
          <a:p>
            <a:pPr algn="ctr"/>
            <a:endParaRPr lang="en-ZA"/>
          </a:p>
        </p:txBody>
      </p:sp>
      <p:sp>
        <p:nvSpPr>
          <p:cNvPr id="7" name="Rectangle 7"/>
          <p:cNvSpPr/>
          <p:nvPr/>
        </p:nvSpPr>
        <p:spPr>
          <a:xfrm>
            <a:off x="731520" y="1210881"/>
            <a:ext cx="99579" cy="618238"/>
          </a:xfrm>
          <a:prstGeom prst="roundRect">
            <a:avLst>
              <a:gd name="adj" fmla="val 12000"/>
            </a:avLst>
          </a:prstGeom>
          <a:solidFill>
            <a:srgbClr val="1D9E93"/>
          </a:solidFill>
          <a:ln>
            <a:noFill/>
          </a:ln>
        </p:spPr>
        <p:txBody>
          <a:bodyPr rtlCol="0" anchor="ctr"/>
          <a:lstStyle/>
          <a:p>
            <a:pPr algn="ctr"/>
            <a:endParaRPr lang="en-ZA"/>
          </a:p>
        </p:txBody>
      </p:sp>
      <p:sp>
        <p:nvSpPr>
          <p:cNvPr id="8" name="TextBox 8"/>
          <p:cNvSpPr txBox="1"/>
          <p:nvPr/>
        </p:nvSpPr>
        <p:spPr>
          <a:xfrm>
            <a:off x="981520" y="1290000"/>
            <a:ext cx="5000000" cy="500000"/>
          </a:xfrm>
          <a:prstGeom prst="rect">
            <a:avLst/>
          </a:prstGeom>
          <a:noFill/>
        </p:spPr>
        <p:txBody>
          <a:bodyPr wrap="square" lIns="27432" tIns="27432" rIns="27432" bIns="27432" anchor="t">
            <a:noAutofit/>
          </a:bodyPr>
          <a:lstStyle/>
          <a:p>
            <a:pPr algn="l">
              <a:spcAft>
                <a:spcPts val="300"/>
              </a:spcAft>
              <a:buNone/>
            </a:pPr>
            <a:r>
              <a:rPr lang="en-ZA" sz="1200" b="1" i="0" dirty="0">
                <a:solidFill>
                  <a:srgbClr val="14223B"/>
                </a:solidFill>
                <a:latin typeface="Aptos"/>
              </a:rPr>
              <a:t>H</a:t>
            </a:r>
            <a:r>
              <a:rPr lang="en-ZA" sz="1200" b="1" i="0" baseline="-25000" dirty="0">
                <a:solidFill>
                  <a:srgbClr val="14223B"/>
                </a:solidFill>
                <a:latin typeface="Aptos"/>
              </a:rPr>
              <a:t>0</a:t>
            </a:r>
            <a:endParaRPr lang="en-ZA" sz="1200" b="1" i="0" dirty="0">
              <a:solidFill>
                <a:srgbClr val="14223B"/>
              </a:solidFill>
              <a:latin typeface="Aptos"/>
            </a:endParaRPr>
          </a:p>
          <a:p>
            <a:pPr algn="l">
              <a:spcAft>
                <a:spcPts val="0"/>
              </a:spcAft>
              <a:buNone/>
            </a:pPr>
            <a:r>
              <a:rPr lang="en-ZA" sz="1400" b="0" i="0" dirty="0">
                <a:solidFill>
                  <a:srgbClr val="283343"/>
                </a:solidFill>
                <a:latin typeface="Aptos"/>
              </a:rPr>
              <a:t>H</a:t>
            </a:r>
            <a:r>
              <a:rPr lang="en-ZA" sz="1400" baseline="-25000" dirty="0">
                <a:solidFill>
                  <a:srgbClr val="283343"/>
                </a:solidFill>
                <a:latin typeface="Aptos"/>
              </a:rPr>
              <a:t>0</a:t>
            </a:r>
            <a:r>
              <a:rPr lang="en-ZA" sz="1400" b="0" i="0" dirty="0">
                <a:solidFill>
                  <a:srgbClr val="283343"/>
                </a:solidFill>
                <a:latin typeface="Aptos"/>
              </a:rPr>
              <a:t> : Interest rate normally distrubite</a:t>
            </a:r>
          </a:p>
        </p:txBody>
      </p:sp>
      <p:sp>
        <p:nvSpPr>
          <p:cNvPr id="9" name="Rectangle 9"/>
          <p:cNvSpPr/>
          <p:nvPr/>
        </p:nvSpPr>
        <p:spPr>
          <a:xfrm>
            <a:off x="815811" y="1960000"/>
            <a:ext cx="5315709" cy="640000"/>
          </a:xfrm>
          <a:prstGeom prst="roundRect">
            <a:avLst>
              <a:gd name="adj" fmla="val 11250"/>
            </a:avLst>
          </a:prstGeom>
          <a:solidFill>
            <a:srgbClr val="F0F5FA"/>
          </a:solidFill>
          <a:ln>
            <a:noFill/>
          </a:ln>
        </p:spPr>
        <p:txBody>
          <a:bodyPr rtlCol="0" anchor="ctr"/>
          <a:lstStyle/>
          <a:p>
            <a:pPr algn="ctr"/>
            <a:endParaRPr lang="en-ZA"/>
          </a:p>
        </p:txBody>
      </p:sp>
      <p:sp>
        <p:nvSpPr>
          <p:cNvPr id="10" name="Rectangle 10"/>
          <p:cNvSpPr/>
          <p:nvPr/>
        </p:nvSpPr>
        <p:spPr>
          <a:xfrm>
            <a:off x="731520" y="1970881"/>
            <a:ext cx="99579" cy="618238"/>
          </a:xfrm>
          <a:prstGeom prst="roundRect">
            <a:avLst>
              <a:gd name="adj" fmla="val 12000"/>
            </a:avLst>
          </a:prstGeom>
          <a:solidFill>
            <a:srgbClr val="2C66A8"/>
          </a:solidFill>
          <a:ln>
            <a:noFill/>
          </a:ln>
        </p:spPr>
        <p:txBody>
          <a:bodyPr rtlCol="0" anchor="ctr"/>
          <a:lstStyle/>
          <a:p>
            <a:pPr algn="ctr"/>
            <a:endParaRPr lang="en-ZA"/>
          </a:p>
        </p:txBody>
      </p:sp>
      <p:sp>
        <p:nvSpPr>
          <p:cNvPr id="11" name="TextBox 11"/>
          <p:cNvSpPr txBox="1"/>
          <p:nvPr/>
        </p:nvSpPr>
        <p:spPr>
          <a:xfrm>
            <a:off x="981520" y="2050000"/>
            <a:ext cx="5000000" cy="500000"/>
          </a:xfrm>
          <a:prstGeom prst="rect">
            <a:avLst/>
          </a:prstGeom>
          <a:noFill/>
        </p:spPr>
        <p:txBody>
          <a:bodyPr wrap="square" lIns="27432" tIns="27432" rIns="27432" bIns="27432" anchor="t">
            <a:noAutofit/>
          </a:bodyPr>
          <a:lstStyle/>
          <a:p>
            <a:pPr algn="l">
              <a:spcAft>
                <a:spcPts val="300"/>
              </a:spcAft>
              <a:buNone/>
            </a:pPr>
            <a:r>
              <a:rPr lang="en-ZA" sz="1200" b="1" i="0" dirty="0">
                <a:solidFill>
                  <a:srgbClr val="14223B"/>
                </a:solidFill>
                <a:latin typeface="Aptos"/>
              </a:rPr>
              <a:t>Ha</a:t>
            </a:r>
          </a:p>
          <a:p>
            <a:pPr algn="l">
              <a:spcAft>
                <a:spcPts val="0"/>
              </a:spcAft>
              <a:buNone/>
            </a:pPr>
            <a:r>
              <a:rPr lang="en-ZA" sz="1400" b="0" i="0" dirty="0">
                <a:solidFill>
                  <a:srgbClr val="283343"/>
                </a:solidFill>
                <a:latin typeface="Aptos"/>
              </a:rPr>
              <a:t>Ha : </a:t>
            </a:r>
            <a:r>
              <a:rPr lang="en-ZA" sz="1400" dirty="0">
                <a:solidFill>
                  <a:srgbClr val="283343"/>
                </a:solidFill>
                <a:latin typeface="Aptos"/>
              </a:rPr>
              <a:t>I</a:t>
            </a:r>
            <a:r>
              <a:rPr lang="en-ZA" sz="1400" b="0" i="0" dirty="0">
                <a:solidFill>
                  <a:srgbClr val="283343"/>
                </a:solidFill>
                <a:latin typeface="Aptos"/>
              </a:rPr>
              <a:t>nterest rate is not normally distributed</a:t>
            </a:r>
          </a:p>
        </p:txBody>
      </p:sp>
      <p:sp>
        <p:nvSpPr>
          <p:cNvPr id="12" name="Rectangle 12"/>
          <p:cNvSpPr/>
          <p:nvPr/>
        </p:nvSpPr>
        <p:spPr>
          <a:xfrm>
            <a:off x="731520" y="2780000"/>
            <a:ext cx="5400000" cy="560000"/>
          </a:xfrm>
          <a:prstGeom prst="roundRect">
            <a:avLst>
              <a:gd name="adj" fmla="val 12000"/>
            </a:avLst>
          </a:prstGeom>
          <a:solidFill>
            <a:srgbClr val="14223B"/>
          </a:solidFill>
          <a:ln>
            <a:noFill/>
          </a:ln>
        </p:spPr>
        <p:txBody>
          <a:bodyPr rtlCol="0" anchor="ctr"/>
          <a:lstStyle/>
          <a:p>
            <a:pPr algn="ctr"/>
            <a:endParaRPr lang="en-ZA"/>
          </a:p>
        </p:txBody>
      </p:sp>
      <p:sp>
        <p:nvSpPr>
          <p:cNvPr id="13" name="TextBox 13"/>
          <p:cNvSpPr txBox="1"/>
          <p:nvPr/>
        </p:nvSpPr>
        <p:spPr>
          <a:xfrm>
            <a:off x="880000" y="2780000"/>
            <a:ext cx="2000000" cy="560000"/>
          </a:xfrm>
          <a:prstGeom prst="rect">
            <a:avLst/>
          </a:prstGeom>
          <a:noFill/>
        </p:spPr>
        <p:txBody>
          <a:bodyPr wrap="square" lIns="27432" tIns="27432" rIns="27432" bIns="27432" anchor="ctr">
            <a:noAutofit/>
          </a:bodyPr>
          <a:lstStyle/>
          <a:p>
            <a:pPr algn="l">
              <a:spcAft>
                <a:spcPts val="0"/>
              </a:spcAft>
              <a:buNone/>
            </a:pPr>
            <a:r>
              <a:rPr lang="en-ZA" sz="1200" b="1" i="0" cap="all" dirty="0">
                <a:solidFill>
                  <a:srgbClr val="BED2E4"/>
                </a:solidFill>
                <a:latin typeface="Aptos"/>
              </a:rPr>
              <a:t>Statistical value</a:t>
            </a:r>
          </a:p>
        </p:txBody>
      </p:sp>
      <p:sp>
        <p:nvSpPr>
          <p:cNvPr id="14" name="TextBox 14"/>
          <p:cNvSpPr txBox="1"/>
          <p:nvPr/>
        </p:nvSpPr>
        <p:spPr>
          <a:xfrm>
            <a:off x="2400000" y="2780000"/>
            <a:ext cx="3600000" cy="560000"/>
          </a:xfrm>
          <a:prstGeom prst="rect">
            <a:avLst/>
          </a:prstGeom>
          <a:noFill/>
        </p:spPr>
        <p:txBody>
          <a:bodyPr wrap="square" lIns="27432" tIns="27432" rIns="27432" bIns="27432" anchor="ctr">
            <a:noAutofit/>
          </a:bodyPr>
          <a:lstStyle/>
          <a:p>
            <a:pPr algn="r">
              <a:spcAft>
                <a:spcPts val="0"/>
              </a:spcAft>
              <a:buNone/>
            </a:pPr>
            <a:r>
              <a:rPr lang="en-ZA" sz="1600" b="1" i="0" dirty="0">
                <a:solidFill>
                  <a:srgbClr val="FFFFFF"/>
                </a:solidFill>
                <a:latin typeface="Aptos"/>
              </a:rPr>
              <a:t>0.8222758572474215</a:t>
            </a:r>
          </a:p>
        </p:txBody>
      </p:sp>
      <p:sp>
        <p:nvSpPr>
          <p:cNvPr id="15" name="Rectangle 15"/>
          <p:cNvSpPr/>
          <p:nvPr/>
        </p:nvSpPr>
        <p:spPr>
          <a:xfrm>
            <a:off x="731520" y="3440000"/>
            <a:ext cx="5400000" cy="560000"/>
          </a:xfrm>
          <a:prstGeom prst="roundRect">
            <a:avLst>
              <a:gd name="adj" fmla="val 12000"/>
            </a:avLst>
          </a:prstGeom>
          <a:solidFill>
            <a:srgbClr val="1D9E93"/>
          </a:solidFill>
          <a:ln>
            <a:noFill/>
          </a:ln>
        </p:spPr>
        <p:txBody>
          <a:bodyPr rtlCol="0" anchor="ctr"/>
          <a:lstStyle/>
          <a:p>
            <a:pPr algn="ctr"/>
            <a:endParaRPr lang="en-ZA"/>
          </a:p>
        </p:txBody>
      </p:sp>
      <p:sp>
        <p:nvSpPr>
          <p:cNvPr id="16" name="TextBox 16"/>
          <p:cNvSpPr txBox="1"/>
          <p:nvPr/>
        </p:nvSpPr>
        <p:spPr>
          <a:xfrm>
            <a:off x="731520" y="3440000"/>
            <a:ext cx="5400000" cy="560000"/>
          </a:xfrm>
          <a:prstGeom prst="rect">
            <a:avLst/>
          </a:prstGeom>
          <a:noFill/>
        </p:spPr>
        <p:txBody>
          <a:bodyPr wrap="square" lIns="27432" tIns="27432" rIns="27432" bIns="27432" anchor="ctr">
            <a:noAutofit/>
          </a:bodyPr>
          <a:lstStyle/>
          <a:p>
            <a:pPr algn="ctr">
              <a:spcAft>
                <a:spcPts val="0"/>
              </a:spcAft>
              <a:buNone/>
            </a:pPr>
            <a:r>
              <a:rPr lang="en-ZA" sz="1800" b="1" i="0" dirty="0">
                <a:solidFill>
                  <a:srgbClr val="FFFFFF"/>
                </a:solidFill>
                <a:latin typeface="Aptos"/>
              </a:rPr>
              <a:t>A = 0.05</a:t>
            </a:r>
          </a:p>
        </p:txBody>
      </p:sp>
      <p:sp>
        <p:nvSpPr>
          <p:cNvPr id="17" name="Rectangle 17"/>
          <p:cNvSpPr/>
          <p:nvPr/>
        </p:nvSpPr>
        <p:spPr>
          <a:xfrm>
            <a:off x="731520" y="4100000"/>
            <a:ext cx="5400000" cy="560000"/>
          </a:xfrm>
          <a:prstGeom prst="roundRect">
            <a:avLst>
              <a:gd name="adj" fmla="val 12000"/>
            </a:avLst>
          </a:prstGeom>
          <a:solidFill>
            <a:srgbClr val="14223B"/>
          </a:solidFill>
          <a:ln>
            <a:noFill/>
          </a:ln>
        </p:spPr>
        <p:txBody>
          <a:bodyPr rtlCol="0" anchor="ctr"/>
          <a:lstStyle/>
          <a:p>
            <a:pPr algn="ctr"/>
            <a:endParaRPr lang="en-ZA"/>
          </a:p>
        </p:txBody>
      </p:sp>
      <p:sp>
        <p:nvSpPr>
          <p:cNvPr id="18" name="TextBox 18"/>
          <p:cNvSpPr txBox="1"/>
          <p:nvPr/>
        </p:nvSpPr>
        <p:spPr>
          <a:xfrm>
            <a:off x="880000" y="4100000"/>
            <a:ext cx="2000000" cy="560000"/>
          </a:xfrm>
          <a:prstGeom prst="rect">
            <a:avLst/>
          </a:prstGeom>
          <a:noFill/>
        </p:spPr>
        <p:txBody>
          <a:bodyPr wrap="square" lIns="27432" tIns="27432" rIns="27432" bIns="27432" anchor="ctr">
            <a:noAutofit/>
          </a:bodyPr>
          <a:lstStyle/>
          <a:p>
            <a:pPr algn="l">
              <a:spcAft>
                <a:spcPts val="0"/>
              </a:spcAft>
              <a:buNone/>
            </a:pPr>
            <a:r>
              <a:rPr lang="en-ZA" sz="1200" b="1" i="0" cap="all" dirty="0">
                <a:solidFill>
                  <a:srgbClr val="BED2E4"/>
                </a:solidFill>
                <a:latin typeface="Aptos"/>
              </a:rPr>
              <a:t>P-Value is</a:t>
            </a:r>
          </a:p>
        </p:txBody>
      </p:sp>
      <p:sp>
        <p:nvSpPr>
          <p:cNvPr id="19" name="TextBox 19"/>
          <p:cNvSpPr txBox="1"/>
          <p:nvPr/>
        </p:nvSpPr>
        <p:spPr>
          <a:xfrm>
            <a:off x="2400000" y="4100000"/>
            <a:ext cx="3600000" cy="560000"/>
          </a:xfrm>
          <a:prstGeom prst="rect">
            <a:avLst/>
          </a:prstGeom>
          <a:noFill/>
        </p:spPr>
        <p:txBody>
          <a:bodyPr wrap="square" lIns="27432" tIns="27432" rIns="27432" bIns="27432" anchor="ctr">
            <a:noAutofit/>
          </a:bodyPr>
          <a:lstStyle/>
          <a:p>
            <a:pPr algn="r">
              <a:spcAft>
                <a:spcPts val="0"/>
              </a:spcAft>
              <a:buNone/>
            </a:pPr>
            <a:r>
              <a:rPr lang="en-ZA" sz="1600" b="1" i="0" dirty="0">
                <a:solidFill>
                  <a:srgbClr val="FFFFFF"/>
                </a:solidFill>
                <a:latin typeface="Aptos"/>
              </a:rPr>
              <a:t>3.5617941349737897e-69</a:t>
            </a:r>
          </a:p>
        </p:txBody>
      </p:sp>
      <p:pic>
        <p:nvPicPr>
          <p:cNvPr id="20" name="Picture 19"/>
          <p:cNvPicPr>
            <a:picLocks noChangeAspect="1"/>
          </p:cNvPicPr>
          <p:nvPr/>
        </p:nvPicPr>
        <p:blipFill>
          <a:blip r:embed="rId2"/>
          <a:stretch>
            <a:fillRect/>
          </a:stretch>
        </p:blipFill>
        <p:spPr>
          <a:xfrm>
            <a:off x="6450000" y="1228018"/>
            <a:ext cx="5030000" cy="3443963"/>
          </a:xfrm>
          <a:prstGeom prst="rect">
            <a:avLst/>
          </a:prstGeom>
        </p:spPr>
      </p:pic>
      <p:sp>
        <p:nvSpPr>
          <p:cNvPr id="21" name="Rectangle 21"/>
          <p:cNvSpPr/>
          <p:nvPr/>
        </p:nvSpPr>
        <p:spPr>
          <a:xfrm>
            <a:off x="731520" y="5000000"/>
            <a:ext cx="99579" cy="800000"/>
          </a:xfrm>
          <a:prstGeom prst="roundRect">
            <a:avLst>
              <a:gd name="adj" fmla="val 12000"/>
            </a:avLst>
          </a:prstGeom>
          <a:solidFill>
            <a:srgbClr val="EFB44B"/>
          </a:solidFill>
          <a:ln>
            <a:noFill/>
          </a:ln>
        </p:spPr>
        <p:txBody>
          <a:bodyPr rtlCol="0" anchor="ctr"/>
          <a:lstStyle/>
          <a:p>
            <a:pPr algn="ctr"/>
            <a:endParaRPr lang="en-ZA"/>
          </a:p>
        </p:txBody>
      </p:sp>
      <p:sp>
        <p:nvSpPr>
          <p:cNvPr id="22" name="TextBox 22"/>
          <p:cNvSpPr txBox="1"/>
          <p:nvPr/>
        </p:nvSpPr>
        <p:spPr>
          <a:xfrm>
            <a:off x="950000" y="5000000"/>
            <a:ext cx="10500000" cy="800000"/>
          </a:xfrm>
          <a:prstGeom prst="rect">
            <a:avLst/>
          </a:prstGeom>
          <a:noFill/>
        </p:spPr>
        <p:txBody>
          <a:bodyPr wrap="square" lIns="27432" tIns="27432" rIns="27432" bIns="27432" anchor="ctr">
            <a:noAutofit/>
          </a:bodyPr>
          <a:lstStyle/>
          <a:p>
            <a:pPr algn="l">
              <a:spcAft>
                <a:spcPts val="0"/>
              </a:spcAft>
              <a:buNone/>
            </a:pPr>
            <a:r>
              <a:rPr lang="en-ZA" sz="1800" b="1" i="0" dirty="0">
                <a:solidFill>
                  <a:srgbClr val="14223B"/>
                </a:solidFill>
                <a:latin typeface="Aptos"/>
              </a:rPr>
              <a:t>Because p&lt;a we reject Ho .Meaning the data is not normally distrubited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1695" cy="118872"/>
          </a:xfrm>
          <a:prstGeom prst="rect">
            <a:avLst/>
          </a:prstGeom>
          <a:solidFill>
            <a:srgbClr val="1D9E93"/>
          </a:solidFill>
          <a:ln>
            <a:noFill/>
          </a:ln>
        </p:spPr>
        <p:txBody>
          <a:bodyPr rtlCol="0" anchor="ctr"/>
          <a:lstStyle/>
          <a:p>
            <a:pPr algn="ctr"/>
            <a:endParaRPr lang="en-ZA"/>
          </a:p>
        </p:txBody>
      </p:sp>
      <p:sp>
        <p:nvSpPr>
          <p:cNvPr id="3" name="Title 3"/>
          <p:cNvSpPr txBox="1"/>
          <p:nvPr/>
        </p:nvSpPr>
        <p:spPr>
          <a:xfrm>
            <a:off x="621792" y="384048"/>
            <a:ext cx="10927080" cy="594360"/>
          </a:xfrm>
          <a:prstGeom prst="rect">
            <a:avLst/>
          </a:prstGeom>
          <a:noFill/>
        </p:spPr>
        <p:txBody>
          <a:bodyPr wrap="square" lIns="27432" tIns="27432" rIns="27432" bIns="27432" anchor="t">
            <a:noAutofit/>
          </a:bodyPr>
          <a:lstStyle/>
          <a:p>
            <a:pPr algn="l">
              <a:spcAft>
                <a:spcPts val="0"/>
              </a:spcAft>
              <a:buNone/>
            </a:pPr>
            <a:r>
              <a:rPr lang="en-ZA" sz="2900" b="1" i="0" dirty="0">
                <a:solidFill>
                  <a:srgbClr val="14223B"/>
                </a:solidFill>
                <a:latin typeface="Aptos"/>
              </a:rPr>
              <a:t>How the model will look</a:t>
            </a:r>
          </a:p>
        </p:txBody>
      </p:sp>
      <p:sp>
        <p:nvSpPr>
          <p:cNvPr id="4" name="Footer 4"/>
          <p:cNvSpPr txBox="1"/>
          <p:nvPr/>
        </p:nvSpPr>
        <p:spPr>
          <a:xfrm>
            <a:off x="640080" y="6510528"/>
            <a:ext cx="8046720" cy="182880"/>
          </a:xfrm>
          <a:prstGeom prst="rect">
            <a:avLst/>
          </a:prstGeom>
          <a:noFill/>
        </p:spPr>
        <p:txBody>
          <a:bodyPr wrap="square" lIns="27432" tIns="27432" rIns="27432" bIns="27432" anchor="t">
            <a:noAutofit/>
          </a:bodyPr>
          <a:lstStyle/>
          <a:p>
            <a:pPr algn="l">
              <a:spcAft>
                <a:spcPts val="0"/>
              </a:spcAft>
              <a:buNone/>
            </a:pPr>
            <a:r>
              <a:rPr lang="en-ZA" sz="900" b="1" i="0" dirty="0">
                <a:solidFill>
                  <a:srgbClr val="647182"/>
                </a:solidFill>
                <a:latin typeface="Aptos"/>
              </a:rPr>
              <a:t>03  |  SELECTED MODEL</a:t>
            </a:r>
          </a:p>
        </p:txBody>
      </p:sp>
      <p:sp>
        <p:nvSpPr>
          <p:cNvPr id="5" name="Page 5"/>
          <p:cNvSpPr txBox="1"/>
          <p:nvPr/>
        </p:nvSpPr>
        <p:spPr>
          <a:xfrm>
            <a:off x="11109960" y="6473952"/>
            <a:ext cx="438912" cy="219456"/>
          </a:xfrm>
          <a:prstGeom prst="rect">
            <a:avLst/>
          </a:prstGeom>
          <a:noFill/>
        </p:spPr>
        <p:txBody>
          <a:bodyPr wrap="square" lIns="27432" tIns="27432" rIns="27432" bIns="27432" anchor="t">
            <a:noAutofit/>
          </a:bodyPr>
          <a:lstStyle/>
          <a:p>
            <a:pPr algn="r">
              <a:spcAft>
                <a:spcPts val="0"/>
              </a:spcAft>
              <a:buNone/>
            </a:pPr>
            <a:r>
              <a:rPr lang="en-ZA" sz="900" b="0" i="0" dirty="0">
                <a:solidFill>
                  <a:srgbClr val="647182"/>
                </a:solidFill>
                <a:latin typeface="Aptos"/>
              </a:rPr>
              <a:t>04</a:t>
            </a:r>
          </a:p>
        </p:txBody>
      </p:sp>
      <p:sp>
        <p:nvSpPr>
          <p:cNvPr id="6" name="Rectangle 6"/>
          <p:cNvSpPr/>
          <p:nvPr/>
        </p:nvSpPr>
        <p:spPr>
          <a:xfrm>
            <a:off x="584671" y="1000000"/>
            <a:ext cx="11076469" cy="950000"/>
          </a:xfrm>
          <a:prstGeom prst="roundRect">
            <a:avLst>
              <a:gd name="adj" fmla="val 7578"/>
            </a:avLst>
          </a:prstGeom>
          <a:solidFill>
            <a:srgbClr val="F0F5FA"/>
          </a:solidFill>
          <a:ln>
            <a:noFill/>
          </a:ln>
        </p:spPr>
        <p:txBody>
          <a:bodyPr rtlCol="0" anchor="ctr"/>
          <a:lstStyle/>
          <a:p>
            <a:pPr algn="ctr"/>
            <a:endParaRPr lang="en-ZA"/>
          </a:p>
        </p:txBody>
      </p:sp>
      <p:sp>
        <p:nvSpPr>
          <p:cNvPr id="7" name="Rectangle 7"/>
          <p:cNvSpPr/>
          <p:nvPr/>
        </p:nvSpPr>
        <p:spPr>
          <a:xfrm>
            <a:off x="500380" y="1010881"/>
            <a:ext cx="99579" cy="928238"/>
          </a:xfrm>
          <a:prstGeom prst="roundRect">
            <a:avLst>
              <a:gd name="adj" fmla="val 12000"/>
            </a:avLst>
          </a:prstGeom>
          <a:solidFill>
            <a:srgbClr val="1D9E93"/>
          </a:solidFill>
          <a:ln>
            <a:noFill/>
          </a:ln>
        </p:spPr>
        <p:txBody>
          <a:bodyPr rtlCol="0" anchor="ctr"/>
          <a:lstStyle/>
          <a:p>
            <a:pPr algn="ctr"/>
            <a:endParaRPr lang="en-ZA"/>
          </a:p>
        </p:txBody>
      </p:sp>
      <mc:AlternateContent xmlns:mc="http://schemas.openxmlformats.org/markup-compatibility/2006" xmlns:a14="http://schemas.microsoft.com/office/drawing/2010/main">
        <mc:Choice Requires="a14">
          <p:sp>
            <p:nvSpPr>
              <p:cNvPr id="8" name="TextBox 3">
                <a:extLst>
                  <a:ext uri="{FF2B5EF4-FFF2-40B4-BE49-F238E27FC236}">
                    <a16:creationId xmlns:a16="http://schemas.microsoft.com/office/drawing/2014/main" id="{A6C3AA60-5C2D-4952-E33F-0BA308FCF32D}"/>
                  </a:ext>
                </a:extLst>
              </p:cNvPr>
              <p:cNvSpPr txBox="1">
                <a:spLocks noGrp="1" noRot="1" noMove="1" noResize="1" noEditPoints="1" noAdjustHandles="1" noChangeArrowheads="1" noChangeShapeType="1"/>
              </p:cNvSpPr>
              <p:nvPr/>
            </p:nvSpPr>
            <p:spPr>
              <a:xfrm>
                <a:off x="650000" y="1020000"/>
                <a:ext cx="10972800" cy="923330"/>
              </a:xfrm>
              <a:prstGeom prst="rect">
                <a:avLst/>
              </a:prstGeom>
              <a:noFill/>
            </p:spPr>
            <p:txBody>
              <a:bodyPr wrap="square" rtlCol="0">
                <a:spAutoFit/>
              </a:bodyPr>
              <a:lstStyle/>
              <a:p>
                <a:r>
                  <a:rPr lang="en-GB" dirty="0"/>
                  <a:t>Y = </a:t>
                </a:r>
                <a14:m>
                  <m:oMath xmlns:m="http://schemas.openxmlformats.org/officeDocument/2006/math">
                    <m:r>
                      <a:rPr lang="en-GB" dirty="0" smtClean="0">
                        <a:solidFill>
                          <a:schemeClr val="tx1"/>
                        </a:solidFill>
                        <a:latin typeface="Cambria Math" panose="02040503050406030204" pitchFamily="18" charset="0"/>
                      </a:rPr>
                      <m:t>22.6789−3.347</m:t>
                    </m:r>
                    <m:r>
                      <a:rPr lang="en-GB" b="0" i="0" dirty="0" smtClean="0">
                        <a:solidFill>
                          <a:schemeClr val="tx1"/>
                        </a:solidFill>
                        <a:latin typeface="Cambria Math" panose="02040503050406030204" pitchFamily="18" charset="0"/>
                      </a:rPr>
                      <m:t>0</m:t>
                    </m:r>
                    <m:sSub>
                      <m:sSubPr>
                        <m:ctrlPr>
                          <a:rPr lang="en-GB" i="1" dirty="0">
                            <a:solidFill>
                              <a:srgbClr val="FF0000"/>
                            </a:solidFill>
                            <a:latin typeface="Cambria Math" panose="02040503050406030204" pitchFamily="18" charset="0"/>
                          </a:rPr>
                        </m:ctrlPr>
                      </m:sSubPr>
                      <m:e>
                        <m:r>
                          <a:rPr lang="en-GB" i="1" dirty="0">
                            <a:solidFill>
                              <a:srgbClr val="FF0000"/>
                            </a:solidFill>
                            <a:latin typeface="Cambria Math" panose="02040503050406030204" pitchFamily="18" charset="0"/>
                          </a:rPr>
                          <m:t>𝑎</m:t>
                        </m:r>
                      </m:e>
                      <m:sub>
                        <m:r>
                          <a:rPr lang="en-GB" dirty="0">
                            <a:solidFill>
                              <a:srgbClr val="FF0000"/>
                            </a:solidFill>
                            <a:latin typeface="Cambria Math" panose="02040503050406030204" pitchFamily="18" charset="0"/>
                          </a:rPr>
                          <m:t>1</m:t>
                        </m:r>
                      </m:sub>
                    </m:sSub>
                    <m:r>
                      <a:rPr lang="en-GB" dirty="0" smtClean="0">
                        <a:solidFill>
                          <a:schemeClr val="tx1"/>
                        </a:solidFill>
                        <a:latin typeface="Cambria Math" panose="02040503050406030204" pitchFamily="18" charset="0"/>
                      </a:rPr>
                      <m:t>−1.4672</m:t>
                    </m:r>
                    <m:sSub>
                      <m:sSubPr>
                        <m:ctrlPr>
                          <a:rPr lang="en-GB" i="1" dirty="0">
                            <a:solidFill>
                              <a:srgbClr val="FF0000"/>
                            </a:solidFill>
                            <a:latin typeface="Cambria Math" panose="02040503050406030204" pitchFamily="18" charset="0"/>
                          </a:rPr>
                        </m:ctrlPr>
                      </m:sSubPr>
                      <m:e>
                        <m:r>
                          <a:rPr lang="en-GB" i="1" dirty="0">
                            <a:solidFill>
                              <a:srgbClr val="FF0000"/>
                            </a:solidFill>
                            <a:latin typeface="Cambria Math" panose="02040503050406030204" pitchFamily="18" charset="0"/>
                          </a:rPr>
                          <m:t>𝑎</m:t>
                        </m:r>
                      </m:e>
                      <m:sub>
                        <m:r>
                          <a:rPr lang="en-GB" dirty="0">
                            <a:solidFill>
                              <a:srgbClr val="FF0000"/>
                            </a:solidFill>
                            <a:latin typeface="Cambria Math" panose="02040503050406030204" pitchFamily="18" charset="0"/>
                          </a:rPr>
                          <m:t>2</m:t>
                        </m:r>
                      </m:sub>
                    </m:sSub>
                    <m:r>
                      <a:rPr lang="en-GB" dirty="0" smtClean="0">
                        <a:solidFill>
                          <a:schemeClr val="tx1"/>
                        </a:solidFill>
                        <a:latin typeface="Cambria Math" panose="02040503050406030204" pitchFamily="18" charset="0"/>
                      </a:rPr>
                      <m:t>+9.5922</m:t>
                    </m:r>
                    <m:sSub>
                      <m:sSubPr>
                        <m:ctrlPr>
                          <a:rPr lang="en-GB" i="1" dirty="0">
                            <a:solidFill>
                              <a:srgbClr val="FF0000"/>
                            </a:solidFill>
                            <a:latin typeface="Cambria Math" panose="02040503050406030204" pitchFamily="18" charset="0"/>
                          </a:rPr>
                        </m:ctrlPr>
                      </m:sSubPr>
                      <m:e>
                        <m:r>
                          <a:rPr lang="en-GB" i="1" dirty="0">
                            <a:solidFill>
                              <a:srgbClr val="FF0000"/>
                            </a:solidFill>
                            <a:latin typeface="Cambria Math" panose="02040503050406030204" pitchFamily="18" charset="0"/>
                          </a:rPr>
                          <m:t>𝑎</m:t>
                        </m:r>
                      </m:e>
                      <m:sub>
                        <m:r>
                          <a:rPr lang="en-GB" dirty="0">
                            <a:solidFill>
                              <a:srgbClr val="FF0000"/>
                            </a:solidFill>
                            <a:latin typeface="Cambria Math" panose="02040503050406030204" pitchFamily="18" charset="0"/>
                          </a:rPr>
                          <m:t>3</m:t>
                        </m:r>
                      </m:sub>
                    </m:sSub>
                  </m:oMath>
                </a14:m>
                <a:r>
                  <a:rPr lang="en-GB" dirty="0">
                    <a:solidFill>
                      <a:schemeClr val="accent1"/>
                    </a:solidFill>
                  </a:rPr>
                  <a:t> </a:t>
                </a:r>
                <a14:m>
                  <m:oMath xmlns:m="http://schemas.openxmlformats.org/officeDocument/2006/math">
                    <m:r>
                      <a:rPr lang="en-GB" dirty="0" smtClean="0">
                        <a:solidFill>
                          <a:schemeClr val="tx1"/>
                        </a:solidFill>
                        <a:latin typeface="Cambria Math" panose="02040503050406030204" pitchFamily="18" charset="0"/>
                      </a:rPr>
                      <m:t>−0.4335</m:t>
                    </m:r>
                    <m:sSub>
                      <m:sSubPr>
                        <m:ctrlPr>
                          <a:rPr lang="en-GB" i="1" dirty="0">
                            <a:solidFill>
                              <a:schemeClr val="accent1"/>
                            </a:solidFill>
                            <a:latin typeface="Cambria Math" panose="02040503050406030204" pitchFamily="18" charset="0"/>
                          </a:rPr>
                        </m:ctrlPr>
                      </m:sSubPr>
                      <m:e>
                        <m:r>
                          <a:rPr lang="en-GB" i="1" dirty="0">
                            <a:solidFill>
                              <a:schemeClr val="accent1"/>
                            </a:solidFill>
                            <a:latin typeface="Cambria Math" panose="02040503050406030204" pitchFamily="18" charset="0"/>
                          </a:rPr>
                          <m:t>𝑏</m:t>
                        </m:r>
                      </m:e>
                      <m:sub>
                        <m:r>
                          <a:rPr lang="en-GB" b="0" i="0" dirty="0" smtClean="0">
                            <a:solidFill>
                              <a:schemeClr val="accent1"/>
                            </a:solidFill>
                            <a:latin typeface="Cambria Math" panose="02040503050406030204" pitchFamily="18" charset="0"/>
                          </a:rPr>
                          <m:t>1</m:t>
                        </m:r>
                      </m:sub>
                    </m:sSub>
                    <m:r>
                      <a:rPr lang="en-GB" dirty="0" smtClean="0">
                        <a:solidFill>
                          <a:schemeClr val="tx1"/>
                        </a:solidFill>
                        <a:latin typeface="Cambria Math" panose="02040503050406030204" pitchFamily="18" charset="0"/>
                      </a:rPr>
                      <m:t>+1.1305</m:t>
                    </m:r>
                    <m:sSub>
                      <m:sSubPr>
                        <m:ctrlPr>
                          <a:rPr lang="en-GB" i="1" dirty="0">
                            <a:solidFill>
                              <a:schemeClr val="accent1"/>
                            </a:solidFill>
                            <a:latin typeface="Cambria Math" panose="02040503050406030204" pitchFamily="18" charset="0"/>
                          </a:rPr>
                        </m:ctrlPr>
                      </m:sSubPr>
                      <m:e>
                        <m:r>
                          <a:rPr lang="en-GB" i="1" dirty="0">
                            <a:solidFill>
                              <a:schemeClr val="accent1"/>
                            </a:solidFill>
                            <a:latin typeface="Cambria Math" panose="02040503050406030204" pitchFamily="18" charset="0"/>
                          </a:rPr>
                          <m:t>𝑏</m:t>
                        </m:r>
                      </m:e>
                      <m:sub>
                        <m:r>
                          <a:rPr lang="en-GB" b="0" i="0" dirty="0" smtClean="0">
                            <a:solidFill>
                              <a:schemeClr val="accent1"/>
                            </a:solidFill>
                            <a:latin typeface="Cambria Math" panose="02040503050406030204" pitchFamily="18" charset="0"/>
                          </a:rPr>
                          <m:t>2</m:t>
                        </m:r>
                      </m:sub>
                    </m:sSub>
                  </m:oMath>
                </a14:m>
                <a:r>
                  <a:rPr lang="en-GB" dirty="0">
                    <a:solidFill>
                      <a:schemeClr val="tx1"/>
                    </a:solidFill>
                  </a:rPr>
                  <a:t> </a:t>
                </a:r>
                <a14:m>
                  <m:oMath xmlns:m="http://schemas.openxmlformats.org/officeDocument/2006/math">
                    <m:r>
                      <a:rPr lang="en-GB" dirty="0">
                        <a:solidFill>
                          <a:schemeClr val="tx1"/>
                        </a:solidFill>
                        <a:latin typeface="Cambria Math" panose="02040503050406030204" pitchFamily="18" charset="0"/>
                      </a:rPr>
                      <m:t>−2.9393</m:t>
                    </m:r>
                    <m:sSub>
                      <m:sSubPr>
                        <m:ctrlPr>
                          <a:rPr lang="en-GB" i="1" dirty="0">
                            <a:solidFill>
                              <a:srgbClr val="00B050"/>
                            </a:solidFill>
                            <a:latin typeface="Cambria Math" panose="02040503050406030204" pitchFamily="18" charset="0"/>
                          </a:rPr>
                        </m:ctrlPr>
                      </m:sSubPr>
                      <m:e>
                        <m:r>
                          <a:rPr lang="en-GB" i="1" dirty="0">
                            <a:solidFill>
                              <a:srgbClr val="00B050"/>
                            </a:solidFill>
                            <a:latin typeface="Cambria Math" panose="02040503050406030204" pitchFamily="18" charset="0"/>
                          </a:rPr>
                          <m:t>𝑐</m:t>
                        </m:r>
                      </m:e>
                      <m:sub>
                        <m:r>
                          <a:rPr lang="en-GB" dirty="0">
                            <a:solidFill>
                              <a:srgbClr val="00B050"/>
                            </a:solidFill>
                            <a:latin typeface="Cambria Math" panose="02040503050406030204" pitchFamily="18" charset="0"/>
                          </a:rPr>
                          <m:t>1</m:t>
                        </m:r>
                      </m:sub>
                    </m:sSub>
                    <m:r>
                      <a:rPr lang="en-GB" dirty="0" smtClean="0">
                        <a:solidFill>
                          <a:schemeClr val="tx1"/>
                        </a:solidFill>
                        <a:latin typeface="Cambria Math" panose="02040503050406030204" pitchFamily="18" charset="0"/>
                      </a:rPr>
                      <m:t>+0.9234</m:t>
                    </m:r>
                    <m:sSub>
                      <m:sSubPr>
                        <m:ctrlPr>
                          <a:rPr lang="en-GB" i="1" dirty="0">
                            <a:solidFill>
                              <a:srgbClr val="00B050"/>
                            </a:solidFill>
                            <a:latin typeface="Cambria Math" panose="02040503050406030204" pitchFamily="18" charset="0"/>
                          </a:rPr>
                        </m:ctrlPr>
                      </m:sSubPr>
                      <m:e>
                        <m:r>
                          <a:rPr lang="en-GB" i="1" dirty="0">
                            <a:solidFill>
                              <a:srgbClr val="00B050"/>
                            </a:solidFill>
                            <a:latin typeface="Cambria Math" panose="02040503050406030204" pitchFamily="18" charset="0"/>
                          </a:rPr>
                          <m:t>𝑐</m:t>
                        </m:r>
                      </m:e>
                      <m:sub>
                        <m:r>
                          <a:rPr lang="en-GB" dirty="0">
                            <a:solidFill>
                              <a:srgbClr val="00B050"/>
                            </a:solidFill>
                            <a:latin typeface="Cambria Math" panose="02040503050406030204" pitchFamily="18" charset="0"/>
                          </a:rPr>
                          <m:t>2</m:t>
                        </m:r>
                      </m:sub>
                    </m:sSub>
                    <m:r>
                      <a:rPr lang="en-GB" dirty="0" smtClean="0">
                        <a:solidFill>
                          <a:schemeClr val="tx1"/>
                        </a:solidFill>
                        <a:latin typeface="Cambria Math" panose="02040503050406030204" pitchFamily="18" charset="0"/>
                      </a:rPr>
                      <m:t>−2.0303</m:t>
                    </m:r>
                    <m:sSub>
                      <m:sSubPr>
                        <m:ctrlPr>
                          <a:rPr lang="en-GB" i="1" dirty="0">
                            <a:solidFill>
                              <a:srgbClr val="00B050"/>
                            </a:solidFill>
                            <a:latin typeface="Cambria Math" panose="02040503050406030204" pitchFamily="18" charset="0"/>
                          </a:rPr>
                        </m:ctrlPr>
                      </m:sSubPr>
                      <m:e>
                        <m:r>
                          <a:rPr lang="en-GB" i="1" dirty="0">
                            <a:solidFill>
                              <a:srgbClr val="00B050"/>
                            </a:solidFill>
                            <a:latin typeface="Cambria Math" panose="02040503050406030204" pitchFamily="18" charset="0"/>
                          </a:rPr>
                          <m:t>𝑐</m:t>
                        </m:r>
                      </m:e>
                      <m:sub>
                        <m:r>
                          <a:rPr lang="en-GB" dirty="0">
                            <a:solidFill>
                              <a:srgbClr val="00B050"/>
                            </a:solidFill>
                            <a:latin typeface="Cambria Math" panose="02040503050406030204" pitchFamily="18" charset="0"/>
                          </a:rPr>
                          <m:t>3</m:t>
                        </m:r>
                      </m:sub>
                    </m:sSub>
                    <m:r>
                      <a:rPr lang="en-GB" dirty="0" smtClean="0">
                        <a:solidFill>
                          <a:schemeClr val="tx1"/>
                        </a:solidFill>
                        <a:latin typeface="Cambria Math" panose="02040503050406030204" pitchFamily="18" charset="0"/>
                      </a:rPr>
                      <m:t>+0.2310</m:t>
                    </m:r>
                    <m:sSub>
                      <m:sSubPr>
                        <m:ctrlPr>
                          <a:rPr lang="en-GB" i="1" dirty="0">
                            <a:solidFill>
                              <a:srgbClr val="FFC000"/>
                            </a:solidFill>
                            <a:latin typeface="Cambria Math" panose="02040503050406030204" pitchFamily="18" charset="0"/>
                          </a:rPr>
                        </m:ctrlPr>
                      </m:sSubPr>
                      <m:e>
                        <m:r>
                          <a:rPr lang="en-GB" i="1" dirty="0">
                            <a:solidFill>
                              <a:srgbClr val="FFC000"/>
                            </a:solidFill>
                            <a:latin typeface="Cambria Math" panose="02040503050406030204" pitchFamily="18" charset="0"/>
                          </a:rPr>
                          <m:t>𝑑</m:t>
                        </m:r>
                      </m:e>
                      <m:sub>
                        <m:r>
                          <a:rPr lang="en-GB" dirty="0">
                            <a:solidFill>
                              <a:srgbClr val="FFC000"/>
                            </a:solidFill>
                            <a:latin typeface="Cambria Math" panose="02040503050406030204" pitchFamily="18" charset="0"/>
                          </a:rPr>
                          <m:t>1</m:t>
                        </m:r>
                      </m:sub>
                    </m:sSub>
                    <m:r>
                      <a:rPr lang="en-GB" dirty="0" smtClean="0">
                        <a:solidFill>
                          <a:schemeClr val="tx1"/>
                        </a:solidFill>
                        <a:latin typeface="Cambria Math" panose="02040503050406030204" pitchFamily="18" charset="0"/>
                      </a:rPr>
                      <m:t>−0.0507</m:t>
                    </m:r>
                    <m:sSub>
                      <m:sSubPr>
                        <m:ctrlPr>
                          <a:rPr lang="en-GB" i="1" dirty="0">
                            <a:solidFill>
                              <a:srgbClr val="C00000"/>
                            </a:solidFill>
                            <a:latin typeface="Cambria Math" panose="02040503050406030204" pitchFamily="18" charset="0"/>
                          </a:rPr>
                        </m:ctrlPr>
                      </m:sSubPr>
                      <m:e>
                        <m:r>
                          <a:rPr lang="en-GB" i="1" dirty="0">
                            <a:solidFill>
                              <a:srgbClr val="C00000"/>
                            </a:solidFill>
                            <a:latin typeface="Cambria Math" panose="02040503050406030204" pitchFamily="18" charset="0"/>
                          </a:rPr>
                          <m:t>𝑒</m:t>
                        </m:r>
                      </m:e>
                      <m:sub>
                        <m:r>
                          <a:rPr lang="en-GB" dirty="0">
                            <a:solidFill>
                              <a:srgbClr val="C00000"/>
                            </a:solidFill>
                            <a:latin typeface="Cambria Math" panose="02040503050406030204" pitchFamily="18" charset="0"/>
                          </a:rPr>
                          <m:t>1</m:t>
                        </m:r>
                      </m:sub>
                    </m:sSub>
                    <m:r>
                      <a:rPr lang="en-GB" dirty="0" smtClean="0">
                        <a:solidFill>
                          <a:schemeClr val="tx1"/>
                        </a:solidFill>
                        <a:latin typeface="Cambria Math" panose="02040503050406030204" pitchFamily="18" charset="0"/>
                      </a:rPr>
                      <m:t>+0.031</m:t>
                    </m:r>
                    <m:r>
                      <a:rPr lang="en-GB" b="0" i="0" dirty="0" smtClean="0">
                        <a:solidFill>
                          <a:schemeClr val="tx1"/>
                        </a:solidFill>
                        <a:latin typeface="Cambria Math" panose="02040503050406030204" pitchFamily="18" charset="0"/>
                      </a:rPr>
                      <m:t>5</m:t>
                    </m:r>
                    <m:sSub>
                      <m:sSubPr>
                        <m:ctrlPr>
                          <a:rPr lang="en-GB" i="1" dirty="0">
                            <a:solidFill>
                              <a:srgbClr val="002060"/>
                            </a:solidFill>
                            <a:latin typeface="Cambria Math" panose="02040503050406030204" pitchFamily="18" charset="0"/>
                          </a:rPr>
                        </m:ctrlPr>
                      </m:sSubPr>
                      <m:e>
                        <m:r>
                          <a:rPr lang="en-GB" i="1" dirty="0">
                            <a:solidFill>
                              <a:srgbClr val="002060"/>
                            </a:solidFill>
                            <a:latin typeface="Cambria Math" panose="02040503050406030204" pitchFamily="18" charset="0"/>
                          </a:rPr>
                          <m:t>𝑓</m:t>
                        </m:r>
                      </m:e>
                      <m:sub>
                        <m:r>
                          <a:rPr lang="en-GB" i="1" dirty="0">
                            <a:solidFill>
                              <a:srgbClr val="002060"/>
                            </a:solidFill>
                            <a:latin typeface="Cambria Math" panose="02040503050406030204" pitchFamily="18" charset="0"/>
                          </a:rPr>
                          <m:t>1</m:t>
                        </m:r>
                      </m:sub>
                    </m:sSub>
                  </m:oMath>
                </a14:m>
                <a:endParaRPr lang="en-GB" dirty="0">
                  <a:solidFill>
                    <a:schemeClr val="accent1"/>
                  </a:solidFill>
                </a:endParaRPr>
              </a:p>
              <a:p>
                <a:endParaRPr lang="en-ZA" dirty="0"/>
              </a:p>
            </p:txBody>
          </p:sp>
        </mc:Choice>
        <mc:Fallback xmlns="">
          <p:sp>
            <p:nvSpPr>
              <p:cNvPr id="4" name="TextBox 3">
                <a:extLst>
                  <a:ext uri="{FF2B5EF4-FFF2-40B4-BE49-F238E27FC236}">
                    <a16:creationId xmlns:a16="http://schemas.microsoft.com/office/drawing/2014/main" id="{A6C3AA60-5C2D-4952-E33F-0BA308FCF32D}"/>
                  </a:ext>
                </a:extLst>
              </p:cNvPr>
              <p:cNvSpPr txBox="1">
                <a:spLocks noGrp="1" noRot="1" noChangeAspect="1" noMove="1" noResize="1" noEditPoints="1" noAdjustHandles="1" noChangeArrowheads="1" noChangeShapeType="1" noTextEdit="1"/>
              </p:cNvSpPr>
              <p:nvPr/>
            </p:nvSpPr>
            <p:spPr>
              <a:xfrm>
                <a:off x="650000" y="1020000"/>
                <a:ext cx="10972800" cy="923330"/>
              </a:xfrm>
              <a:prstGeom prst="rect">
                <a:avLst/>
              </a:prstGeom>
              <a:blipFill>
                <a:blip r:embed="rId3"/>
                <a:stretch>
                  <a:fillRect l="-500" t="-3289"/>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graphicFrame>
            <p:nvGraphicFramePr>
              <p:cNvPr id="9" name="Table 5">
                <a:extLst>
                  <a:ext uri="{FF2B5EF4-FFF2-40B4-BE49-F238E27FC236}">
                    <a16:creationId xmlns:a16="http://schemas.microsoft.com/office/drawing/2014/main" id="{7E3E5BF2-17AD-4EFA-81FF-69BDC369ADEE}"/>
                  </a:ext>
                </a:extLst>
              </p:cNvPr>
              <p:cNvGraphicFramePr>
                <a:graphicFrameLocks noGrp="1"/>
              </p:cNvGraphicFramePr>
              <p:nvPr>
                <p:extLst>
                  <p:ext uri="{D42A27DB-BD31-4B8C-83A1-F6EECF244321}">
                    <p14:modId xmlns:p14="http://schemas.microsoft.com/office/powerpoint/2010/main" val="428118302"/>
                  </p:ext>
                </p:extLst>
              </p:nvPr>
            </p:nvGraphicFramePr>
            <p:xfrm>
              <a:off x="500380" y="1985000"/>
              <a:ext cx="11160760" cy="4389120"/>
            </p:xfrm>
            <a:graphic>
              <a:graphicData uri="http://schemas.openxmlformats.org/drawingml/2006/table">
                <a:tbl>
                  <a:tblPr>
                    <a:tableStyleId>{5C22544A-7EE6-4342-B048-85BDC9FD1C3A}</a:tableStyleId>
                  </a:tblPr>
                  <a:tblGrid>
                    <a:gridCol w="5537974">
                      <a:extLst>
                        <a:ext uri="{9D8B030D-6E8A-4147-A177-3AD203B41FA5}">
                          <a16:colId xmlns:a16="http://schemas.microsoft.com/office/drawing/2014/main" val="69099362"/>
                        </a:ext>
                      </a:extLst>
                    </a:gridCol>
                    <a:gridCol w="5622786">
                      <a:extLst>
                        <a:ext uri="{9D8B030D-6E8A-4147-A177-3AD203B41FA5}">
                          <a16:colId xmlns:a16="http://schemas.microsoft.com/office/drawing/2014/main" val="2611329327"/>
                        </a:ext>
                      </a:extLst>
                    </a:gridCol>
                  </a:tblGrid>
                  <a:tr h="0">
                    <a:tc>
                      <a:txBody>
                        <a:bodyPr/>
                        <a:lstStyle/>
                        <a:p>
                          <a:pPr algn="ctr">
                            <a:buNone/>
                          </a:pPr>
                          <a:r>
                            <a:rPr lang="en-ZA" dirty="0"/>
                            <a:t>Symbol</a:t>
                          </a:r>
                        </a:p>
                      </a:txBody>
                      <a:tcPr anchor="ctr"/>
                    </a:tc>
                    <a:tc>
                      <a:txBody>
                        <a:bodyPr/>
                        <a:lstStyle/>
                        <a:p>
                          <a:pPr algn="ctr">
                            <a:buNone/>
                          </a:pPr>
                          <a:r>
                            <a:rPr lang="en-ZA" dirty="0"/>
                            <a:t>Variable</a:t>
                          </a:r>
                        </a:p>
                      </a:txBody>
                      <a:tcPr anchor="ctr"/>
                    </a:tc>
                    <a:extLst>
                      <a:ext uri="{0D108BD9-81ED-4DB2-BD59-A6C34878D82A}">
                        <a16:rowId xmlns:a16="http://schemas.microsoft.com/office/drawing/2014/main" val="1339854645"/>
                      </a:ext>
                    </a:extLst>
                  </a:tr>
                  <a:tr h="0">
                    <a:tc>
                      <a:txBody>
                        <a:bodyPr/>
                        <a:lstStyle/>
                        <a:p>
                          <a:pPr>
                            <a:buNone/>
                          </a:pPr>
                          <a14:m>
                            <m:oMathPara xmlns:m="http://schemas.openxmlformats.org/officeDocument/2006/math">
                              <m:oMath>
                                <m:sSub>
                                  <m:sSubPr>
                                    <m:ctrlPr>
                                      <a:rPr lang="en-GB" b="0" i="1" dirty="0" smtClean="0">
                                        <a:solidFill>
                                          <a:srgbClr val="FF0000"/>
                                        </a:solidFill>
                                        <a:latin typeface="Cambria Math" panose="02040503050406030204" pitchFamily="18" charset="0"/>
                                      </a:rPr>
                                    </m:ctrlPr>
                                  </m:sSubPr>
                                  <m:e>
                                    <m:r>
                                      <a:rPr lang="en-GB" b="0" i="1" dirty="0" smtClean="0">
                                        <a:solidFill>
                                          <a:srgbClr val="FF0000"/>
                                        </a:solidFill>
                                        <a:latin typeface="Cambria Math" panose="02040503050406030204" pitchFamily="18" charset="0"/>
                                      </a:rPr>
                                      <m:t>𝑎</m:t>
                                    </m:r>
                                  </m:e>
                                  <m:sub>
                                    <m:r>
                                      <a:rPr lang="en-GB" dirty="0">
                                        <a:solidFill>
                                          <a:srgbClr val="FF0000"/>
                                        </a:solidFill>
                                        <a:latin typeface="Cambria Math" panose="02040503050406030204" pitchFamily="18" charset="0"/>
                                      </a:rPr>
                                      <m:t>1</m:t>
                                    </m:r>
                                  </m:sub>
                                </m:sSub>
                              </m:oMath>
                            </m:oMathPara>
                          </a14:m>
                          <a:endParaRPr lang="en-ZA" dirty="0"/>
                        </a:p>
                      </a:txBody>
                      <a:tcPr anchor="ctr"/>
                    </a:tc>
                    <a:tc>
                      <a:txBody>
                        <a:bodyPr/>
                        <a:lstStyle/>
                        <a:p>
                          <a:pPr algn="ctr">
                            <a:buNone/>
                          </a:pPr>
                          <a:r>
                            <a:rPr lang="en-ZA" dirty="0"/>
                            <a:t>Salaried</a:t>
                          </a:r>
                        </a:p>
                      </a:txBody>
                      <a:tcPr anchor="ctr"/>
                    </a:tc>
                    <a:extLst>
                      <a:ext uri="{0D108BD9-81ED-4DB2-BD59-A6C34878D82A}">
                        <a16:rowId xmlns:a16="http://schemas.microsoft.com/office/drawing/2014/main" val="1947010647"/>
                      </a:ext>
                    </a:extLst>
                  </a:tr>
                  <a:tr h="0">
                    <a:tc>
                      <a:txBody>
                        <a:bodyPr/>
                        <a:lstStyle/>
                        <a:p>
                          <a:pPr>
                            <a:buNone/>
                          </a:pPr>
                          <a14:m>
                            <m:oMathPara xmlns:m="http://schemas.openxmlformats.org/officeDocument/2006/math">
                              <m:oMath>
                                <m:sSub>
                                  <m:sSubPr>
                                    <m:ctrlPr>
                                      <a:rPr lang="en-GB" b="0" i="1" dirty="0" smtClean="0">
                                        <a:solidFill>
                                          <a:srgbClr val="FF0000"/>
                                        </a:solidFill>
                                        <a:latin typeface="Cambria Math" panose="02040503050406030204" pitchFamily="18" charset="0"/>
                                      </a:rPr>
                                    </m:ctrlPr>
                                  </m:sSubPr>
                                  <m:e>
                                    <m:r>
                                      <a:rPr lang="en-GB" b="0" i="1" dirty="0" smtClean="0">
                                        <a:solidFill>
                                          <a:srgbClr val="FF0000"/>
                                        </a:solidFill>
                                        <a:latin typeface="Cambria Math" panose="02040503050406030204" pitchFamily="18" charset="0"/>
                                      </a:rPr>
                                      <m:t>𝑎</m:t>
                                    </m:r>
                                  </m:e>
                                  <m:sub>
                                    <m:r>
                                      <a:rPr lang="en-GB" dirty="0">
                                        <a:solidFill>
                                          <a:srgbClr val="FF0000"/>
                                        </a:solidFill>
                                        <a:latin typeface="Cambria Math" panose="02040503050406030204" pitchFamily="18" charset="0"/>
                                      </a:rPr>
                                      <m:t>2</m:t>
                                    </m:r>
                                  </m:sub>
                                </m:sSub>
                              </m:oMath>
                            </m:oMathPara>
                          </a14:m>
                          <a:endParaRPr lang="en-ZA" dirty="0"/>
                        </a:p>
                      </a:txBody>
                      <a:tcPr anchor="ctr"/>
                    </a:tc>
                    <a:tc>
                      <a:txBody>
                        <a:bodyPr/>
                        <a:lstStyle/>
                        <a:p>
                          <a:pPr algn="ctr">
                            <a:buNone/>
                          </a:pPr>
                          <a:r>
                            <a:rPr lang="en-ZA" dirty="0"/>
                            <a:t>Self-employed</a:t>
                          </a:r>
                        </a:p>
                      </a:txBody>
                      <a:tcPr anchor="ctr"/>
                    </a:tc>
                    <a:extLst>
                      <a:ext uri="{0D108BD9-81ED-4DB2-BD59-A6C34878D82A}">
                        <a16:rowId xmlns:a16="http://schemas.microsoft.com/office/drawing/2014/main" val="3426411147"/>
                      </a:ext>
                    </a:extLst>
                  </a:tr>
                  <a:tr h="0">
                    <a:tc>
                      <a:txBody>
                        <a:bodyPr/>
                        <a:lstStyle/>
                        <a:p>
                          <a:pPr>
                            <a:buNone/>
                          </a:pPr>
                          <a14:m>
                            <m:oMathPara xmlns:m="http://schemas.openxmlformats.org/officeDocument/2006/math">
                              <m:oMath>
                                <m:sSub>
                                  <m:sSubPr>
                                    <m:ctrlPr>
                                      <a:rPr lang="en-GB" b="0" i="1" dirty="0" smtClean="0">
                                        <a:solidFill>
                                          <a:srgbClr val="FF0000"/>
                                        </a:solidFill>
                                        <a:latin typeface="Cambria Math" panose="02040503050406030204" pitchFamily="18" charset="0"/>
                                      </a:rPr>
                                    </m:ctrlPr>
                                  </m:sSubPr>
                                  <m:e>
                                    <m:r>
                                      <a:rPr lang="en-GB" b="0" i="1" dirty="0" smtClean="0">
                                        <a:solidFill>
                                          <a:srgbClr val="FF0000"/>
                                        </a:solidFill>
                                        <a:latin typeface="Cambria Math" panose="02040503050406030204" pitchFamily="18" charset="0"/>
                                      </a:rPr>
                                      <m:t>𝑎</m:t>
                                    </m:r>
                                  </m:e>
                                  <m:sub>
                                    <m:r>
                                      <a:rPr lang="en-GB" dirty="0">
                                        <a:solidFill>
                                          <a:srgbClr val="FF0000"/>
                                        </a:solidFill>
                                        <a:latin typeface="Cambria Math" panose="02040503050406030204" pitchFamily="18" charset="0"/>
                                      </a:rPr>
                                      <m:t>3</m:t>
                                    </m:r>
                                  </m:sub>
                                </m:sSub>
                              </m:oMath>
                            </m:oMathPara>
                          </a14:m>
                          <a:endParaRPr lang="en-ZA" dirty="0"/>
                        </a:p>
                      </a:txBody>
                      <a:tcPr anchor="ctr"/>
                    </a:tc>
                    <a:tc>
                      <a:txBody>
                        <a:bodyPr/>
                        <a:lstStyle/>
                        <a:p>
                          <a:pPr algn="ctr">
                            <a:buNone/>
                          </a:pPr>
                          <a:r>
                            <a:rPr lang="en-ZA" dirty="0"/>
                            <a:t>Unemployed</a:t>
                          </a:r>
                        </a:p>
                      </a:txBody>
                      <a:tcPr anchor="ctr"/>
                    </a:tc>
                    <a:extLst>
                      <a:ext uri="{0D108BD9-81ED-4DB2-BD59-A6C34878D82A}">
                        <a16:rowId xmlns:a16="http://schemas.microsoft.com/office/drawing/2014/main" val="3005747968"/>
                      </a:ext>
                    </a:extLst>
                  </a:tr>
                  <a:tr h="171085">
                    <a:tc>
                      <a:txBody>
                        <a:bodyPr/>
                        <a:lstStyle/>
                        <a:p>
                          <a:pPr>
                            <a:buNone/>
                          </a:pPr>
                          <a14:m>
                            <m:oMathPara xmlns:m="http://schemas.openxmlformats.org/officeDocument/2006/math">
                              <m:oMath>
                                <m:sSub>
                                  <m:sSubPr>
                                    <m:ctrlPr>
                                      <a:rPr lang="en-GB" i="1" dirty="0">
                                        <a:solidFill>
                                          <a:schemeClr val="accent1"/>
                                        </a:solidFill>
                                        <a:latin typeface="Cambria Math" panose="02040503050406030204" pitchFamily="18" charset="0"/>
                                      </a:rPr>
                                    </m:ctrlPr>
                                  </m:sSubPr>
                                  <m:e>
                                    <m:r>
                                      <a:rPr lang="en-GB" i="1" dirty="0">
                                        <a:solidFill>
                                          <a:schemeClr val="accent1"/>
                                        </a:solidFill>
                                        <a:latin typeface="Cambria Math" panose="02040503050406030204" pitchFamily="18" charset="0"/>
                                      </a:rPr>
                                      <m:t>𝑏</m:t>
                                    </m:r>
                                  </m:e>
                                  <m:sub>
                                    <m:r>
                                      <a:rPr lang="en-GB" b="0" i="0" dirty="0" smtClean="0">
                                        <a:solidFill>
                                          <a:schemeClr val="accent1"/>
                                        </a:solidFill>
                                        <a:latin typeface="Cambria Math" panose="02040503050406030204" pitchFamily="18" charset="0"/>
                                      </a:rPr>
                                      <m:t>1</m:t>
                                    </m:r>
                                  </m:sub>
                                </m:sSub>
                              </m:oMath>
                            </m:oMathPara>
                          </a14:m>
                          <a:endParaRPr lang="en-ZA" dirty="0"/>
                        </a:p>
                      </a:txBody>
                      <a:tcPr anchor="ctr"/>
                    </a:tc>
                    <a:tc>
                      <a:txBody>
                        <a:bodyPr/>
                        <a:lstStyle/>
                        <a:p>
                          <a:pPr algn="ctr">
                            <a:buNone/>
                          </a:pPr>
                          <a:r>
                            <a:rPr lang="en-ZA" dirty="0"/>
                            <a:t>Own</a:t>
                          </a:r>
                        </a:p>
                      </a:txBody>
                      <a:tcPr anchor="ctr"/>
                    </a:tc>
                    <a:extLst>
                      <a:ext uri="{0D108BD9-81ED-4DB2-BD59-A6C34878D82A}">
                        <a16:rowId xmlns:a16="http://schemas.microsoft.com/office/drawing/2014/main" val="2721851198"/>
                      </a:ext>
                    </a:extLst>
                  </a:tr>
                  <a:tr h="0">
                    <a:tc>
                      <a:txBody>
                        <a:bodyPr/>
                        <a:lstStyle/>
                        <a:p>
                          <a:pPr>
                            <a:buNone/>
                          </a:pPr>
                          <a14:m>
                            <m:oMathPara xmlns:m="http://schemas.openxmlformats.org/officeDocument/2006/math">
                              <m:oMath>
                                <m:sSub>
                                  <m:sSubPr>
                                    <m:ctrlPr>
                                      <a:rPr lang="en-GB" i="1" dirty="0">
                                        <a:solidFill>
                                          <a:schemeClr val="accent1"/>
                                        </a:solidFill>
                                        <a:latin typeface="Cambria Math" panose="02040503050406030204" pitchFamily="18" charset="0"/>
                                      </a:rPr>
                                    </m:ctrlPr>
                                  </m:sSubPr>
                                  <m:e>
                                    <m:r>
                                      <a:rPr lang="en-GB" i="1" dirty="0">
                                        <a:solidFill>
                                          <a:schemeClr val="accent1"/>
                                        </a:solidFill>
                                        <a:latin typeface="Cambria Math" panose="02040503050406030204" pitchFamily="18" charset="0"/>
                                      </a:rPr>
                                      <m:t>𝑏</m:t>
                                    </m:r>
                                  </m:e>
                                  <m:sub>
                                    <m:r>
                                      <a:rPr lang="en-GB" b="0" i="0" dirty="0" smtClean="0">
                                        <a:solidFill>
                                          <a:schemeClr val="accent1"/>
                                        </a:solidFill>
                                        <a:latin typeface="Cambria Math" panose="02040503050406030204" pitchFamily="18" charset="0"/>
                                      </a:rPr>
                                      <m:t>2</m:t>
                                    </m:r>
                                  </m:sub>
                                </m:sSub>
                              </m:oMath>
                            </m:oMathPara>
                          </a14:m>
                          <a:endParaRPr lang="en-ZA" dirty="0"/>
                        </a:p>
                      </a:txBody>
                      <a:tcPr anchor="ctr"/>
                    </a:tc>
                    <a:tc>
                      <a:txBody>
                        <a:bodyPr/>
                        <a:lstStyle/>
                        <a:p>
                          <a:pPr algn="ctr">
                            <a:buNone/>
                          </a:pPr>
                          <a:r>
                            <a:rPr lang="en-ZA" dirty="0"/>
                            <a:t>Rent</a:t>
                          </a:r>
                        </a:p>
                      </a:txBody>
                      <a:tcPr anchor="ctr"/>
                    </a:tc>
                    <a:extLst>
                      <a:ext uri="{0D108BD9-81ED-4DB2-BD59-A6C34878D82A}">
                        <a16:rowId xmlns:a16="http://schemas.microsoft.com/office/drawing/2014/main" val="3438366069"/>
                      </a:ext>
                    </a:extLst>
                  </a:tr>
                  <a:tr h="0">
                    <a:tc>
                      <a:txBody>
                        <a:bodyPr/>
                        <a:lstStyle/>
                        <a:p>
                          <a:pPr>
                            <a:buNone/>
                          </a:pPr>
                          <a14:m>
                            <m:oMathPara xmlns:m="http://schemas.openxmlformats.org/officeDocument/2006/math">
                              <m:oMath>
                                <m:sSub>
                                  <m:sSubPr>
                                    <m:ctrlPr>
                                      <a:rPr lang="en-GB" b="0" i="1" dirty="0" smtClean="0">
                                        <a:solidFill>
                                          <a:srgbClr val="00B050"/>
                                        </a:solidFill>
                                        <a:latin typeface="Cambria Math" panose="02040503050406030204" pitchFamily="18" charset="0"/>
                                      </a:rPr>
                                    </m:ctrlPr>
                                  </m:sSubPr>
                                  <m:e>
                                    <m:r>
                                      <a:rPr lang="en-GB" b="0" i="1" dirty="0" smtClean="0">
                                        <a:solidFill>
                                          <a:srgbClr val="00B050"/>
                                        </a:solidFill>
                                        <a:latin typeface="Cambria Math" panose="02040503050406030204" pitchFamily="18" charset="0"/>
                                      </a:rPr>
                                      <m:t>𝑐</m:t>
                                    </m:r>
                                  </m:e>
                                  <m:sub>
                                    <m:r>
                                      <a:rPr lang="en-GB" b="0" i="0" dirty="0" smtClean="0">
                                        <a:solidFill>
                                          <a:srgbClr val="00B050"/>
                                        </a:solidFill>
                                        <a:latin typeface="Cambria Math" panose="02040503050406030204" pitchFamily="18" charset="0"/>
                                      </a:rPr>
                                      <m:t>1</m:t>
                                    </m:r>
                                  </m:sub>
                                </m:sSub>
                              </m:oMath>
                            </m:oMathPara>
                          </a14:m>
                          <a:endParaRPr lang="en-ZA" dirty="0"/>
                        </a:p>
                      </a:txBody>
                      <a:tcPr anchor="ctr"/>
                    </a:tc>
                    <a:tc>
                      <a:txBody>
                        <a:bodyPr/>
                        <a:lstStyle/>
                        <a:p>
                          <a:pPr algn="ctr">
                            <a:buNone/>
                          </a:pPr>
                          <a:r>
                            <a:rPr lang="en-ZA" dirty="0"/>
                            <a:t>Home improvement</a:t>
                          </a:r>
                        </a:p>
                      </a:txBody>
                      <a:tcPr anchor="ctr"/>
                    </a:tc>
                    <a:extLst>
                      <a:ext uri="{0D108BD9-81ED-4DB2-BD59-A6C34878D82A}">
                        <a16:rowId xmlns:a16="http://schemas.microsoft.com/office/drawing/2014/main" val="3098078112"/>
                      </a:ext>
                    </a:extLst>
                  </a:tr>
                  <a:tr h="0">
                    <a:tc>
                      <a:txBody>
                        <a:bodyPr/>
                        <a:lstStyle/>
                        <a:p>
                          <a:pPr>
                            <a:buNone/>
                          </a:pPr>
                          <a14:m>
                            <m:oMathPara xmlns:m="http://schemas.openxmlformats.org/officeDocument/2006/math">
                              <m:oMath>
                                <m:sSub>
                                  <m:sSubPr>
                                    <m:ctrlPr>
                                      <a:rPr lang="en-GB" b="0" i="1" dirty="0" smtClean="0">
                                        <a:solidFill>
                                          <a:srgbClr val="00B050"/>
                                        </a:solidFill>
                                        <a:latin typeface="Cambria Math" panose="02040503050406030204" pitchFamily="18" charset="0"/>
                                      </a:rPr>
                                    </m:ctrlPr>
                                  </m:sSubPr>
                                  <m:e>
                                    <m:r>
                                      <a:rPr lang="en-GB" b="0" i="1" dirty="0" smtClean="0">
                                        <a:solidFill>
                                          <a:srgbClr val="00B050"/>
                                        </a:solidFill>
                                        <a:latin typeface="Cambria Math" panose="02040503050406030204" pitchFamily="18" charset="0"/>
                                      </a:rPr>
                                      <m:t>𝑐</m:t>
                                    </m:r>
                                  </m:e>
                                  <m:sub>
                                    <m:r>
                                      <a:rPr lang="en-GB" b="0" i="0" dirty="0" smtClean="0">
                                        <a:solidFill>
                                          <a:srgbClr val="00B050"/>
                                        </a:solidFill>
                                        <a:latin typeface="Cambria Math" panose="02040503050406030204" pitchFamily="18" charset="0"/>
                                      </a:rPr>
                                      <m:t>2</m:t>
                                    </m:r>
                                  </m:sub>
                                </m:sSub>
                              </m:oMath>
                            </m:oMathPara>
                          </a14:m>
                          <a:endParaRPr lang="en-ZA" dirty="0"/>
                        </a:p>
                      </a:txBody>
                      <a:tcPr anchor="ctr"/>
                    </a:tc>
                    <a:tc>
                      <a:txBody>
                        <a:bodyPr/>
                        <a:lstStyle/>
                        <a:p>
                          <a:pPr algn="ctr">
                            <a:buNone/>
                          </a:pPr>
                          <a:r>
                            <a:rPr lang="en-ZA" dirty="0"/>
                            <a:t>Other purpose</a:t>
                          </a:r>
                        </a:p>
                      </a:txBody>
                      <a:tcPr anchor="ctr"/>
                    </a:tc>
                    <a:extLst>
                      <a:ext uri="{0D108BD9-81ED-4DB2-BD59-A6C34878D82A}">
                        <a16:rowId xmlns:a16="http://schemas.microsoft.com/office/drawing/2014/main" val="2999613466"/>
                      </a:ext>
                    </a:extLst>
                  </a:tr>
                  <a:tr h="0">
                    <a:tc>
                      <a:txBody>
                        <a:bodyPr/>
                        <a:lstStyle/>
                        <a:p>
                          <a:pPr>
                            <a:buNone/>
                          </a:pPr>
                          <a14:m>
                            <m:oMathPara xmlns:m="http://schemas.openxmlformats.org/officeDocument/2006/math">
                              <m:oMath>
                                <m:sSub>
                                  <m:sSubPr>
                                    <m:ctrlPr>
                                      <a:rPr lang="en-GB" b="0" i="1" dirty="0" smtClean="0">
                                        <a:solidFill>
                                          <a:srgbClr val="00B050"/>
                                        </a:solidFill>
                                        <a:latin typeface="Cambria Math" panose="02040503050406030204" pitchFamily="18" charset="0"/>
                                      </a:rPr>
                                    </m:ctrlPr>
                                  </m:sSubPr>
                                  <m:e>
                                    <m:r>
                                      <a:rPr lang="en-GB" b="0" i="1" dirty="0" smtClean="0">
                                        <a:solidFill>
                                          <a:srgbClr val="00B050"/>
                                        </a:solidFill>
                                        <a:latin typeface="Cambria Math" panose="02040503050406030204" pitchFamily="18" charset="0"/>
                                      </a:rPr>
                                      <m:t>𝑐</m:t>
                                    </m:r>
                                  </m:e>
                                  <m:sub>
                                    <m:r>
                                      <a:rPr lang="en-GB" b="0" i="0" dirty="0" smtClean="0">
                                        <a:solidFill>
                                          <a:srgbClr val="00B050"/>
                                        </a:solidFill>
                                        <a:latin typeface="Cambria Math" panose="02040503050406030204" pitchFamily="18" charset="0"/>
                                      </a:rPr>
                                      <m:t>3</m:t>
                                    </m:r>
                                  </m:sub>
                                </m:sSub>
                              </m:oMath>
                            </m:oMathPara>
                          </a14:m>
                          <a:endParaRPr lang="en-ZA" dirty="0"/>
                        </a:p>
                      </a:txBody>
                      <a:tcPr anchor="ctr"/>
                    </a:tc>
                    <a:tc>
                      <a:txBody>
                        <a:bodyPr/>
                        <a:lstStyle/>
                        <a:p>
                          <a:pPr algn="ctr">
                            <a:buNone/>
                          </a:pPr>
                          <a:r>
                            <a:rPr lang="en-ZA" dirty="0"/>
                            <a:t>Vehicle</a:t>
                          </a:r>
                        </a:p>
                      </a:txBody>
                      <a:tcPr anchor="ctr"/>
                    </a:tc>
                    <a:extLst>
                      <a:ext uri="{0D108BD9-81ED-4DB2-BD59-A6C34878D82A}">
                        <a16:rowId xmlns:a16="http://schemas.microsoft.com/office/drawing/2014/main" val="3540822509"/>
                      </a:ext>
                    </a:extLst>
                  </a:tr>
                  <a:tr h="0">
                    <a:tc>
                      <a:txBody>
                        <a:bodyPr/>
                        <a:lstStyle/>
                        <a:p>
                          <a:pPr>
                            <a:buNone/>
                          </a:pPr>
                          <a14:m>
                            <m:oMathPara xmlns:m="http://schemas.openxmlformats.org/officeDocument/2006/math">
                              <m:oMath>
                                <m:sSub>
                                  <m:sSubPr>
                                    <m:ctrlPr>
                                      <a:rPr lang="en-GB" b="0" i="1" dirty="0" smtClean="0">
                                        <a:solidFill>
                                          <a:srgbClr val="FFC000"/>
                                        </a:solidFill>
                                        <a:latin typeface="Cambria Math" panose="02040503050406030204" pitchFamily="18" charset="0"/>
                                      </a:rPr>
                                    </m:ctrlPr>
                                  </m:sSubPr>
                                  <m:e>
                                    <m:r>
                                      <a:rPr lang="en-GB" b="0" i="1" dirty="0" smtClean="0">
                                        <a:solidFill>
                                          <a:srgbClr val="FFC000"/>
                                        </a:solidFill>
                                        <a:latin typeface="Cambria Math" panose="02040503050406030204" pitchFamily="18" charset="0"/>
                                      </a:rPr>
                                      <m:t>𝑑</m:t>
                                    </m:r>
                                  </m:e>
                                  <m:sub>
                                    <m:r>
                                      <a:rPr lang="en-GB" b="0" i="0" dirty="0" smtClean="0">
                                        <a:solidFill>
                                          <a:srgbClr val="FFC000"/>
                                        </a:solidFill>
                                        <a:latin typeface="Cambria Math" panose="02040503050406030204" pitchFamily="18" charset="0"/>
                                      </a:rPr>
                                      <m:t>1</m:t>
                                    </m:r>
                                  </m:sub>
                                </m:sSub>
                              </m:oMath>
                            </m:oMathPara>
                          </a14:m>
                          <a:endParaRPr lang="en-ZA" dirty="0"/>
                        </a:p>
                      </a:txBody>
                      <a:tcPr anchor="ctr"/>
                    </a:tc>
                    <a:tc>
                      <a:txBody>
                        <a:bodyPr/>
                        <a:lstStyle/>
                        <a:p>
                          <a:pPr algn="ctr">
                            <a:buNone/>
                          </a:pPr>
                          <a:r>
                            <a:rPr lang="en-ZA" dirty="0"/>
                            <a:t>DTI</a:t>
                          </a:r>
                        </a:p>
                      </a:txBody>
                      <a:tcPr anchor="ctr"/>
                    </a:tc>
                    <a:extLst>
                      <a:ext uri="{0D108BD9-81ED-4DB2-BD59-A6C34878D82A}">
                        <a16:rowId xmlns:a16="http://schemas.microsoft.com/office/drawing/2014/main" val="178627522"/>
                      </a:ext>
                    </a:extLst>
                  </a:tr>
                  <a:tr h="0">
                    <a:tc>
                      <a:txBody>
                        <a:bodyPr/>
                        <a:lstStyle/>
                        <a:p>
                          <a:pPr>
                            <a:buNone/>
                          </a:pPr>
                          <a14:m>
                            <m:oMathPara xmlns:m="http://schemas.openxmlformats.org/officeDocument/2006/math">
                              <m:oMath>
                                <m:sSub>
                                  <m:sSubPr>
                                    <m:ctrlPr>
                                      <a:rPr lang="en-GB" b="0" i="1" dirty="0" smtClean="0">
                                        <a:solidFill>
                                          <a:srgbClr val="C00000"/>
                                        </a:solidFill>
                                        <a:latin typeface="Cambria Math" panose="02040503050406030204" pitchFamily="18" charset="0"/>
                                      </a:rPr>
                                    </m:ctrlPr>
                                  </m:sSubPr>
                                  <m:e>
                                    <m:r>
                                      <a:rPr lang="en-GB" b="0" i="1" dirty="0" smtClean="0">
                                        <a:solidFill>
                                          <a:srgbClr val="C00000"/>
                                        </a:solidFill>
                                        <a:latin typeface="Cambria Math" panose="02040503050406030204" pitchFamily="18" charset="0"/>
                                      </a:rPr>
                                      <m:t>𝑒</m:t>
                                    </m:r>
                                  </m:e>
                                  <m:sub>
                                    <m:r>
                                      <a:rPr lang="en-GB" dirty="0">
                                        <a:solidFill>
                                          <a:srgbClr val="C00000"/>
                                        </a:solidFill>
                                        <a:latin typeface="Cambria Math" panose="02040503050406030204" pitchFamily="18" charset="0"/>
                                      </a:rPr>
                                      <m:t>1</m:t>
                                    </m:r>
                                  </m:sub>
                                </m:sSub>
                              </m:oMath>
                            </m:oMathPara>
                          </a14:m>
                          <a:endParaRPr lang="en-ZA" dirty="0"/>
                        </a:p>
                      </a:txBody>
                      <a:tcPr anchor="ctr"/>
                    </a:tc>
                    <a:tc>
                      <a:txBody>
                        <a:bodyPr/>
                        <a:lstStyle/>
                        <a:p>
                          <a:pPr algn="ctr">
                            <a:buNone/>
                          </a:pPr>
                          <a:r>
                            <a:rPr lang="en-ZA"/>
                            <a:t>HistLen</a:t>
                          </a:r>
                        </a:p>
                      </a:txBody>
                      <a:tcPr anchor="ctr"/>
                    </a:tc>
                    <a:extLst>
                      <a:ext uri="{0D108BD9-81ED-4DB2-BD59-A6C34878D82A}">
                        <a16:rowId xmlns:a16="http://schemas.microsoft.com/office/drawing/2014/main" val="2927568589"/>
                      </a:ext>
                    </a:extLst>
                  </a:tr>
                  <a:tr h="0">
                    <a:tc>
                      <a:txBody>
                        <a:bodyPr/>
                        <a:lstStyle/>
                        <a:p>
                          <a:pPr>
                            <a:buNone/>
                          </a:pPr>
                          <a14:m>
                            <m:oMathPara xmlns:m="http://schemas.openxmlformats.org/officeDocument/2006/math">
                              <m:oMath>
                                <m:sSub>
                                  <m:sSubPr>
                                    <m:ctrlPr>
                                      <a:rPr lang="en-GB" b="0" i="1" dirty="0" smtClean="0">
                                        <a:solidFill>
                                          <a:srgbClr val="002060"/>
                                        </a:solidFill>
                                        <a:latin typeface="Cambria Math" panose="02040503050406030204" pitchFamily="18" charset="0"/>
                                      </a:rPr>
                                    </m:ctrlPr>
                                  </m:sSubPr>
                                  <m:e>
                                    <m:r>
                                      <a:rPr lang="en-GB" b="0" i="1" dirty="0" smtClean="0">
                                        <a:solidFill>
                                          <a:srgbClr val="002060"/>
                                        </a:solidFill>
                                        <a:latin typeface="Cambria Math" panose="02040503050406030204" pitchFamily="18" charset="0"/>
                                      </a:rPr>
                                      <m:t>𝑓</m:t>
                                    </m:r>
                                  </m:e>
                                  <m:sub>
                                    <m:r>
                                      <a:rPr lang="en-GB" b="0" i="1" dirty="0" smtClean="0">
                                        <a:solidFill>
                                          <a:srgbClr val="002060"/>
                                        </a:solidFill>
                                        <a:latin typeface="Cambria Math" panose="02040503050406030204" pitchFamily="18" charset="0"/>
                                      </a:rPr>
                                      <m:t>1</m:t>
                                    </m:r>
                                  </m:sub>
                                </m:sSub>
                              </m:oMath>
                            </m:oMathPara>
                          </a14:m>
                          <a:endParaRPr lang="en-ZA" dirty="0"/>
                        </a:p>
                      </a:txBody>
                      <a:tcPr anchor="ctr"/>
                    </a:tc>
                    <a:tc>
                      <a:txBody>
                        <a:bodyPr/>
                        <a:lstStyle/>
                        <a:p>
                          <a:pPr algn="ctr">
                            <a:buNone/>
                          </a:pPr>
                          <a:r>
                            <a:rPr lang="en-ZA" dirty="0"/>
                            <a:t>Age</a:t>
                          </a:r>
                        </a:p>
                      </a:txBody>
                      <a:tcPr anchor="ctr"/>
                    </a:tc>
                    <a:extLst>
                      <a:ext uri="{0D108BD9-81ED-4DB2-BD59-A6C34878D82A}">
                        <a16:rowId xmlns:a16="http://schemas.microsoft.com/office/drawing/2014/main" val="1482920449"/>
                      </a:ext>
                    </a:extLst>
                  </a:tr>
                </a:tbl>
              </a:graphicData>
            </a:graphic>
          </p:graphicFrame>
        </mc:Choice>
        <mc:Fallback xmlns="">
          <p:graphicFrame>
            <p:nvGraphicFramePr>
              <p:cNvPr id="6" name="Table 5">
                <a:extLst>
                  <a:ext uri="{FF2B5EF4-FFF2-40B4-BE49-F238E27FC236}">
                    <a16:creationId xmlns:a16="http://schemas.microsoft.com/office/drawing/2014/main" id="{7E3E5BF2-17AD-4EFA-81FF-69BDC369ADEE}"/>
                  </a:ext>
                </a:extLst>
              </p:cNvPr>
              <p:cNvGraphicFramePr>
                <a:graphicFrameLocks noGrp="1"/>
              </p:cNvGraphicFramePr>
              <p:nvPr>
                <p:extLst>
                  <p:ext uri="{D42A27DB-BD31-4B8C-83A1-F6EECF244321}">
                    <p14:modId xmlns:p14="http://schemas.microsoft.com/office/powerpoint/2010/main" val="428118302"/>
                  </p:ext>
                </p:extLst>
              </p:nvPr>
            </p:nvGraphicFramePr>
            <p:xfrm>
              <a:off x="500380" y="1985000"/>
              <a:ext cx="11160760" cy="4389120"/>
            </p:xfrm>
            <a:graphic>
              <a:graphicData uri="http://schemas.openxmlformats.org/drawingml/2006/table">
                <a:tbl>
                  <a:tblPr>
                    <a:tableStyleId>{5C22544A-7EE6-4342-B048-85BDC9FD1C3A}</a:tableStyleId>
                  </a:tblPr>
                  <a:tblGrid>
                    <a:gridCol w="5537974">
                      <a:extLst>
                        <a:ext uri="{9D8B030D-6E8A-4147-A177-3AD203B41FA5}">
                          <a16:colId xmlns:a16="http://schemas.microsoft.com/office/drawing/2014/main" val="69099362"/>
                        </a:ext>
                      </a:extLst>
                    </a:gridCol>
                    <a:gridCol w="5622786">
                      <a:extLst>
                        <a:ext uri="{9D8B030D-6E8A-4147-A177-3AD203B41FA5}">
                          <a16:colId xmlns:a16="http://schemas.microsoft.com/office/drawing/2014/main" val="2611329327"/>
                        </a:ext>
                      </a:extLst>
                    </a:gridCol>
                  </a:tblGrid>
                  <a:tr h="365760">
                    <a:tc>
                      <a:txBody>
                        <a:bodyPr/>
                        <a:lstStyle/>
                        <a:p>
                          <a:pPr algn="ctr">
                            <a:buNone/>
                          </a:pPr>
                          <a:r>
                            <a:rPr lang="en-ZA" dirty="0"/>
                            <a:t>Symbol</a:t>
                          </a:r>
                        </a:p>
                      </a:txBody>
                      <a:tcPr anchor="ctr"/>
                    </a:tc>
                    <a:tc>
                      <a:txBody>
                        <a:bodyPr/>
                        <a:lstStyle/>
                        <a:p>
                          <a:pPr algn="ctr">
                            <a:buNone/>
                          </a:pPr>
                          <a:r>
                            <a:rPr lang="en-ZA" dirty="0"/>
                            <a:t>Variable</a:t>
                          </a:r>
                        </a:p>
                      </a:txBody>
                      <a:tcPr anchor="ctr"/>
                    </a:tc>
                    <a:extLst>
                      <a:ext uri="{0D108BD9-81ED-4DB2-BD59-A6C34878D82A}">
                        <a16:rowId xmlns:a16="http://schemas.microsoft.com/office/drawing/2014/main" val="1339854645"/>
                      </a:ext>
                    </a:extLst>
                  </a:tr>
                  <a:tr h="365760">
                    <a:tc>
                      <a:txBody>
                        <a:bodyPr/>
                        <a:lstStyle/>
                        <a:p>
                          <a:endParaRPr lang="en-US"/>
                        </a:p>
                      </a:txBody>
                      <a:tcPr anchor="ctr">
                        <a:blipFill>
                          <a:blip r:embed="rId4"/>
                          <a:stretch>
                            <a:fillRect l="-110" t="-108333" r="-101650" b="-1026667"/>
                          </a:stretch>
                        </a:blipFill>
                      </a:tcPr>
                    </a:tc>
                    <a:tc>
                      <a:txBody>
                        <a:bodyPr/>
                        <a:lstStyle/>
                        <a:p>
                          <a:pPr algn="ctr">
                            <a:buNone/>
                          </a:pPr>
                          <a:r>
                            <a:rPr lang="en-ZA" dirty="0"/>
                            <a:t>Salaried</a:t>
                          </a:r>
                        </a:p>
                      </a:txBody>
                      <a:tcPr anchor="ctr"/>
                    </a:tc>
                    <a:extLst>
                      <a:ext uri="{0D108BD9-81ED-4DB2-BD59-A6C34878D82A}">
                        <a16:rowId xmlns:a16="http://schemas.microsoft.com/office/drawing/2014/main" val="1947010647"/>
                      </a:ext>
                    </a:extLst>
                  </a:tr>
                  <a:tr h="365760">
                    <a:tc>
                      <a:txBody>
                        <a:bodyPr/>
                        <a:lstStyle/>
                        <a:p>
                          <a:endParaRPr lang="en-US"/>
                        </a:p>
                      </a:txBody>
                      <a:tcPr anchor="ctr">
                        <a:blipFill>
                          <a:blip r:embed="rId4"/>
                          <a:stretch>
                            <a:fillRect l="-110" t="-208333" r="-101650" b="-926667"/>
                          </a:stretch>
                        </a:blipFill>
                      </a:tcPr>
                    </a:tc>
                    <a:tc>
                      <a:txBody>
                        <a:bodyPr/>
                        <a:lstStyle/>
                        <a:p>
                          <a:pPr algn="ctr">
                            <a:buNone/>
                          </a:pPr>
                          <a:r>
                            <a:rPr lang="en-ZA" dirty="0"/>
                            <a:t>Self-employed</a:t>
                          </a:r>
                        </a:p>
                      </a:txBody>
                      <a:tcPr anchor="ctr"/>
                    </a:tc>
                    <a:extLst>
                      <a:ext uri="{0D108BD9-81ED-4DB2-BD59-A6C34878D82A}">
                        <a16:rowId xmlns:a16="http://schemas.microsoft.com/office/drawing/2014/main" val="3426411147"/>
                      </a:ext>
                    </a:extLst>
                  </a:tr>
                  <a:tr h="365760">
                    <a:tc>
                      <a:txBody>
                        <a:bodyPr/>
                        <a:lstStyle/>
                        <a:p>
                          <a:endParaRPr lang="en-US"/>
                        </a:p>
                      </a:txBody>
                      <a:tcPr anchor="ctr">
                        <a:blipFill>
                          <a:blip r:embed="rId4"/>
                          <a:stretch>
                            <a:fillRect l="-110" t="-308333" r="-101650" b="-826667"/>
                          </a:stretch>
                        </a:blipFill>
                      </a:tcPr>
                    </a:tc>
                    <a:tc>
                      <a:txBody>
                        <a:bodyPr/>
                        <a:lstStyle/>
                        <a:p>
                          <a:pPr algn="ctr">
                            <a:buNone/>
                          </a:pPr>
                          <a:r>
                            <a:rPr lang="en-ZA" dirty="0"/>
                            <a:t>Unemployed</a:t>
                          </a:r>
                        </a:p>
                      </a:txBody>
                      <a:tcPr anchor="ctr"/>
                    </a:tc>
                    <a:extLst>
                      <a:ext uri="{0D108BD9-81ED-4DB2-BD59-A6C34878D82A}">
                        <a16:rowId xmlns:a16="http://schemas.microsoft.com/office/drawing/2014/main" val="3005747968"/>
                      </a:ext>
                    </a:extLst>
                  </a:tr>
                  <a:tr h="365760">
                    <a:tc>
                      <a:txBody>
                        <a:bodyPr/>
                        <a:lstStyle/>
                        <a:p>
                          <a:endParaRPr lang="en-US"/>
                        </a:p>
                      </a:txBody>
                      <a:tcPr anchor="ctr">
                        <a:blipFill>
                          <a:blip r:embed="rId4"/>
                          <a:stretch>
                            <a:fillRect l="-110" t="-408333" r="-101650" b="-726667"/>
                          </a:stretch>
                        </a:blipFill>
                      </a:tcPr>
                    </a:tc>
                    <a:tc>
                      <a:txBody>
                        <a:bodyPr/>
                        <a:lstStyle/>
                        <a:p>
                          <a:pPr algn="ctr">
                            <a:buNone/>
                          </a:pPr>
                          <a:r>
                            <a:rPr lang="en-ZA" dirty="0"/>
                            <a:t>Own</a:t>
                          </a:r>
                        </a:p>
                      </a:txBody>
                      <a:tcPr anchor="ctr"/>
                    </a:tc>
                    <a:extLst>
                      <a:ext uri="{0D108BD9-81ED-4DB2-BD59-A6C34878D82A}">
                        <a16:rowId xmlns:a16="http://schemas.microsoft.com/office/drawing/2014/main" val="2721851198"/>
                      </a:ext>
                    </a:extLst>
                  </a:tr>
                  <a:tr h="365760">
                    <a:tc>
                      <a:txBody>
                        <a:bodyPr/>
                        <a:lstStyle/>
                        <a:p>
                          <a:endParaRPr lang="en-US"/>
                        </a:p>
                      </a:txBody>
                      <a:tcPr anchor="ctr">
                        <a:blipFill>
                          <a:blip r:embed="rId4"/>
                          <a:stretch>
                            <a:fillRect l="-110" t="-500000" r="-101650" b="-614754"/>
                          </a:stretch>
                        </a:blipFill>
                      </a:tcPr>
                    </a:tc>
                    <a:tc>
                      <a:txBody>
                        <a:bodyPr/>
                        <a:lstStyle/>
                        <a:p>
                          <a:pPr algn="ctr">
                            <a:buNone/>
                          </a:pPr>
                          <a:r>
                            <a:rPr lang="en-ZA" dirty="0"/>
                            <a:t>Rent</a:t>
                          </a:r>
                        </a:p>
                      </a:txBody>
                      <a:tcPr anchor="ctr"/>
                    </a:tc>
                    <a:extLst>
                      <a:ext uri="{0D108BD9-81ED-4DB2-BD59-A6C34878D82A}">
                        <a16:rowId xmlns:a16="http://schemas.microsoft.com/office/drawing/2014/main" val="3438366069"/>
                      </a:ext>
                    </a:extLst>
                  </a:tr>
                  <a:tr h="365760">
                    <a:tc>
                      <a:txBody>
                        <a:bodyPr/>
                        <a:lstStyle/>
                        <a:p>
                          <a:endParaRPr lang="en-US"/>
                        </a:p>
                      </a:txBody>
                      <a:tcPr anchor="ctr">
                        <a:blipFill>
                          <a:blip r:embed="rId4"/>
                          <a:stretch>
                            <a:fillRect l="-110" t="-610000" r="-101650" b="-525000"/>
                          </a:stretch>
                        </a:blipFill>
                      </a:tcPr>
                    </a:tc>
                    <a:tc>
                      <a:txBody>
                        <a:bodyPr/>
                        <a:lstStyle/>
                        <a:p>
                          <a:pPr algn="ctr">
                            <a:buNone/>
                          </a:pPr>
                          <a:r>
                            <a:rPr lang="en-ZA" dirty="0"/>
                            <a:t>Home improvement</a:t>
                          </a:r>
                        </a:p>
                      </a:txBody>
                      <a:tcPr anchor="ctr"/>
                    </a:tc>
                    <a:extLst>
                      <a:ext uri="{0D108BD9-81ED-4DB2-BD59-A6C34878D82A}">
                        <a16:rowId xmlns:a16="http://schemas.microsoft.com/office/drawing/2014/main" val="3098078112"/>
                      </a:ext>
                    </a:extLst>
                  </a:tr>
                  <a:tr h="365760">
                    <a:tc>
                      <a:txBody>
                        <a:bodyPr/>
                        <a:lstStyle/>
                        <a:p>
                          <a:endParaRPr lang="en-US"/>
                        </a:p>
                      </a:txBody>
                      <a:tcPr anchor="ctr">
                        <a:blipFill>
                          <a:blip r:embed="rId4"/>
                          <a:stretch>
                            <a:fillRect l="-110" t="-710000" r="-101650" b="-425000"/>
                          </a:stretch>
                        </a:blipFill>
                      </a:tcPr>
                    </a:tc>
                    <a:tc>
                      <a:txBody>
                        <a:bodyPr/>
                        <a:lstStyle/>
                        <a:p>
                          <a:pPr algn="ctr">
                            <a:buNone/>
                          </a:pPr>
                          <a:r>
                            <a:rPr lang="en-ZA" dirty="0"/>
                            <a:t>Other purpose</a:t>
                          </a:r>
                        </a:p>
                      </a:txBody>
                      <a:tcPr anchor="ctr"/>
                    </a:tc>
                    <a:extLst>
                      <a:ext uri="{0D108BD9-81ED-4DB2-BD59-A6C34878D82A}">
                        <a16:rowId xmlns:a16="http://schemas.microsoft.com/office/drawing/2014/main" val="2999613466"/>
                      </a:ext>
                    </a:extLst>
                  </a:tr>
                  <a:tr h="365760">
                    <a:tc>
                      <a:txBody>
                        <a:bodyPr/>
                        <a:lstStyle/>
                        <a:p>
                          <a:endParaRPr lang="en-US"/>
                        </a:p>
                      </a:txBody>
                      <a:tcPr anchor="ctr">
                        <a:blipFill>
                          <a:blip r:embed="rId4"/>
                          <a:stretch>
                            <a:fillRect l="-110" t="-810000" r="-101650" b="-325000"/>
                          </a:stretch>
                        </a:blipFill>
                      </a:tcPr>
                    </a:tc>
                    <a:tc>
                      <a:txBody>
                        <a:bodyPr/>
                        <a:lstStyle/>
                        <a:p>
                          <a:pPr algn="ctr">
                            <a:buNone/>
                          </a:pPr>
                          <a:r>
                            <a:rPr lang="en-ZA" dirty="0"/>
                            <a:t>Vehicle</a:t>
                          </a:r>
                        </a:p>
                      </a:txBody>
                      <a:tcPr anchor="ctr"/>
                    </a:tc>
                    <a:extLst>
                      <a:ext uri="{0D108BD9-81ED-4DB2-BD59-A6C34878D82A}">
                        <a16:rowId xmlns:a16="http://schemas.microsoft.com/office/drawing/2014/main" val="3540822509"/>
                      </a:ext>
                    </a:extLst>
                  </a:tr>
                  <a:tr h="365760">
                    <a:tc>
                      <a:txBody>
                        <a:bodyPr/>
                        <a:lstStyle/>
                        <a:p>
                          <a:endParaRPr lang="en-US"/>
                        </a:p>
                      </a:txBody>
                      <a:tcPr anchor="ctr">
                        <a:blipFill>
                          <a:blip r:embed="rId4"/>
                          <a:stretch>
                            <a:fillRect l="-110" t="-910000" r="-101650" b="-225000"/>
                          </a:stretch>
                        </a:blipFill>
                      </a:tcPr>
                    </a:tc>
                    <a:tc>
                      <a:txBody>
                        <a:bodyPr/>
                        <a:lstStyle/>
                        <a:p>
                          <a:pPr algn="ctr">
                            <a:buNone/>
                          </a:pPr>
                          <a:r>
                            <a:rPr lang="en-ZA" dirty="0"/>
                            <a:t>DTI</a:t>
                          </a:r>
                        </a:p>
                      </a:txBody>
                      <a:tcPr anchor="ctr"/>
                    </a:tc>
                    <a:extLst>
                      <a:ext uri="{0D108BD9-81ED-4DB2-BD59-A6C34878D82A}">
                        <a16:rowId xmlns:a16="http://schemas.microsoft.com/office/drawing/2014/main" val="178627522"/>
                      </a:ext>
                    </a:extLst>
                  </a:tr>
                  <a:tr h="365760">
                    <a:tc>
                      <a:txBody>
                        <a:bodyPr/>
                        <a:lstStyle/>
                        <a:p>
                          <a:endParaRPr lang="en-US"/>
                        </a:p>
                      </a:txBody>
                      <a:tcPr anchor="ctr">
                        <a:blipFill>
                          <a:blip r:embed="rId4"/>
                          <a:stretch>
                            <a:fillRect l="-110" t="-1010000" r="-101650" b="-125000"/>
                          </a:stretch>
                        </a:blipFill>
                      </a:tcPr>
                    </a:tc>
                    <a:tc>
                      <a:txBody>
                        <a:bodyPr/>
                        <a:lstStyle/>
                        <a:p>
                          <a:pPr algn="ctr">
                            <a:buNone/>
                          </a:pPr>
                          <a:r>
                            <a:rPr lang="en-ZA"/>
                            <a:t>HistLen</a:t>
                          </a:r>
                        </a:p>
                      </a:txBody>
                      <a:tcPr anchor="ctr"/>
                    </a:tc>
                    <a:extLst>
                      <a:ext uri="{0D108BD9-81ED-4DB2-BD59-A6C34878D82A}">
                        <a16:rowId xmlns:a16="http://schemas.microsoft.com/office/drawing/2014/main" val="2927568589"/>
                      </a:ext>
                    </a:extLst>
                  </a:tr>
                  <a:tr h="365760">
                    <a:tc>
                      <a:txBody>
                        <a:bodyPr/>
                        <a:lstStyle/>
                        <a:p>
                          <a:endParaRPr lang="en-US"/>
                        </a:p>
                      </a:txBody>
                      <a:tcPr anchor="ctr">
                        <a:blipFill>
                          <a:blip r:embed="rId4"/>
                          <a:stretch>
                            <a:fillRect l="-110" t="-1110000" r="-101650" b="-25000"/>
                          </a:stretch>
                        </a:blipFill>
                      </a:tcPr>
                    </a:tc>
                    <a:tc>
                      <a:txBody>
                        <a:bodyPr/>
                        <a:lstStyle/>
                        <a:p>
                          <a:pPr algn="ctr">
                            <a:buNone/>
                          </a:pPr>
                          <a:r>
                            <a:rPr lang="en-ZA" dirty="0"/>
                            <a:t>Age</a:t>
                          </a:r>
                        </a:p>
                      </a:txBody>
                      <a:tcPr anchor="ctr"/>
                    </a:tc>
                    <a:extLst>
                      <a:ext uri="{0D108BD9-81ED-4DB2-BD59-A6C34878D82A}">
                        <a16:rowId xmlns:a16="http://schemas.microsoft.com/office/drawing/2014/main" val="1482920449"/>
                      </a:ext>
                    </a:extLst>
                  </a:tr>
                </a:tbl>
              </a:graphicData>
            </a:graphic>
          </p:graphicFrame>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1695" cy="118872"/>
          </a:xfrm>
          <a:prstGeom prst="rect">
            <a:avLst/>
          </a:prstGeom>
          <a:solidFill>
            <a:srgbClr val="1D9E93"/>
          </a:solidFill>
          <a:ln>
            <a:noFill/>
          </a:ln>
        </p:spPr>
        <p:txBody>
          <a:bodyPr rtlCol="0" anchor="ctr"/>
          <a:lstStyle/>
          <a:p>
            <a:pPr algn="ctr"/>
            <a:endParaRPr lang="en-ZA"/>
          </a:p>
        </p:txBody>
      </p:sp>
      <p:sp>
        <p:nvSpPr>
          <p:cNvPr id="3" name="Title 3"/>
          <p:cNvSpPr txBox="1"/>
          <p:nvPr/>
        </p:nvSpPr>
        <p:spPr>
          <a:xfrm>
            <a:off x="621792" y="384048"/>
            <a:ext cx="10927080" cy="594360"/>
          </a:xfrm>
          <a:prstGeom prst="rect">
            <a:avLst/>
          </a:prstGeom>
          <a:noFill/>
        </p:spPr>
        <p:txBody>
          <a:bodyPr wrap="square" lIns="27432" tIns="27432" rIns="27432" bIns="27432" anchor="t">
            <a:noAutofit/>
          </a:bodyPr>
          <a:lstStyle/>
          <a:p>
            <a:pPr algn="l">
              <a:spcAft>
                <a:spcPts val="0"/>
              </a:spcAft>
              <a:buNone/>
            </a:pPr>
            <a:r>
              <a:rPr lang="en-ZA" sz="2900" b="1" i="0" dirty="0">
                <a:solidFill>
                  <a:srgbClr val="14223B"/>
                </a:solidFill>
                <a:latin typeface="Aptos"/>
              </a:rPr>
              <a:t>How the params work</a:t>
            </a:r>
          </a:p>
        </p:txBody>
      </p:sp>
      <p:sp>
        <p:nvSpPr>
          <p:cNvPr id="4" name="Footer 4"/>
          <p:cNvSpPr txBox="1"/>
          <p:nvPr/>
        </p:nvSpPr>
        <p:spPr>
          <a:xfrm>
            <a:off x="640080" y="6510528"/>
            <a:ext cx="8046720" cy="182880"/>
          </a:xfrm>
          <a:prstGeom prst="rect">
            <a:avLst/>
          </a:prstGeom>
          <a:noFill/>
        </p:spPr>
        <p:txBody>
          <a:bodyPr wrap="square" lIns="27432" tIns="27432" rIns="27432" bIns="27432" anchor="t">
            <a:noAutofit/>
          </a:bodyPr>
          <a:lstStyle/>
          <a:p>
            <a:pPr algn="l">
              <a:spcAft>
                <a:spcPts val="0"/>
              </a:spcAft>
              <a:buNone/>
            </a:pPr>
            <a:r>
              <a:rPr lang="en-ZA" sz="900" b="1" i="0" dirty="0">
                <a:solidFill>
                  <a:srgbClr val="647182"/>
                </a:solidFill>
                <a:latin typeface="Aptos"/>
              </a:rPr>
              <a:t>03  |  SELECTED MODEL</a:t>
            </a:r>
          </a:p>
        </p:txBody>
      </p:sp>
      <p:sp>
        <p:nvSpPr>
          <p:cNvPr id="5" name="Page 5"/>
          <p:cNvSpPr txBox="1"/>
          <p:nvPr/>
        </p:nvSpPr>
        <p:spPr>
          <a:xfrm>
            <a:off x="11109960" y="6473952"/>
            <a:ext cx="438912" cy="219456"/>
          </a:xfrm>
          <a:prstGeom prst="rect">
            <a:avLst/>
          </a:prstGeom>
          <a:noFill/>
        </p:spPr>
        <p:txBody>
          <a:bodyPr wrap="square" lIns="27432" tIns="27432" rIns="27432" bIns="27432" anchor="t">
            <a:noAutofit/>
          </a:bodyPr>
          <a:lstStyle/>
          <a:p>
            <a:pPr algn="r">
              <a:spcAft>
                <a:spcPts val="0"/>
              </a:spcAft>
              <a:buNone/>
            </a:pPr>
            <a:r>
              <a:rPr lang="en-ZA" sz="900" b="0" i="0" dirty="0">
                <a:solidFill>
                  <a:srgbClr val="647182"/>
                </a:solidFill>
                <a:latin typeface="Aptos"/>
              </a:rPr>
              <a:t>05</a:t>
            </a:r>
          </a:p>
        </p:txBody>
      </p:sp>
      <p:pic>
        <p:nvPicPr>
          <p:cNvPr id="6" name="Picture 4"/>
          <p:cNvPicPr>
            <a:picLocks noChangeAspect="1"/>
          </p:cNvPicPr>
          <p:nvPr/>
        </p:nvPicPr>
        <p:blipFill>
          <a:blip r:embed="rId2"/>
          <a:stretch>
            <a:fillRect/>
          </a:stretch>
        </p:blipFill>
        <p:spPr>
          <a:xfrm>
            <a:off x="888308" y="1159331"/>
            <a:ext cx="10430624" cy="520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1695" cy="118872"/>
          </a:xfrm>
          <a:prstGeom prst="rect">
            <a:avLst/>
          </a:prstGeom>
          <a:solidFill>
            <a:srgbClr val="1D9E93"/>
          </a:solidFill>
          <a:ln>
            <a:noFill/>
          </a:ln>
        </p:spPr>
        <p:txBody>
          <a:bodyPr rtlCol="0" anchor="ctr"/>
          <a:lstStyle/>
          <a:p>
            <a:pPr algn="ctr"/>
            <a:endParaRPr lang="en-ZA"/>
          </a:p>
        </p:txBody>
      </p:sp>
      <p:sp>
        <p:nvSpPr>
          <p:cNvPr id="3" name="Title 3"/>
          <p:cNvSpPr txBox="1"/>
          <p:nvPr/>
        </p:nvSpPr>
        <p:spPr>
          <a:xfrm>
            <a:off x="621792" y="384048"/>
            <a:ext cx="10927080" cy="594360"/>
          </a:xfrm>
          <a:prstGeom prst="rect">
            <a:avLst/>
          </a:prstGeom>
          <a:noFill/>
        </p:spPr>
        <p:txBody>
          <a:bodyPr wrap="square" lIns="27432" tIns="27432" rIns="27432" bIns="27432" anchor="t">
            <a:noAutofit/>
          </a:bodyPr>
          <a:lstStyle/>
          <a:p>
            <a:pPr algn="l">
              <a:spcAft>
                <a:spcPts val="0"/>
              </a:spcAft>
              <a:buNone/>
            </a:pPr>
            <a:r>
              <a:rPr lang="en-ZA" sz="2900" b="1" i="0" dirty="0">
                <a:solidFill>
                  <a:srgbClr val="14223B"/>
                </a:solidFill>
                <a:latin typeface="Aptos"/>
              </a:rPr>
              <a:t>Overall model fit of our train data</a:t>
            </a:r>
          </a:p>
        </p:txBody>
      </p:sp>
      <p:sp>
        <p:nvSpPr>
          <p:cNvPr id="4" name="Subtitle 4"/>
          <p:cNvSpPr txBox="1"/>
          <p:nvPr/>
        </p:nvSpPr>
        <p:spPr>
          <a:xfrm>
            <a:off x="731520" y="952255"/>
            <a:ext cx="10698480" cy="502920"/>
          </a:xfrm>
          <a:prstGeom prst="rect">
            <a:avLst/>
          </a:prstGeom>
          <a:noFill/>
        </p:spPr>
        <p:txBody>
          <a:bodyPr wrap="square" lIns="27432" tIns="27432" rIns="27432" bIns="27432" anchor="t">
            <a:noAutofit/>
          </a:bodyPr>
          <a:lstStyle/>
          <a:p>
            <a:pPr algn="l">
              <a:spcAft>
                <a:spcPts val="0"/>
              </a:spcAft>
              <a:buNone/>
            </a:pPr>
            <a:r>
              <a:rPr lang="en-ZA" sz="2000" b="0" i="0" dirty="0">
                <a:solidFill>
                  <a:srgbClr val="283343"/>
                </a:solidFill>
                <a:latin typeface="Aptos"/>
              </a:rPr>
              <a:t>Strong in-sample fit — not proof of out-of-sample accuracy</a:t>
            </a:r>
          </a:p>
        </p:txBody>
      </p:sp>
      <p:sp>
        <p:nvSpPr>
          <p:cNvPr id="5" name="Footer 5"/>
          <p:cNvSpPr txBox="1"/>
          <p:nvPr/>
        </p:nvSpPr>
        <p:spPr>
          <a:xfrm>
            <a:off x="640080" y="6510528"/>
            <a:ext cx="8046720" cy="182880"/>
          </a:xfrm>
          <a:prstGeom prst="rect">
            <a:avLst/>
          </a:prstGeom>
          <a:noFill/>
        </p:spPr>
        <p:txBody>
          <a:bodyPr wrap="square" lIns="27432" tIns="27432" rIns="27432" bIns="27432" anchor="t">
            <a:noAutofit/>
          </a:bodyPr>
          <a:lstStyle/>
          <a:p>
            <a:pPr algn="l">
              <a:spcAft>
                <a:spcPts val="0"/>
              </a:spcAft>
              <a:buNone/>
            </a:pPr>
            <a:r>
              <a:rPr lang="en-ZA" sz="900" b="1" i="0" dirty="0">
                <a:solidFill>
                  <a:srgbClr val="647182"/>
                </a:solidFill>
                <a:latin typeface="Aptos"/>
              </a:rPr>
              <a:t>04  |  MODEL FIT</a:t>
            </a:r>
          </a:p>
        </p:txBody>
      </p:sp>
      <p:sp>
        <p:nvSpPr>
          <p:cNvPr id="6" name="Page 6"/>
          <p:cNvSpPr txBox="1"/>
          <p:nvPr/>
        </p:nvSpPr>
        <p:spPr>
          <a:xfrm>
            <a:off x="11109960" y="6473952"/>
            <a:ext cx="438912" cy="219456"/>
          </a:xfrm>
          <a:prstGeom prst="rect">
            <a:avLst/>
          </a:prstGeom>
          <a:noFill/>
        </p:spPr>
        <p:txBody>
          <a:bodyPr wrap="square" lIns="27432" tIns="27432" rIns="27432" bIns="27432" anchor="t">
            <a:noAutofit/>
          </a:bodyPr>
          <a:lstStyle/>
          <a:p>
            <a:pPr algn="r">
              <a:spcAft>
                <a:spcPts val="0"/>
              </a:spcAft>
              <a:buNone/>
            </a:pPr>
            <a:r>
              <a:rPr lang="en-ZA" sz="900" b="0" i="0" dirty="0">
                <a:solidFill>
                  <a:srgbClr val="647182"/>
                </a:solidFill>
                <a:latin typeface="Aptos"/>
              </a:rPr>
              <a:t>06</a:t>
            </a:r>
          </a:p>
        </p:txBody>
      </p:sp>
      <p:sp>
        <p:nvSpPr>
          <p:cNvPr id="7" name="Rectangle 7"/>
          <p:cNvSpPr/>
          <p:nvPr/>
        </p:nvSpPr>
        <p:spPr>
          <a:xfrm>
            <a:off x="731520" y="1650000"/>
            <a:ext cx="2500000" cy="1250000"/>
          </a:xfrm>
          <a:prstGeom prst="roundRect">
            <a:avLst>
              <a:gd name="adj" fmla="val 5760"/>
            </a:avLst>
          </a:prstGeom>
          <a:solidFill>
            <a:srgbClr val="14223B"/>
          </a:solidFill>
          <a:ln>
            <a:noFill/>
          </a:ln>
        </p:spPr>
        <p:txBody>
          <a:bodyPr rtlCol="0" anchor="ctr"/>
          <a:lstStyle/>
          <a:p>
            <a:pPr algn="ctr"/>
            <a:endParaRPr lang="en-ZA"/>
          </a:p>
        </p:txBody>
      </p:sp>
      <p:sp>
        <p:nvSpPr>
          <p:cNvPr id="8" name="TextBox 8"/>
          <p:cNvSpPr txBox="1"/>
          <p:nvPr/>
        </p:nvSpPr>
        <p:spPr>
          <a:xfrm>
            <a:off x="851520" y="1845000"/>
            <a:ext cx="2260000" cy="860000"/>
          </a:xfrm>
          <a:prstGeom prst="rect">
            <a:avLst/>
          </a:prstGeom>
          <a:noFill/>
        </p:spPr>
        <p:txBody>
          <a:bodyPr wrap="square" lIns="27432" tIns="27432" rIns="27432" bIns="27432" anchor="ctr">
            <a:noAutofit/>
          </a:bodyPr>
          <a:lstStyle/>
          <a:p>
            <a:pPr algn="ctr">
              <a:spcAft>
                <a:spcPts val="200"/>
              </a:spcAft>
              <a:buNone/>
            </a:pPr>
            <a:r>
              <a:rPr lang="en-ZA" sz="2800" b="1" i="0" dirty="0">
                <a:solidFill>
                  <a:srgbClr val="FFFFFF"/>
                </a:solidFill>
                <a:latin typeface="Aptos"/>
              </a:rPr>
              <a:t>91.8%</a:t>
            </a:r>
          </a:p>
          <a:p>
            <a:pPr algn="ctr">
              <a:spcAft>
                <a:spcPts val="0"/>
              </a:spcAft>
              <a:buNone/>
            </a:pPr>
            <a:r>
              <a:rPr lang="en-ZA" sz="1100" b="1" i="0" cap="all" dirty="0">
                <a:solidFill>
                  <a:srgbClr val="BED2E4"/>
                </a:solidFill>
                <a:latin typeface="Aptos"/>
              </a:rPr>
              <a:t>R-squared</a:t>
            </a:r>
          </a:p>
        </p:txBody>
      </p:sp>
      <p:sp>
        <p:nvSpPr>
          <p:cNvPr id="9" name="Rectangle 9"/>
          <p:cNvSpPr/>
          <p:nvPr/>
        </p:nvSpPr>
        <p:spPr>
          <a:xfrm>
            <a:off x="3479520" y="1650000"/>
            <a:ext cx="2500000" cy="1250000"/>
          </a:xfrm>
          <a:prstGeom prst="roundRect">
            <a:avLst>
              <a:gd name="adj" fmla="val 5760"/>
            </a:avLst>
          </a:prstGeom>
          <a:solidFill>
            <a:srgbClr val="1D9E93"/>
          </a:solidFill>
          <a:ln>
            <a:noFill/>
          </a:ln>
        </p:spPr>
        <p:txBody>
          <a:bodyPr rtlCol="0" anchor="ctr"/>
          <a:lstStyle/>
          <a:p>
            <a:pPr algn="ctr"/>
            <a:endParaRPr lang="en-ZA"/>
          </a:p>
        </p:txBody>
      </p:sp>
      <p:sp>
        <p:nvSpPr>
          <p:cNvPr id="10" name="TextBox 10"/>
          <p:cNvSpPr txBox="1"/>
          <p:nvPr/>
        </p:nvSpPr>
        <p:spPr>
          <a:xfrm>
            <a:off x="3599520" y="1845000"/>
            <a:ext cx="2260000" cy="860000"/>
          </a:xfrm>
          <a:prstGeom prst="rect">
            <a:avLst/>
          </a:prstGeom>
          <a:noFill/>
        </p:spPr>
        <p:txBody>
          <a:bodyPr wrap="square" lIns="27432" tIns="27432" rIns="27432" bIns="27432" anchor="ctr">
            <a:noAutofit/>
          </a:bodyPr>
          <a:lstStyle/>
          <a:p>
            <a:pPr algn="ctr">
              <a:spcAft>
                <a:spcPts val="200"/>
              </a:spcAft>
              <a:buNone/>
            </a:pPr>
            <a:r>
              <a:rPr lang="en-ZA" sz="2800" b="1" i="0" dirty="0">
                <a:solidFill>
                  <a:srgbClr val="FFFFFF"/>
                </a:solidFill>
                <a:latin typeface="Aptos"/>
              </a:rPr>
              <a:t>91.8%</a:t>
            </a:r>
          </a:p>
          <a:p>
            <a:pPr algn="ctr">
              <a:spcAft>
                <a:spcPts val="0"/>
              </a:spcAft>
              <a:buNone/>
            </a:pPr>
            <a:r>
              <a:rPr lang="en-ZA" sz="1100" b="1" i="0" cap="all" dirty="0">
                <a:solidFill>
                  <a:srgbClr val="FFFFFF"/>
                </a:solidFill>
                <a:latin typeface="Aptos"/>
              </a:rPr>
              <a:t>Adjusted R-squared</a:t>
            </a:r>
          </a:p>
        </p:txBody>
      </p:sp>
      <p:sp>
        <p:nvSpPr>
          <p:cNvPr id="11" name="Rectangle 11"/>
          <p:cNvSpPr/>
          <p:nvPr/>
        </p:nvSpPr>
        <p:spPr>
          <a:xfrm>
            <a:off x="6227520" y="1650000"/>
            <a:ext cx="2500000" cy="1250000"/>
          </a:xfrm>
          <a:prstGeom prst="roundRect">
            <a:avLst>
              <a:gd name="adj" fmla="val 5760"/>
            </a:avLst>
          </a:prstGeom>
          <a:solidFill>
            <a:srgbClr val="2C66A8"/>
          </a:solidFill>
          <a:ln>
            <a:noFill/>
          </a:ln>
        </p:spPr>
        <p:txBody>
          <a:bodyPr rtlCol="0" anchor="ctr"/>
          <a:lstStyle/>
          <a:p>
            <a:pPr algn="ctr"/>
            <a:endParaRPr lang="en-ZA"/>
          </a:p>
        </p:txBody>
      </p:sp>
      <p:sp>
        <p:nvSpPr>
          <p:cNvPr id="12" name="TextBox 12"/>
          <p:cNvSpPr txBox="1"/>
          <p:nvPr/>
        </p:nvSpPr>
        <p:spPr>
          <a:xfrm>
            <a:off x="6347520" y="1845000"/>
            <a:ext cx="2260000" cy="860000"/>
          </a:xfrm>
          <a:prstGeom prst="rect">
            <a:avLst/>
          </a:prstGeom>
          <a:noFill/>
        </p:spPr>
        <p:txBody>
          <a:bodyPr wrap="square" lIns="27432" tIns="27432" rIns="27432" bIns="27432" anchor="ctr">
            <a:noAutofit/>
          </a:bodyPr>
          <a:lstStyle/>
          <a:p>
            <a:pPr algn="ctr">
              <a:spcAft>
                <a:spcPts val="200"/>
              </a:spcAft>
              <a:buNone/>
            </a:pPr>
            <a:r>
              <a:rPr lang="en-ZA" sz="2800" b="1" i="0" dirty="0">
                <a:solidFill>
                  <a:srgbClr val="FFFFFF"/>
                </a:solidFill>
                <a:latin typeface="Aptos"/>
              </a:rPr>
              <a:t>8,004</a:t>
            </a:r>
          </a:p>
          <a:p>
            <a:pPr algn="ctr">
              <a:spcAft>
                <a:spcPts val="0"/>
              </a:spcAft>
              <a:buNone/>
            </a:pPr>
            <a:r>
              <a:rPr lang="en-ZA" sz="1100" b="1" i="0" cap="all" dirty="0">
                <a:solidFill>
                  <a:srgbClr val="FFFFFF"/>
                </a:solidFill>
                <a:latin typeface="Aptos"/>
              </a:rPr>
              <a:t>Observations</a:t>
            </a:r>
          </a:p>
        </p:txBody>
      </p:sp>
      <p:sp>
        <p:nvSpPr>
          <p:cNvPr id="13" name="Rectangle 13"/>
          <p:cNvSpPr/>
          <p:nvPr/>
        </p:nvSpPr>
        <p:spPr>
          <a:xfrm>
            <a:off x="8975520" y="1650000"/>
            <a:ext cx="2500000" cy="1250000"/>
          </a:xfrm>
          <a:prstGeom prst="roundRect">
            <a:avLst>
              <a:gd name="adj" fmla="val 5760"/>
            </a:avLst>
          </a:prstGeom>
          <a:solidFill>
            <a:srgbClr val="EFB44B"/>
          </a:solidFill>
          <a:ln>
            <a:noFill/>
          </a:ln>
        </p:spPr>
        <p:txBody>
          <a:bodyPr rtlCol="0" anchor="ctr"/>
          <a:lstStyle/>
          <a:p>
            <a:pPr algn="ctr"/>
            <a:endParaRPr lang="en-ZA"/>
          </a:p>
        </p:txBody>
      </p:sp>
      <p:sp>
        <p:nvSpPr>
          <p:cNvPr id="14" name="TextBox 14"/>
          <p:cNvSpPr txBox="1"/>
          <p:nvPr/>
        </p:nvSpPr>
        <p:spPr>
          <a:xfrm>
            <a:off x="9095520" y="1845000"/>
            <a:ext cx="2260000" cy="860000"/>
          </a:xfrm>
          <a:prstGeom prst="rect">
            <a:avLst/>
          </a:prstGeom>
          <a:noFill/>
        </p:spPr>
        <p:txBody>
          <a:bodyPr wrap="square" lIns="27432" tIns="27432" rIns="27432" bIns="27432" anchor="ctr">
            <a:noAutofit/>
          </a:bodyPr>
          <a:lstStyle/>
          <a:p>
            <a:pPr algn="ctr">
              <a:spcAft>
                <a:spcPts val="200"/>
              </a:spcAft>
              <a:buNone/>
            </a:pPr>
            <a:r>
              <a:rPr lang="en-ZA" sz="2800" b="1" i="0" dirty="0">
                <a:solidFill>
                  <a:srgbClr val="14223B"/>
                </a:solidFill>
                <a:latin typeface="Aptos"/>
              </a:rPr>
              <a:t>8,183</a:t>
            </a:r>
          </a:p>
          <a:p>
            <a:pPr algn="ctr">
              <a:spcAft>
                <a:spcPts val="0"/>
              </a:spcAft>
              <a:buNone/>
            </a:pPr>
            <a:r>
              <a:rPr lang="en-ZA" sz="1100" b="1" i="0" cap="all" dirty="0">
                <a:solidFill>
                  <a:srgbClr val="14223B"/>
                </a:solidFill>
                <a:latin typeface="Aptos"/>
              </a:rPr>
              <a:t>F-statistic</a:t>
            </a:r>
          </a:p>
        </p:txBody>
      </p:sp>
      <p:sp>
        <p:nvSpPr>
          <p:cNvPr id="15" name="Rectangle 15"/>
          <p:cNvSpPr/>
          <p:nvPr/>
        </p:nvSpPr>
        <p:spPr>
          <a:xfrm>
            <a:off x="815811" y="3350000"/>
            <a:ext cx="10659909" cy="2250000"/>
          </a:xfrm>
          <a:prstGeom prst="roundRect">
            <a:avLst>
              <a:gd name="adj" fmla="val 3200"/>
            </a:avLst>
          </a:prstGeom>
          <a:solidFill>
            <a:srgbClr val="F0F5FA"/>
          </a:solidFill>
          <a:ln>
            <a:noFill/>
          </a:ln>
        </p:spPr>
        <p:txBody>
          <a:bodyPr rtlCol="0" anchor="ctr"/>
          <a:lstStyle/>
          <a:p>
            <a:pPr algn="ctr"/>
            <a:endParaRPr lang="en-ZA"/>
          </a:p>
        </p:txBody>
      </p:sp>
      <p:sp>
        <p:nvSpPr>
          <p:cNvPr id="16" name="Rectangle 16"/>
          <p:cNvSpPr/>
          <p:nvPr/>
        </p:nvSpPr>
        <p:spPr>
          <a:xfrm>
            <a:off x="731520" y="3360881"/>
            <a:ext cx="99579" cy="2228238"/>
          </a:xfrm>
          <a:prstGeom prst="roundRect">
            <a:avLst>
              <a:gd name="adj" fmla="val 12000"/>
            </a:avLst>
          </a:prstGeom>
          <a:solidFill>
            <a:srgbClr val="1D9E93"/>
          </a:solidFill>
          <a:ln>
            <a:noFill/>
          </a:ln>
        </p:spPr>
        <p:txBody>
          <a:bodyPr rtlCol="0" anchor="ctr"/>
          <a:lstStyle/>
          <a:p>
            <a:pPr algn="ctr"/>
            <a:endParaRPr lang="en-ZA"/>
          </a:p>
        </p:txBody>
      </p:sp>
      <p:sp>
        <p:nvSpPr>
          <p:cNvPr id="17" name="TextBox 17"/>
          <p:cNvSpPr txBox="1"/>
          <p:nvPr/>
        </p:nvSpPr>
        <p:spPr>
          <a:xfrm>
            <a:off x="1000000" y="3480000"/>
            <a:ext cx="10250000" cy="2050000"/>
          </a:xfrm>
          <a:prstGeom prst="rect">
            <a:avLst/>
          </a:prstGeom>
          <a:noFill/>
        </p:spPr>
        <p:txBody>
          <a:bodyPr wrap="square" lIns="27432" tIns="27432" rIns="27432" bIns="27432" anchor="ctr">
            <a:noAutofit/>
          </a:bodyPr>
          <a:lstStyle/>
          <a:p>
            <a:pPr marL="228600" indent="-228600" algn="l">
              <a:spcAft>
                <a:spcPts val="900"/>
              </a:spcAft>
              <a:buClr>
                <a:srgbClr val="1D9E93"/>
              </a:buClr>
              <a:buFont typeface="Arial"/>
              <a:buChar char="•"/>
            </a:pPr>
            <a:r>
              <a:rPr lang="en-ZA" sz="1600" b="0" i="0" dirty="0">
                <a:solidFill>
                  <a:srgbClr val="283343"/>
                </a:solidFill>
                <a:latin typeface="Aptos"/>
              </a:rPr>
              <a:t>R² indicates that the fitted model accounts for about 91.8% of the variation in Interest rate in this sample.</a:t>
            </a:r>
          </a:p>
          <a:p>
            <a:pPr marL="228600" indent="-228600" algn="l">
              <a:spcAft>
                <a:spcPts val="900"/>
              </a:spcAft>
              <a:buClr>
                <a:srgbClr val="1D9E93"/>
              </a:buClr>
              <a:buFont typeface="Arial"/>
              <a:buChar char="•"/>
            </a:pPr>
            <a:r>
              <a:rPr lang="en-ZA" sz="1600" b="0" i="0" dirty="0">
                <a:solidFill>
                  <a:srgbClr val="283343"/>
                </a:solidFill>
                <a:latin typeface="Aptos"/>
              </a:rPr>
              <a:t>The overall F-test is highly significant (reported p-value rounds to 0.00).</a:t>
            </a:r>
          </a:p>
          <a:p>
            <a:pPr marL="228600" indent="-228600" algn="l">
              <a:spcAft>
                <a:spcPts val="900"/>
              </a:spcAft>
              <a:buClr>
                <a:srgbClr val="1D9E93"/>
              </a:buClr>
              <a:buFont typeface="Arial"/>
              <a:buChar char="•"/>
            </a:pPr>
            <a:r>
              <a:rPr lang="en-ZA" sz="1600" b="0" i="0" dirty="0">
                <a:solidFill>
                  <a:srgbClr val="283343"/>
                </a:solidFill>
                <a:latin typeface="Aptos"/>
              </a:rPr>
              <a:t>Use a held-out test set or cross-validation to assess performance on new applicants.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1695" cy="118872"/>
          </a:xfrm>
          <a:prstGeom prst="rect">
            <a:avLst/>
          </a:prstGeom>
          <a:solidFill>
            <a:srgbClr val="1D9E93"/>
          </a:solidFill>
          <a:ln>
            <a:noFill/>
          </a:ln>
        </p:spPr>
        <p:txBody>
          <a:bodyPr rtlCol="0" anchor="ctr"/>
          <a:lstStyle/>
          <a:p>
            <a:pPr algn="ctr"/>
            <a:endParaRPr lang="en-ZA"/>
          </a:p>
        </p:txBody>
      </p:sp>
      <p:sp>
        <p:nvSpPr>
          <p:cNvPr id="3" name="Title 3"/>
          <p:cNvSpPr txBox="1"/>
          <p:nvPr/>
        </p:nvSpPr>
        <p:spPr>
          <a:xfrm>
            <a:off x="621792" y="384048"/>
            <a:ext cx="10927080" cy="594360"/>
          </a:xfrm>
          <a:prstGeom prst="rect">
            <a:avLst/>
          </a:prstGeom>
          <a:noFill/>
        </p:spPr>
        <p:txBody>
          <a:bodyPr wrap="square" lIns="27432" tIns="27432" rIns="27432" bIns="27432" anchor="t">
            <a:noAutofit/>
          </a:bodyPr>
          <a:lstStyle/>
          <a:p>
            <a:pPr algn="l">
              <a:spcAft>
                <a:spcPts val="0"/>
              </a:spcAft>
              <a:buNone/>
            </a:pPr>
            <a:r>
              <a:rPr lang="en-ZA" sz="2900" b="1" i="0" dirty="0">
                <a:solidFill>
                  <a:srgbClr val="14223B"/>
                </a:solidFill>
                <a:latin typeface="Aptos"/>
              </a:rPr>
              <a:t>Overall model fit of our test data</a:t>
            </a:r>
          </a:p>
        </p:txBody>
      </p:sp>
      <p:sp>
        <p:nvSpPr>
          <p:cNvPr id="4" name="Subtitle 4"/>
          <p:cNvSpPr txBox="1"/>
          <p:nvPr/>
        </p:nvSpPr>
        <p:spPr>
          <a:xfrm>
            <a:off x="731520" y="952255"/>
            <a:ext cx="10698480" cy="502920"/>
          </a:xfrm>
          <a:prstGeom prst="rect">
            <a:avLst/>
          </a:prstGeom>
          <a:noFill/>
        </p:spPr>
        <p:txBody>
          <a:bodyPr wrap="square" lIns="27432" tIns="27432" rIns="27432" bIns="27432" anchor="t">
            <a:noAutofit/>
          </a:bodyPr>
          <a:lstStyle/>
          <a:p>
            <a:pPr algn="l">
              <a:spcAft>
                <a:spcPts val="0"/>
              </a:spcAft>
              <a:buNone/>
            </a:pPr>
            <a:r>
              <a:rPr lang="en-ZA" sz="2000" b="0" i="0" dirty="0">
                <a:solidFill>
                  <a:srgbClr val="283343"/>
                </a:solidFill>
                <a:latin typeface="Aptos"/>
              </a:rPr>
              <a:t>Strong in-sample fit — not proof of out-of-sample accuracy</a:t>
            </a:r>
          </a:p>
        </p:txBody>
      </p:sp>
      <p:sp>
        <p:nvSpPr>
          <p:cNvPr id="5" name="Footer 5"/>
          <p:cNvSpPr txBox="1"/>
          <p:nvPr/>
        </p:nvSpPr>
        <p:spPr>
          <a:xfrm>
            <a:off x="640080" y="6510528"/>
            <a:ext cx="8046720" cy="182880"/>
          </a:xfrm>
          <a:prstGeom prst="rect">
            <a:avLst/>
          </a:prstGeom>
          <a:noFill/>
        </p:spPr>
        <p:txBody>
          <a:bodyPr wrap="square" lIns="27432" tIns="27432" rIns="27432" bIns="27432" anchor="t">
            <a:noAutofit/>
          </a:bodyPr>
          <a:lstStyle/>
          <a:p>
            <a:pPr algn="l">
              <a:spcAft>
                <a:spcPts val="0"/>
              </a:spcAft>
              <a:buNone/>
            </a:pPr>
            <a:r>
              <a:rPr lang="en-ZA" sz="900" b="1" i="0" dirty="0">
                <a:solidFill>
                  <a:srgbClr val="647182"/>
                </a:solidFill>
                <a:latin typeface="Aptos"/>
              </a:rPr>
              <a:t>04  |  MODEL FIT</a:t>
            </a:r>
          </a:p>
        </p:txBody>
      </p:sp>
      <p:sp>
        <p:nvSpPr>
          <p:cNvPr id="6" name="Page 6"/>
          <p:cNvSpPr txBox="1"/>
          <p:nvPr/>
        </p:nvSpPr>
        <p:spPr>
          <a:xfrm>
            <a:off x="11109960" y="6473952"/>
            <a:ext cx="438912" cy="219456"/>
          </a:xfrm>
          <a:prstGeom prst="rect">
            <a:avLst/>
          </a:prstGeom>
          <a:noFill/>
        </p:spPr>
        <p:txBody>
          <a:bodyPr wrap="square" lIns="27432" tIns="27432" rIns="27432" bIns="27432" anchor="t">
            <a:noAutofit/>
          </a:bodyPr>
          <a:lstStyle/>
          <a:p>
            <a:pPr algn="r">
              <a:spcAft>
                <a:spcPts val="0"/>
              </a:spcAft>
              <a:buNone/>
            </a:pPr>
            <a:r>
              <a:rPr lang="en-ZA" sz="900" b="0" i="0" dirty="0">
                <a:solidFill>
                  <a:srgbClr val="647182"/>
                </a:solidFill>
                <a:latin typeface="Aptos"/>
              </a:rPr>
              <a:t>07</a:t>
            </a:r>
          </a:p>
        </p:txBody>
      </p:sp>
      <p:sp>
        <p:nvSpPr>
          <p:cNvPr id="7" name="Rectangle 7"/>
          <p:cNvSpPr/>
          <p:nvPr/>
        </p:nvSpPr>
        <p:spPr>
          <a:xfrm>
            <a:off x="731520" y="1650000"/>
            <a:ext cx="2500000" cy="1250000"/>
          </a:xfrm>
          <a:prstGeom prst="roundRect">
            <a:avLst>
              <a:gd name="adj" fmla="val 5760"/>
            </a:avLst>
          </a:prstGeom>
          <a:solidFill>
            <a:srgbClr val="14223B"/>
          </a:solidFill>
          <a:ln>
            <a:noFill/>
          </a:ln>
        </p:spPr>
        <p:txBody>
          <a:bodyPr rtlCol="0" anchor="ctr"/>
          <a:lstStyle/>
          <a:p>
            <a:pPr algn="ctr"/>
            <a:endParaRPr lang="en-ZA"/>
          </a:p>
        </p:txBody>
      </p:sp>
      <p:sp>
        <p:nvSpPr>
          <p:cNvPr id="8" name="TextBox 8"/>
          <p:cNvSpPr txBox="1"/>
          <p:nvPr/>
        </p:nvSpPr>
        <p:spPr>
          <a:xfrm>
            <a:off x="851520" y="1845000"/>
            <a:ext cx="2260000" cy="860000"/>
          </a:xfrm>
          <a:prstGeom prst="rect">
            <a:avLst/>
          </a:prstGeom>
          <a:noFill/>
        </p:spPr>
        <p:txBody>
          <a:bodyPr wrap="square" lIns="27432" tIns="27432" rIns="27432" bIns="27432" anchor="ctr">
            <a:noAutofit/>
          </a:bodyPr>
          <a:lstStyle/>
          <a:p>
            <a:pPr algn="ctr">
              <a:spcAft>
                <a:spcPts val="200"/>
              </a:spcAft>
              <a:buNone/>
            </a:pPr>
            <a:r>
              <a:rPr lang="en-ZA" sz="2800" b="1" i="0" dirty="0">
                <a:solidFill>
                  <a:srgbClr val="FFFFFF"/>
                </a:solidFill>
                <a:latin typeface="Aptos"/>
              </a:rPr>
              <a:t>91.7%</a:t>
            </a:r>
          </a:p>
          <a:p>
            <a:pPr algn="ctr">
              <a:spcAft>
                <a:spcPts val="0"/>
              </a:spcAft>
              <a:buNone/>
            </a:pPr>
            <a:r>
              <a:rPr lang="en-ZA" sz="1100" b="1" i="0" cap="all" dirty="0">
                <a:solidFill>
                  <a:srgbClr val="BED2E4"/>
                </a:solidFill>
                <a:latin typeface="Aptos"/>
              </a:rPr>
              <a:t>R-squared</a:t>
            </a:r>
          </a:p>
        </p:txBody>
      </p:sp>
      <p:sp>
        <p:nvSpPr>
          <p:cNvPr id="9" name="Rectangle 9"/>
          <p:cNvSpPr/>
          <p:nvPr/>
        </p:nvSpPr>
        <p:spPr>
          <a:xfrm>
            <a:off x="3479520" y="1650000"/>
            <a:ext cx="2500000" cy="1250000"/>
          </a:xfrm>
          <a:prstGeom prst="roundRect">
            <a:avLst>
              <a:gd name="adj" fmla="val 5760"/>
            </a:avLst>
          </a:prstGeom>
          <a:solidFill>
            <a:srgbClr val="1D9E93"/>
          </a:solidFill>
          <a:ln>
            <a:noFill/>
          </a:ln>
        </p:spPr>
        <p:txBody>
          <a:bodyPr rtlCol="0" anchor="ctr"/>
          <a:lstStyle/>
          <a:p>
            <a:pPr algn="ctr"/>
            <a:endParaRPr lang="en-ZA"/>
          </a:p>
        </p:txBody>
      </p:sp>
      <p:sp>
        <p:nvSpPr>
          <p:cNvPr id="10" name="TextBox 10"/>
          <p:cNvSpPr txBox="1"/>
          <p:nvPr/>
        </p:nvSpPr>
        <p:spPr>
          <a:xfrm>
            <a:off x="3599520" y="1845000"/>
            <a:ext cx="2260000" cy="860000"/>
          </a:xfrm>
          <a:prstGeom prst="rect">
            <a:avLst/>
          </a:prstGeom>
          <a:noFill/>
        </p:spPr>
        <p:txBody>
          <a:bodyPr wrap="square" lIns="27432" tIns="27432" rIns="27432" bIns="27432" anchor="ctr">
            <a:noAutofit/>
          </a:bodyPr>
          <a:lstStyle/>
          <a:p>
            <a:pPr algn="ctr">
              <a:spcAft>
                <a:spcPts val="200"/>
              </a:spcAft>
              <a:buNone/>
            </a:pPr>
            <a:r>
              <a:rPr lang="en-ZA" sz="2800" b="1" i="0" dirty="0">
                <a:solidFill>
                  <a:srgbClr val="FFFFFF"/>
                </a:solidFill>
                <a:latin typeface="Aptos"/>
              </a:rPr>
              <a:t>91.7%</a:t>
            </a:r>
          </a:p>
          <a:p>
            <a:pPr algn="ctr">
              <a:spcAft>
                <a:spcPts val="0"/>
              </a:spcAft>
              <a:buNone/>
            </a:pPr>
            <a:r>
              <a:rPr lang="en-ZA" sz="1100" b="1" i="0" cap="all" dirty="0">
                <a:solidFill>
                  <a:srgbClr val="FFFFFF"/>
                </a:solidFill>
                <a:latin typeface="Aptos"/>
              </a:rPr>
              <a:t>Adjusted R-squared</a:t>
            </a:r>
          </a:p>
        </p:txBody>
      </p:sp>
      <p:sp>
        <p:nvSpPr>
          <p:cNvPr id="11" name="Rectangle 11"/>
          <p:cNvSpPr/>
          <p:nvPr/>
        </p:nvSpPr>
        <p:spPr>
          <a:xfrm>
            <a:off x="6227520" y="1650000"/>
            <a:ext cx="2500000" cy="1250000"/>
          </a:xfrm>
          <a:prstGeom prst="roundRect">
            <a:avLst>
              <a:gd name="adj" fmla="val 5760"/>
            </a:avLst>
          </a:prstGeom>
          <a:solidFill>
            <a:srgbClr val="2C66A8"/>
          </a:solidFill>
          <a:ln>
            <a:noFill/>
          </a:ln>
        </p:spPr>
        <p:txBody>
          <a:bodyPr rtlCol="0" anchor="ctr"/>
          <a:lstStyle/>
          <a:p>
            <a:pPr algn="ctr"/>
            <a:endParaRPr lang="en-ZA"/>
          </a:p>
        </p:txBody>
      </p:sp>
      <p:sp>
        <p:nvSpPr>
          <p:cNvPr id="12" name="TextBox 12"/>
          <p:cNvSpPr txBox="1"/>
          <p:nvPr/>
        </p:nvSpPr>
        <p:spPr>
          <a:xfrm>
            <a:off x="6347520" y="1845000"/>
            <a:ext cx="2260000" cy="860000"/>
          </a:xfrm>
          <a:prstGeom prst="rect">
            <a:avLst/>
          </a:prstGeom>
          <a:noFill/>
        </p:spPr>
        <p:txBody>
          <a:bodyPr wrap="square" lIns="27432" tIns="27432" rIns="27432" bIns="27432" anchor="ctr">
            <a:noAutofit/>
          </a:bodyPr>
          <a:lstStyle/>
          <a:p>
            <a:pPr algn="ctr">
              <a:spcAft>
                <a:spcPts val="200"/>
              </a:spcAft>
              <a:buNone/>
            </a:pPr>
            <a:r>
              <a:rPr lang="en-ZA" sz="2800" b="1" i="0" dirty="0">
                <a:solidFill>
                  <a:srgbClr val="FFFFFF"/>
                </a:solidFill>
                <a:latin typeface="Aptos"/>
              </a:rPr>
              <a:t>2,001</a:t>
            </a:r>
          </a:p>
          <a:p>
            <a:pPr algn="ctr">
              <a:spcAft>
                <a:spcPts val="0"/>
              </a:spcAft>
              <a:buNone/>
            </a:pPr>
            <a:r>
              <a:rPr lang="en-ZA" sz="1100" b="1" i="0" cap="all" dirty="0">
                <a:solidFill>
                  <a:srgbClr val="FFFFFF"/>
                </a:solidFill>
                <a:latin typeface="Aptos"/>
              </a:rPr>
              <a:t>Observations</a:t>
            </a:r>
          </a:p>
        </p:txBody>
      </p:sp>
      <p:sp>
        <p:nvSpPr>
          <p:cNvPr id="13" name="Rectangle 13"/>
          <p:cNvSpPr/>
          <p:nvPr/>
        </p:nvSpPr>
        <p:spPr>
          <a:xfrm>
            <a:off x="8975520" y="1650000"/>
            <a:ext cx="2500000" cy="1250000"/>
          </a:xfrm>
          <a:prstGeom prst="roundRect">
            <a:avLst>
              <a:gd name="adj" fmla="val 5760"/>
            </a:avLst>
          </a:prstGeom>
          <a:solidFill>
            <a:srgbClr val="EFB44B"/>
          </a:solidFill>
          <a:ln>
            <a:noFill/>
          </a:ln>
        </p:spPr>
        <p:txBody>
          <a:bodyPr rtlCol="0" anchor="ctr"/>
          <a:lstStyle/>
          <a:p>
            <a:pPr algn="ctr"/>
            <a:endParaRPr lang="en-ZA"/>
          </a:p>
        </p:txBody>
      </p:sp>
      <p:sp>
        <p:nvSpPr>
          <p:cNvPr id="14" name="TextBox 14"/>
          <p:cNvSpPr txBox="1"/>
          <p:nvPr/>
        </p:nvSpPr>
        <p:spPr>
          <a:xfrm>
            <a:off x="9095520" y="1845000"/>
            <a:ext cx="2260000" cy="860000"/>
          </a:xfrm>
          <a:prstGeom prst="rect">
            <a:avLst/>
          </a:prstGeom>
          <a:noFill/>
        </p:spPr>
        <p:txBody>
          <a:bodyPr wrap="square" lIns="27432" tIns="27432" rIns="27432" bIns="27432" anchor="ctr">
            <a:noAutofit/>
          </a:bodyPr>
          <a:lstStyle/>
          <a:p>
            <a:pPr algn="ctr">
              <a:spcAft>
                <a:spcPts val="200"/>
              </a:spcAft>
              <a:buNone/>
            </a:pPr>
            <a:r>
              <a:rPr lang="en-ZA" sz="2800" b="1" i="0" dirty="0">
                <a:solidFill>
                  <a:srgbClr val="14223B"/>
                </a:solidFill>
                <a:latin typeface="Aptos"/>
              </a:rPr>
              <a:t>2004</a:t>
            </a:r>
          </a:p>
          <a:p>
            <a:pPr algn="ctr">
              <a:spcAft>
                <a:spcPts val="0"/>
              </a:spcAft>
              <a:buNone/>
            </a:pPr>
            <a:r>
              <a:rPr lang="en-ZA" sz="1100" b="1" i="0" cap="all" dirty="0">
                <a:solidFill>
                  <a:srgbClr val="14223B"/>
                </a:solidFill>
                <a:latin typeface="Aptos"/>
              </a:rPr>
              <a:t>F-statistic</a:t>
            </a:r>
          </a:p>
        </p:txBody>
      </p:sp>
      <p:sp>
        <p:nvSpPr>
          <p:cNvPr id="15" name="Rectangle 15"/>
          <p:cNvSpPr/>
          <p:nvPr/>
        </p:nvSpPr>
        <p:spPr>
          <a:xfrm>
            <a:off x="815811" y="3350000"/>
            <a:ext cx="10659909" cy="2250000"/>
          </a:xfrm>
          <a:prstGeom prst="roundRect">
            <a:avLst>
              <a:gd name="adj" fmla="val 3200"/>
            </a:avLst>
          </a:prstGeom>
          <a:solidFill>
            <a:srgbClr val="F0F5FA"/>
          </a:solidFill>
          <a:ln>
            <a:noFill/>
          </a:ln>
        </p:spPr>
        <p:txBody>
          <a:bodyPr rtlCol="0" anchor="ctr"/>
          <a:lstStyle/>
          <a:p>
            <a:pPr algn="ctr"/>
            <a:endParaRPr lang="en-ZA"/>
          </a:p>
        </p:txBody>
      </p:sp>
      <p:sp>
        <p:nvSpPr>
          <p:cNvPr id="16" name="Rectangle 16"/>
          <p:cNvSpPr/>
          <p:nvPr/>
        </p:nvSpPr>
        <p:spPr>
          <a:xfrm>
            <a:off x="731520" y="3360881"/>
            <a:ext cx="99579" cy="2228238"/>
          </a:xfrm>
          <a:prstGeom prst="roundRect">
            <a:avLst>
              <a:gd name="adj" fmla="val 12000"/>
            </a:avLst>
          </a:prstGeom>
          <a:solidFill>
            <a:srgbClr val="1D9E93"/>
          </a:solidFill>
          <a:ln>
            <a:noFill/>
          </a:ln>
        </p:spPr>
        <p:txBody>
          <a:bodyPr rtlCol="0" anchor="ctr"/>
          <a:lstStyle/>
          <a:p>
            <a:pPr algn="ctr"/>
            <a:endParaRPr lang="en-ZA"/>
          </a:p>
        </p:txBody>
      </p:sp>
      <p:sp>
        <p:nvSpPr>
          <p:cNvPr id="17" name="TextBox 17"/>
          <p:cNvSpPr txBox="1"/>
          <p:nvPr/>
        </p:nvSpPr>
        <p:spPr>
          <a:xfrm>
            <a:off x="1000000" y="3480000"/>
            <a:ext cx="10250000" cy="2050000"/>
          </a:xfrm>
          <a:prstGeom prst="rect">
            <a:avLst/>
          </a:prstGeom>
          <a:noFill/>
        </p:spPr>
        <p:txBody>
          <a:bodyPr wrap="square" lIns="27432" tIns="27432" rIns="27432" bIns="27432" anchor="ctr">
            <a:noAutofit/>
          </a:bodyPr>
          <a:lstStyle/>
          <a:p>
            <a:pPr marL="228600" indent="-228600" algn="l">
              <a:spcAft>
                <a:spcPts val="900"/>
              </a:spcAft>
              <a:buClr>
                <a:srgbClr val="1D9E93"/>
              </a:buClr>
              <a:buFont typeface="Arial"/>
              <a:buChar char="•"/>
            </a:pPr>
            <a:r>
              <a:rPr lang="en-ZA" sz="1600" b="0" i="0" dirty="0">
                <a:solidFill>
                  <a:srgbClr val="283343"/>
                </a:solidFill>
                <a:latin typeface="Aptos"/>
              </a:rPr>
              <a:t>R² indicates that the fitted model accounts for about 91.8% of the variation in interest rate in this sample.</a:t>
            </a:r>
          </a:p>
          <a:p>
            <a:pPr marL="228600" indent="-228600" algn="l">
              <a:spcAft>
                <a:spcPts val="900"/>
              </a:spcAft>
              <a:buClr>
                <a:srgbClr val="1D9E93"/>
              </a:buClr>
              <a:buFont typeface="Arial"/>
              <a:buChar char="•"/>
            </a:pPr>
            <a:r>
              <a:rPr lang="en-ZA" sz="1600" b="0" i="0" dirty="0">
                <a:solidFill>
                  <a:srgbClr val="283343"/>
                </a:solidFill>
                <a:latin typeface="Aptos"/>
              </a:rPr>
              <a:t>The overall F-test is highly significant (reported p-value rounds to 0.00).</a:t>
            </a:r>
          </a:p>
          <a:p>
            <a:pPr marL="228600" indent="-228600" algn="l">
              <a:spcAft>
                <a:spcPts val="900"/>
              </a:spcAft>
              <a:buClr>
                <a:srgbClr val="1D9E93"/>
              </a:buClr>
              <a:buFont typeface="Arial"/>
              <a:buChar char="•"/>
            </a:pPr>
            <a:r>
              <a:rPr lang="en-ZA" sz="1600" b="0" i="0" dirty="0">
                <a:solidFill>
                  <a:srgbClr val="283343"/>
                </a:solidFill>
                <a:latin typeface="Aptos"/>
              </a:rPr>
              <a:t>Use a held-out test set or cross-validation to assess performance on new applicants.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1695" cy="118872"/>
          </a:xfrm>
          <a:prstGeom prst="rect">
            <a:avLst/>
          </a:prstGeom>
          <a:solidFill>
            <a:srgbClr val="1D9E93"/>
          </a:solidFill>
          <a:ln>
            <a:noFill/>
          </a:ln>
        </p:spPr>
        <p:txBody>
          <a:bodyPr rtlCol="0" anchor="ctr"/>
          <a:lstStyle/>
          <a:p>
            <a:pPr algn="ctr"/>
            <a:endParaRPr lang="en-ZA"/>
          </a:p>
        </p:txBody>
      </p:sp>
      <p:sp>
        <p:nvSpPr>
          <p:cNvPr id="3" name="Title 3"/>
          <p:cNvSpPr txBox="1"/>
          <p:nvPr/>
        </p:nvSpPr>
        <p:spPr>
          <a:xfrm>
            <a:off x="621792" y="384048"/>
            <a:ext cx="10927080" cy="594360"/>
          </a:xfrm>
          <a:prstGeom prst="rect">
            <a:avLst/>
          </a:prstGeom>
          <a:noFill/>
        </p:spPr>
        <p:txBody>
          <a:bodyPr wrap="square" lIns="27432" tIns="27432" rIns="27432" bIns="27432" anchor="t">
            <a:noAutofit/>
          </a:bodyPr>
          <a:lstStyle/>
          <a:p>
            <a:pPr algn="l">
              <a:spcAft>
                <a:spcPts val="0"/>
              </a:spcAft>
              <a:buNone/>
            </a:pPr>
            <a:r>
              <a:rPr lang="en-ZA" sz="2400" b="1" i="0" dirty="0">
                <a:solidFill>
                  <a:srgbClr val="14223B"/>
                </a:solidFill>
                <a:latin typeface="Aptos"/>
              </a:rPr>
              <a:t>Prediction performance &amp; diagnostics form our training data</a:t>
            </a:r>
          </a:p>
        </p:txBody>
      </p:sp>
      <p:sp>
        <p:nvSpPr>
          <p:cNvPr id="4" name="Subtitle 4"/>
          <p:cNvSpPr txBox="1"/>
          <p:nvPr/>
        </p:nvSpPr>
        <p:spPr>
          <a:xfrm>
            <a:off x="731520" y="952255"/>
            <a:ext cx="10698480" cy="502920"/>
          </a:xfrm>
          <a:prstGeom prst="rect">
            <a:avLst/>
          </a:prstGeom>
          <a:noFill/>
        </p:spPr>
        <p:txBody>
          <a:bodyPr wrap="square" lIns="27432" tIns="27432" rIns="27432" bIns="27432" anchor="t">
            <a:noAutofit/>
          </a:bodyPr>
          <a:lstStyle/>
          <a:p>
            <a:pPr algn="l">
              <a:spcAft>
                <a:spcPts val="0"/>
              </a:spcAft>
              <a:buNone/>
            </a:pPr>
            <a:r>
              <a:rPr lang="en-ZA" sz="2000" b="0" i="0" dirty="0">
                <a:solidFill>
                  <a:srgbClr val="283343"/>
                </a:solidFill>
                <a:latin typeface="Aptos"/>
              </a:rPr>
              <a:t>Separate prediction error from model-assumption checks</a:t>
            </a:r>
          </a:p>
        </p:txBody>
      </p:sp>
      <p:sp>
        <p:nvSpPr>
          <p:cNvPr id="5" name="Footer 5"/>
          <p:cNvSpPr txBox="1"/>
          <p:nvPr/>
        </p:nvSpPr>
        <p:spPr>
          <a:xfrm>
            <a:off x="640080" y="6510528"/>
            <a:ext cx="8046720" cy="182880"/>
          </a:xfrm>
          <a:prstGeom prst="rect">
            <a:avLst/>
          </a:prstGeom>
          <a:noFill/>
        </p:spPr>
        <p:txBody>
          <a:bodyPr wrap="square" lIns="27432" tIns="27432" rIns="27432" bIns="27432" anchor="t">
            <a:noAutofit/>
          </a:bodyPr>
          <a:lstStyle/>
          <a:p>
            <a:pPr algn="l">
              <a:spcAft>
                <a:spcPts val="0"/>
              </a:spcAft>
              <a:buNone/>
            </a:pPr>
            <a:r>
              <a:rPr lang="en-ZA" sz="900" b="1" i="0" dirty="0">
                <a:solidFill>
                  <a:srgbClr val="647182"/>
                </a:solidFill>
                <a:latin typeface="Aptos"/>
              </a:rPr>
              <a:t>05  |  DIAGNOSTICS</a:t>
            </a:r>
          </a:p>
        </p:txBody>
      </p:sp>
      <p:sp>
        <p:nvSpPr>
          <p:cNvPr id="6" name="Page 6"/>
          <p:cNvSpPr txBox="1"/>
          <p:nvPr/>
        </p:nvSpPr>
        <p:spPr>
          <a:xfrm>
            <a:off x="11109960" y="6473952"/>
            <a:ext cx="438912" cy="219456"/>
          </a:xfrm>
          <a:prstGeom prst="rect">
            <a:avLst/>
          </a:prstGeom>
          <a:noFill/>
        </p:spPr>
        <p:txBody>
          <a:bodyPr wrap="square" lIns="27432" tIns="27432" rIns="27432" bIns="27432" anchor="t">
            <a:noAutofit/>
          </a:bodyPr>
          <a:lstStyle/>
          <a:p>
            <a:pPr algn="r">
              <a:spcAft>
                <a:spcPts val="0"/>
              </a:spcAft>
              <a:buNone/>
            </a:pPr>
            <a:r>
              <a:rPr lang="en-ZA" sz="900" b="0" i="0" dirty="0">
                <a:solidFill>
                  <a:srgbClr val="647182"/>
                </a:solidFill>
                <a:latin typeface="Aptos"/>
              </a:rPr>
              <a:t>08</a:t>
            </a:r>
          </a:p>
        </p:txBody>
      </p:sp>
      <p:sp>
        <p:nvSpPr>
          <p:cNvPr id="7" name="TextBox 7"/>
          <p:cNvSpPr txBox="1"/>
          <p:nvPr/>
        </p:nvSpPr>
        <p:spPr>
          <a:xfrm>
            <a:off x="731520" y="1550000"/>
            <a:ext cx="4937760" cy="300000"/>
          </a:xfrm>
          <a:prstGeom prst="rect">
            <a:avLst/>
          </a:prstGeom>
          <a:noFill/>
        </p:spPr>
        <p:txBody>
          <a:bodyPr wrap="square" lIns="27432" tIns="27432" rIns="27432" bIns="27432" anchor="t">
            <a:noAutofit/>
          </a:bodyPr>
          <a:lstStyle/>
          <a:p>
            <a:pPr algn="l">
              <a:spcAft>
                <a:spcPts val="0"/>
              </a:spcAft>
              <a:buNone/>
            </a:pPr>
            <a:r>
              <a:rPr lang="en-ZA" sz="1200" b="1" i="0" cap="all" dirty="0">
                <a:solidFill>
                  <a:srgbClr val="1D9E93"/>
                </a:solidFill>
                <a:latin typeface="Aptos"/>
              </a:rPr>
              <a:t>REPORTED ERROR SUMMARY</a:t>
            </a:r>
          </a:p>
        </p:txBody>
      </p:sp>
      <p:sp>
        <p:nvSpPr>
          <p:cNvPr id="8" name="Rectangle 8"/>
          <p:cNvSpPr/>
          <p:nvPr/>
        </p:nvSpPr>
        <p:spPr>
          <a:xfrm>
            <a:off x="731520" y="1950000"/>
            <a:ext cx="2400000" cy="1250000"/>
          </a:xfrm>
          <a:prstGeom prst="roundRect">
            <a:avLst>
              <a:gd name="adj" fmla="val 5760"/>
            </a:avLst>
          </a:prstGeom>
          <a:solidFill>
            <a:srgbClr val="14223B"/>
          </a:solidFill>
          <a:ln>
            <a:noFill/>
          </a:ln>
        </p:spPr>
        <p:txBody>
          <a:bodyPr rtlCol="0" anchor="ctr"/>
          <a:lstStyle/>
          <a:p>
            <a:pPr algn="ctr"/>
            <a:endParaRPr lang="en-ZA"/>
          </a:p>
        </p:txBody>
      </p:sp>
      <p:sp>
        <p:nvSpPr>
          <p:cNvPr id="9" name="TextBox 9"/>
          <p:cNvSpPr txBox="1"/>
          <p:nvPr/>
        </p:nvSpPr>
        <p:spPr>
          <a:xfrm>
            <a:off x="851520" y="2145000"/>
            <a:ext cx="2160000" cy="860000"/>
          </a:xfrm>
          <a:prstGeom prst="rect">
            <a:avLst/>
          </a:prstGeom>
          <a:noFill/>
        </p:spPr>
        <p:txBody>
          <a:bodyPr wrap="square" lIns="27432" tIns="27432" rIns="27432" bIns="27432" anchor="ctr">
            <a:noAutofit/>
          </a:bodyPr>
          <a:lstStyle/>
          <a:p>
            <a:pPr algn="ctr">
              <a:spcAft>
                <a:spcPts val="200"/>
              </a:spcAft>
              <a:buNone/>
            </a:pPr>
            <a:r>
              <a:rPr lang="en-ZA" sz="2600" b="1" i="0" dirty="0">
                <a:solidFill>
                  <a:srgbClr val="FFFFFF"/>
                </a:solidFill>
                <a:latin typeface="Aptos"/>
              </a:rPr>
              <a:t>≈ 1.043</a:t>
            </a:r>
          </a:p>
          <a:p>
            <a:pPr algn="ctr">
              <a:spcAft>
                <a:spcPts val="0"/>
              </a:spcAft>
              <a:buNone/>
            </a:pPr>
            <a:r>
              <a:rPr lang="en-ZA" sz="1100" b="1" i="0" cap="all" dirty="0">
                <a:solidFill>
                  <a:srgbClr val="BED2E4"/>
                </a:solidFill>
                <a:latin typeface="Aptos"/>
              </a:rPr>
              <a:t>Previously reported average error</a:t>
            </a:r>
          </a:p>
        </p:txBody>
      </p:sp>
      <p:sp>
        <p:nvSpPr>
          <p:cNvPr id="10" name="Rectangle 10"/>
          <p:cNvSpPr/>
          <p:nvPr/>
        </p:nvSpPr>
        <p:spPr>
          <a:xfrm>
            <a:off x="3331520" y="1950000"/>
            <a:ext cx="2400000" cy="1250000"/>
          </a:xfrm>
          <a:prstGeom prst="roundRect">
            <a:avLst>
              <a:gd name="adj" fmla="val 5760"/>
            </a:avLst>
          </a:prstGeom>
          <a:solidFill>
            <a:srgbClr val="1D9E93"/>
          </a:solidFill>
          <a:ln>
            <a:noFill/>
          </a:ln>
        </p:spPr>
        <p:txBody>
          <a:bodyPr rtlCol="0" anchor="ctr"/>
          <a:lstStyle/>
          <a:p>
            <a:pPr algn="ctr"/>
            <a:endParaRPr lang="en-ZA"/>
          </a:p>
        </p:txBody>
      </p:sp>
      <p:sp>
        <p:nvSpPr>
          <p:cNvPr id="11" name="TextBox 11"/>
          <p:cNvSpPr txBox="1"/>
          <p:nvPr/>
        </p:nvSpPr>
        <p:spPr>
          <a:xfrm>
            <a:off x="3451520" y="2145000"/>
            <a:ext cx="2160000" cy="860000"/>
          </a:xfrm>
          <a:prstGeom prst="rect">
            <a:avLst/>
          </a:prstGeom>
          <a:noFill/>
        </p:spPr>
        <p:txBody>
          <a:bodyPr wrap="square" lIns="27432" tIns="27432" rIns="27432" bIns="27432" anchor="ctr">
            <a:noAutofit/>
          </a:bodyPr>
          <a:lstStyle/>
          <a:p>
            <a:pPr algn="ctr">
              <a:spcAft>
                <a:spcPts val="200"/>
              </a:spcAft>
              <a:buNone/>
            </a:pPr>
            <a:r>
              <a:rPr lang="en-ZA" sz="2600" b="1" i="0" dirty="0">
                <a:solidFill>
                  <a:srgbClr val="FFFFFF"/>
                </a:solidFill>
                <a:latin typeface="Aptos"/>
              </a:rPr>
              <a:t>7.12</a:t>
            </a:r>
          </a:p>
          <a:p>
            <a:pPr algn="ctr">
              <a:spcAft>
                <a:spcPts val="0"/>
              </a:spcAft>
              <a:buNone/>
            </a:pPr>
            <a:r>
              <a:rPr lang="en-ZA" sz="1100" b="1" i="0" cap="all" dirty="0">
                <a:solidFill>
                  <a:srgbClr val="FFFFFF"/>
                </a:solidFill>
                <a:latin typeface="Aptos"/>
              </a:rPr>
              <a:t>Previously reported maximum error</a:t>
            </a:r>
          </a:p>
        </p:txBody>
      </p:sp>
      <p:sp>
        <p:nvSpPr>
          <p:cNvPr id="12" name="TextBox 12"/>
          <p:cNvSpPr txBox="1"/>
          <p:nvPr/>
        </p:nvSpPr>
        <p:spPr>
          <a:xfrm>
            <a:off x="731520" y="3500000"/>
            <a:ext cx="5000000" cy="1500000"/>
          </a:xfrm>
          <a:prstGeom prst="rect">
            <a:avLst/>
          </a:prstGeom>
          <a:noFill/>
        </p:spPr>
        <p:txBody>
          <a:bodyPr wrap="square" lIns="27432" tIns="27432" rIns="27432" bIns="27432" anchor="t">
            <a:noAutofit/>
          </a:bodyPr>
          <a:lstStyle/>
          <a:p>
            <a:pPr algn="l">
              <a:spcAft>
                <a:spcPts val="0"/>
              </a:spcAft>
              <a:buNone/>
            </a:pPr>
            <a:r>
              <a:rPr lang="en-ZA" sz="1600" b="0" i="0" dirty="0">
                <a:solidFill>
                  <a:srgbClr val="283343"/>
                </a:solidFill>
                <a:latin typeface="Aptos"/>
              </a:rPr>
              <a:t>5,004 of 8,004 observations were reported below an error of 1 (≈62.5%). Verify this uses absolute error.</a:t>
            </a:r>
          </a:p>
        </p:txBody>
      </p:sp>
      <p:sp>
        <p:nvSpPr>
          <p:cNvPr id="13" name="TextBox 13"/>
          <p:cNvSpPr txBox="1"/>
          <p:nvPr/>
        </p:nvSpPr>
        <p:spPr>
          <a:xfrm>
            <a:off x="6217920" y="1550000"/>
            <a:ext cx="5029200" cy="300000"/>
          </a:xfrm>
          <a:prstGeom prst="rect">
            <a:avLst/>
          </a:prstGeom>
          <a:noFill/>
        </p:spPr>
        <p:txBody>
          <a:bodyPr wrap="square" lIns="27432" tIns="27432" rIns="27432" bIns="27432" anchor="t">
            <a:noAutofit/>
          </a:bodyPr>
          <a:lstStyle/>
          <a:p>
            <a:pPr algn="l">
              <a:spcAft>
                <a:spcPts val="0"/>
              </a:spcAft>
              <a:buNone/>
            </a:pPr>
            <a:r>
              <a:rPr lang="en-ZA" sz="1200" b="1" i="0" cap="all" dirty="0">
                <a:solidFill>
                  <a:srgbClr val="1D9E93"/>
                </a:solidFill>
                <a:latin typeface="Aptos"/>
              </a:rPr>
              <a:t>DIAGNOSTICS TO SHOW</a:t>
            </a:r>
          </a:p>
        </p:txBody>
      </p:sp>
      <p:sp>
        <p:nvSpPr>
          <p:cNvPr id="14" name="Rectangle 14"/>
          <p:cNvSpPr/>
          <p:nvPr/>
        </p:nvSpPr>
        <p:spPr>
          <a:xfrm>
            <a:off x="6302211" y="1950000"/>
            <a:ext cx="5173509" cy="2150000"/>
          </a:xfrm>
          <a:prstGeom prst="roundRect">
            <a:avLst>
              <a:gd name="adj" fmla="val 3348"/>
            </a:avLst>
          </a:prstGeom>
          <a:solidFill>
            <a:srgbClr val="F0F5FA"/>
          </a:solidFill>
          <a:ln>
            <a:noFill/>
          </a:ln>
        </p:spPr>
        <p:txBody>
          <a:bodyPr rtlCol="0" anchor="ctr"/>
          <a:lstStyle/>
          <a:p>
            <a:pPr algn="ctr"/>
            <a:endParaRPr lang="en-ZA"/>
          </a:p>
        </p:txBody>
      </p:sp>
      <p:sp>
        <p:nvSpPr>
          <p:cNvPr id="15" name="Rectangle 15"/>
          <p:cNvSpPr/>
          <p:nvPr/>
        </p:nvSpPr>
        <p:spPr>
          <a:xfrm>
            <a:off x="6217920" y="1960881"/>
            <a:ext cx="99579" cy="2128238"/>
          </a:xfrm>
          <a:prstGeom prst="roundRect">
            <a:avLst>
              <a:gd name="adj" fmla="val 12000"/>
            </a:avLst>
          </a:prstGeom>
          <a:solidFill>
            <a:srgbClr val="2C66A8"/>
          </a:solidFill>
          <a:ln>
            <a:noFill/>
          </a:ln>
        </p:spPr>
        <p:txBody>
          <a:bodyPr rtlCol="0" anchor="ctr"/>
          <a:lstStyle/>
          <a:p>
            <a:pPr algn="ctr"/>
            <a:endParaRPr lang="en-ZA"/>
          </a:p>
        </p:txBody>
      </p:sp>
      <p:sp>
        <p:nvSpPr>
          <p:cNvPr id="16" name="TextBox 16"/>
          <p:cNvSpPr txBox="1"/>
          <p:nvPr/>
        </p:nvSpPr>
        <p:spPr>
          <a:xfrm>
            <a:off x="6500000" y="2050000"/>
            <a:ext cx="4850000" cy="1950000"/>
          </a:xfrm>
          <a:prstGeom prst="rect">
            <a:avLst/>
          </a:prstGeom>
          <a:noFill/>
        </p:spPr>
        <p:txBody>
          <a:bodyPr wrap="square" lIns="27432" tIns="27432" rIns="27432" bIns="27432" anchor="ctr">
            <a:noAutofit/>
          </a:bodyPr>
          <a:lstStyle/>
          <a:p>
            <a:pPr marL="228600" indent="-228600" algn="l">
              <a:spcAft>
                <a:spcPts val="700"/>
              </a:spcAft>
              <a:buClr>
                <a:srgbClr val="1D9E93"/>
              </a:buClr>
              <a:buFont typeface="Arial"/>
              <a:buChar char="•"/>
            </a:pPr>
            <a:r>
              <a:rPr lang="en-ZA" sz="1400" b="0" i="0" dirty="0">
                <a:solidFill>
                  <a:srgbClr val="283343"/>
                </a:solidFill>
                <a:latin typeface="Aptos"/>
              </a:rPr>
              <a:t>Residuals vs fitted: look for random scatter around zero.</a:t>
            </a:r>
          </a:p>
          <a:p>
            <a:pPr marL="228600" indent="-228600" algn="l">
              <a:spcAft>
                <a:spcPts val="700"/>
              </a:spcAft>
              <a:buClr>
                <a:srgbClr val="1D9E93"/>
              </a:buClr>
              <a:buFont typeface="Arial"/>
              <a:buChar char="•"/>
            </a:pPr>
            <a:r>
              <a:rPr lang="en-ZA" sz="1400" b="0" i="0" dirty="0">
                <a:solidFill>
                  <a:srgbClr val="283343"/>
                </a:solidFill>
                <a:latin typeface="Aptos"/>
              </a:rPr>
              <a:t>Normal Q–Q plot: assess residual-tail departures.</a:t>
            </a:r>
          </a:p>
          <a:p>
            <a:pPr marL="228600" indent="-228600" algn="l">
              <a:spcAft>
                <a:spcPts val="700"/>
              </a:spcAft>
              <a:buClr>
                <a:srgbClr val="1D9E93"/>
              </a:buClr>
              <a:buFont typeface="Arial"/>
              <a:buChar char="•"/>
            </a:pPr>
            <a:r>
              <a:rPr lang="en-ZA" sz="1400" b="0" i="0" dirty="0">
                <a:solidFill>
                  <a:srgbClr val="283343"/>
                </a:solidFill>
                <a:latin typeface="Aptos"/>
              </a:rPr>
              <a:t>Shapiro–Wilk: W = 0.9395, p ≈ 4.83 × 10⁻⁴⁹, if applied to residuals.</a:t>
            </a:r>
          </a:p>
        </p:txBody>
      </p:sp>
      <p:sp>
        <p:nvSpPr>
          <p:cNvPr id="17" name="Rectangle 17"/>
          <p:cNvSpPr/>
          <p:nvPr/>
        </p:nvSpPr>
        <p:spPr>
          <a:xfrm>
            <a:off x="6302211" y="4350000"/>
            <a:ext cx="5173509" cy="950000"/>
          </a:xfrm>
          <a:prstGeom prst="roundRect">
            <a:avLst>
              <a:gd name="adj" fmla="val 7578"/>
            </a:avLst>
          </a:prstGeom>
          <a:solidFill>
            <a:srgbClr val="F0F5FA"/>
          </a:solidFill>
          <a:ln>
            <a:noFill/>
          </a:ln>
        </p:spPr>
        <p:txBody>
          <a:bodyPr rtlCol="0" anchor="ctr"/>
          <a:lstStyle/>
          <a:p>
            <a:pPr algn="ctr"/>
            <a:endParaRPr lang="en-ZA"/>
          </a:p>
        </p:txBody>
      </p:sp>
      <p:sp>
        <p:nvSpPr>
          <p:cNvPr id="18" name="Rectangle 18"/>
          <p:cNvSpPr/>
          <p:nvPr/>
        </p:nvSpPr>
        <p:spPr>
          <a:xfrm>
            <a:off x="6217920" y="4360881"/>
            <a:ext cx="99579" cy="928238"/>
          </a:xfrm>
          <a:prstGeom prst="roundRect">
            <a:avLst>
              <a:gd name="adj" fmla="val 12000"/>
            </a:avLst>
          </a:prstGeom>
          <a:solidFill>
            <a:srgbClr val="EFB44B"/>
          </a:solidFill>
          <a:ln>
            <a:noFill/>
          </a:ln>
        </p:spPr>
        <p:txBody>
          <a:bodyPr rtlCol="0" anchor="ctr"/>
          <a:lstStyle/>
          <a:p>
            <a:pPr algn="ctr"/>
            <a:endParaRPr lang="en-ZA"/>
          </a:p>
        </p:txBody>
      </p:sp>
      <p:sp>
        <p:nvSpPr>
          <p:cNvPr id="19" name="TextBox 19"/>
          <p:cNvSpPr txBox="1"/>
          <p:nvPr/>
        </p:nvSpPr>
        <p:spPr>
          <a:xfrm>
            <a:off x="6467920" y="4440000"/>
            <a:ext cx="4857800" cy="810000"/>
          </a:xfrm>
          <a:prstGeom prst="rect">
            <a:avLst/>
          </a:prstGeom>
          <a:noFill/>
        </p:spPr>
        <p:txBody>
          <a:bodyPr wrap="square" lIns="27432" tIns="27432" rIns="27432" bIns="27432" anchor="t">
            <a:noAutofit/>
          </a:bodyPr>
          <a:lstStyle/>
          <a:p>
            <a:pPr algn="l">
              <a:spcAft>
                <a:spcPts val="300"/>
              </a:spcAft>
              <a:buNone/>
            </a:pPr>
            <a:r>
              <a:rPr lang="en-ZA" sz="1200" b="1" i="0" cap="all" dirty="0">
                <a:solidFill>
                  <a:srgbClr val="14223B"/>
                </a:solidFill>
                <a:latin typeface="Aptos"/>
              </a:rPr>
              <a:t>Note</a:t>
            </a:r>
          </a:p>
          <a:p>
            <a:pPr algn="l">
              <a:spcAft>
                <a:spcPts val="0"/>
              </a:spcAft>
              <a:buNone/>
            </a:pPr>
            <a:r>
              <a:rPr lang="en-ZA" sz="1300" b="0" i="0" dirty="0">
                <a:solidFill>
                  <a:srgbClr val="283343"/>
                </a:solidFill>
                <a:latin typeface="Aptos"/>
              </a:rPr>
              <a:t>Large samples make normality tests sensitive; inspect plots and check unequal residual variance.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1695" cy="118872"/>
          </a:xfrm>
          <a:prstGeom prst="rect">
            <a:avLst/>
          </a:prstGeom>
          <a:solidFill>
            <a:srgbClr val="1D9E93"/>
          </a:solidFill>
          <a:ln>
            <a:noFill/>
          </a:ln>
        </p:spPr>
        <p:txBody>
          <a:bodyPr rtlCol="0" anchor="ctr"/>
          <a:lstStyle/>
          <a:p>
            <a:pPr algn="ctr"/>
            <a:endParaRPr lang="en-ZA"/>
          </a:p>
        </p:txBody>
      </p:sp>
      <p:sp>
        <p:nvSpPr>
          <p:cNvPr id="3" name="Title 3"/>
          <p:cNvSpPr txBox="1"/>
          <p:nvPr/>
        </p:nvSpPr>
        <p:spPr>
          <a:xfrm>
            <a:off x="621792" y="384048"/>
            <a:ext cx="10927080" cy="594360"/>
          </a:xfrm>
          <a:prstGeom prst="rect">
            <a:avLst/>
          </a:prstGeom>
          <a:noFill/>
        </p:spPr>
        <p:txBody>
          <a:bodyPr wrap="square" lIns="27432" tIns="27432" rIns="27432" bIns="27432" anchor="t">
            <a:noAutofit/>
          </a:bodyPr>
          <a:lstStyle/>
          <a:p>
            <a:pPr algn="l">
              <a:spcAft>
                <a:spcPts val="0"/>
              </a:spcAft>
              <a:buNone/>
            </a:pPr>
            <a:r>
              <a:rPr lang="en-ZA" sz="2400" b="1" i="0" dirty="0">
                <a:solidFill>
                  <a:srgbClr val="14223B"/>
                </a:solidFill>
                <a:latin typeface="Aptos"/>
              </a:rPr>
              <a:t>Prediction vs sample to see if linear for training data</a:t>
            </a:r>
          </a:p>
        </p:txBody>
      </p:sp>
      <p:sp>
        <p:nvSpPr>
          <p:cNvPr id="4" name="Footer 4"/>
          <p:cNvSpPr txBox="1"/>
          <p:nvPr/>
        </p:nvSpPr>
        <p:spPr>
          <a:xfrm>
            <a:off x="640080" y="6510528"/>
            <a:ext cx="8046720" cy="182880"/>
          </a:xfrm>
          <a:prstGeom prst="rect">
            <a:avLst/>
          </a:prstGeom>
          <a:noFill/>
        </p:spPr>
        <p:txBody>
          <a:bodyPr wrap="square" lIns="27432" tIns="27432" rIns="27432" bIns="27432" anchor="t">
            <a:noAutofit/>
          </a:bodyPr>
          <a:lstStyle/>
          <a:p>
            <a:pPr algn="l">
              <a:spcAft>
                <a:spcPts val="0"/>
              </a:spcAft>
              <a:buNone/>
            </a:pPr>
            <a:r>
              <a:rPr lang="en-ZA" sz="900" b="1" i="0" dirty="0">
                <a:solidFill>
                  <a:srgbClr val="647182"/>
                </a:solidFill>
                <a:latin typeface="Aptos"/>
              </a:rPr>
              <a:t>05  |  DIAGNOSTICS</a:t>
            </a:r>
          </a:p>
        </p:txBody>
      </p:sp>
      <p:sp>
        <p:nvSpPr>
          <p:cNvPr id="5" name="Page 5"/>
          <p:cNvSpPr txBox="1"/>
          <p:nvPr/>
        </p:nvSpPr>
        <p:spPr>
          <a:xfrm>
            <a:off x="11109960" y="6473952"/>
            <a:ext cx="438912" cy="219456"/>
          </a:xfrm>
          <a:prstGeom prst="rect">
            <a:avLst/>
          </a:prstGeom>
          <a:noFill/>
        </p:spPr>
        <p:txBody>
          <a:bodyPr wrap="square" lIns="27432" tIns="27432" rIns="27432" bIns="27432" anchor="t">
            <a:noAutofit/>
          </a:bodyPr>
          <a:lstStyle/>
          <a:p>
            <a:pPr algn="r">
              <a:spcAft>
                <a:spcPts val="0"/>
              </a:spcAft>
              <a:buNone/>
            </a:pPr>
            <a:r>
              <a:rPr lang="en-ZA" sz="900" b="0" i="0" dirty="0">
                <a:solidFill>
                  <a:srgbClr val="647182"/>
                </a:solidFill>
                <a:latin typeface="Aptos"/>
              </a:rPr>
              <a:t>09</a:t>
            </a:r>
          </a:p>
        </p:txBody>
      </p:sp>
      <p:pic>
        <p:nvPicPr>
          <p:cNvPr id="6" name="Picture 2"/>
          <p:cNvPicPr>
            <a:picLocks noChangeAspect="1"/>
          </p:cNvPicPr>
          <p:nvPr/>
        </p:nvPicPr>
        <p:blipFill>
          <a:blip r:embed="rId2"/>
          <a:stretch>
            <a:fillRect/>
          </a:stretch>
        </p:blipFill>
        <p:spPr>
          <a:xfrm>
            <a:off x="2350237" y="1150000"/>
            <a:ext cx="7506766" cy="520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1695" cy="118872"/>
          </a:xfrm>
          <a:prstGeom prst="rect">
            <a:avLst/>
          </a:prstGeom>
          <a:solidFill>
            <a:srgbClr val="1D9E93"/>
          </a:solidFill>
          <a:ln>
            <a:noFill/>
          </a:ln>
        </p:spPr>
        <p:txBody>
          <a:bodyPr rtlCol="0" anchor="ctr"/>
          <a:lstStyle/>
          <a:p>
            <a:pPr algn="ctr"/>
            <a:endParaRPr lang="en-ZA"/>
          </a:p>
        </p:txBody>
      </p:sp>
      <p:sp>
        <p:nvSpPr>
          <p:cNvPr id="3" name="Title 3"/>
          <p:cNvSpPr txBox="1"/>
          <p:nvPr/>
        </p:nvSpPr>
        <p:spPr>
          <a:xfrm>
            <a:off x="621792" y="384048"/>
            <a:ext cx="10927080" cy="594360"/>
          </a:xfrm>
          <a:prstGeom prst="rect">
            <a:avLst/>
          </a:prstGeom>
          <a:noFill/>
        </p:spPr>
        <p:txBody>
          <a:bodyPr wrap="square" lIns="27432" tIns="27432" rIns="27432" bIns="27432" anchor="t">
            <a:noAutofit/>
          </a:bodyPr>
          <a:lstStyle/>
          <a:p>
            <a:pPr algn="l">
              <a:spcAft>
                <a:spcPts val="0"/>
              </a:spcAft>
              <a:buNone/>
            </a:pPr>
            <a:r>
              <a:rPr lang="en-ZA" sz="2400" b="1" i="0" dirty="0">
                <a:solidFill>
                  <a:srgbClr val="14223B"/>
                </a:solidFill>
                <a:latin typeface="Aptos"/>
              </a:rPr>
              <a:t>Prediction performance &amp; diagnostics of our test data</a:t>
            </a:r>
          </a:p>
        </p:txBody>
      </p:sp>
      <p:sp>
        <p:nvSpPr>
          <p:cNvPr id="4" name="Subtitle 4"/>
          <p:cNvSpPr txBox="1"/>
          <p:nvPr/>
        </p:nvSpPr>
        <p:spPr>
          <a:xfrm>
            <a:off x="731520" y="952255"/>
            <a:ext cx="10698480" cy="502920"/>
          </a:xfrm>
          <a:prstGeom prst="rect">
            <a:avLst/>
          </a:prstGeom>
          <a:noFill/>
        </p:spPr>
        <p:txBody>
          <a:bodyPr wrap="square" lIns="27432" tIns="27432" rIns="27432" bIns="27432" anchor="t">
            <a:noAutofit/>
          </a:bodyPr>
          <a:lstStyle/>
          <a:p>
            <a:pPr algn="l">
              <a:spcAft>
                <a:spcPts val="0"/>
              </a:spcAft>
              <a:buNone/>
            </a:pPr>
            <a:r>
              <a:rPr lang="en-ZA" sz="2000" b="0" i="0" dirty="0">
                <a:solidFill>
                  <a:srgbClr val="283343"/>
                </a:solidFill>
                <a:latin typeface="Aptos"/>
              </a:rPr>
              <a:t>Separate prediction error from model-assumption checks</a:t>
            </a:r>
          </a:p>
        </p:txBody>
      </p:sp>
      <p:sp>
        <p:nvSpPr>
          <p:cNvPr id="5" name="Footer 5"/>
          <p:cNvSpPr txBox="1"/>
          <p:nvPr/>
        </p:nvSpPr>
        <p:spPr>
          <a:xfrm>
            <a:off x="640080" y="6510528"/>
            <a:ext cx="8046720" cy="182880"/>
          </a:xfrm>
          <a:prstGeom prst="rect">
            <a:avLst/>
          </a:prstGeom>
          <a:noFill/>
        </p:spPr>
        <p:txBody>
          <a:bodyPr wrap="square" lIns="27432" tIns="27432" rIns="27432" bIns="27432" anchor="t">
            <a:noAutofit/>
          </a:bodyPr>
          <a:lstStyle/>
          <a:p>
            <a:pPr algn="l">
              <a:spcAft>
                <a:spcPts val="0"/>
              </a:spcAft>
              <a:buNone/>
            </a:pPr>
            <a:r>
              <a:rPr lang="en-ZA" sz="900" b="1" i="0" dirty="0">
                <a:solidFill>
                  <a:srgbClr val="647182"/>
                </a:solidFill>
                <a:latin typeface="Aptos"/>
              </a:rPr>
              <a:t>05  |  DIAGNOSTICS</a:t>
            </a:r>
          </a:p>
        </p:txBody>
      </p:sp>
      <p:sp>
        <p:nvSpPr>
          <p:cNvPr id="6" name="Page 6"/>
          <p:cNvSpPr txBox="1"/>
          <p:nvPr/>
        </p:nvSpPr>
        <p:spPr>
          <a:xfrm>
            <a:off x="11109960" y="6473952"/>
            <a:ext cx="438912" cy="219456"/>
          </a:xfrm>
          <a:prstGeom prst="rect">
            <a:avLst/>
          </a:prstGeom>
          <a:noFill/>
        </p:spPr>
        <p:txBody>
          <a:bodyPr wrap="square" lIns="27432" tIns="27432" rIns="27432" bIns="27432" anchor="t">
            <a:noAutofit/>
          </a:bodyPr>
          <a:lstStyle/>
          <a:p>
            <a:pPr algn="r">
              <a:spcAft>
                <a:spcPts val="0"/>
              </a:spcAft>
              <a:buNone/>
            </a:pPr>
            <a:r>
              <a:rPr lang="en-ZA" sz="900" b="0" i="0" dirty="0">
                <a:solidFill>
                  <a:srgbClr val="647182"/>
                </a:solidFill>
                <a:latin typeface="Aptos"/>
              </a:rPr>
              <a:t>10</a:t>
            </a:r>
          </a:p>
        </p:txBody>
      </p:sp>
      <p:sp>
        <p:nvSpPr>
          <p:cNvPr id="7" name="TextBox 7"/>
          <p:cNvSpPr txBox="1"/>
          <p:nvPr/>
        </p:nvSpPr>
        <p:spPr>
          <a:xfrm>
            <a:off x="731520" y="1550000"/>
            <a:ext cx="4937760" cy="300000"/>
          </a:xfrm>
          <a:prstGeom prst="rect">
            <a:avLst/>
          </a:prstGeom>
          <a:noFill/>
        </p:spPr>
        <p:txBody>
          <a:bodyPr wrap="square" lIns="27432" tIns="27432" rIns="27432" bIns="27432" anchor="t">
            <a:noAutofit/>
          </a:bodyPr>
          <a:lstStyle/>
          <a:p>
            <a:pPr algn="l">
              <a:spcAft>
                <a:spcPts val="0"/>
              </a:spcAft>
              <a:buNone/>
            </a:pPr>
            <a:r>
              <a:rPr lang="en-ZA" sz="1200" b="1" i="0" cap="all" dirty="0">
                <a:solidFill>
                  <a:srgbClr val="1D9E93"/>
                </a:solidFill>
                <a:latin typeface="Aptos"/>
              </a:rPr>
              <a:t>REPORTED ERROR SUMMARY</a:t>
            </a:r>
          </a:p>
        </p:txBody>
      </p:sp>
      <p:sp>
        <p:nvSpPr>
          <p:cNvPr id="8" name="Rectangle 8"/>
          <p:cNvSpPr/>
          <p:nvPr/>
        </p:nvSpPr>
        <p:spPr>
          <a:xfrm>
            <a:off x="731520" y="1950000"/>
            <a:ext cx="2400000" cy="1250000"/>
          </a:xfrm>
          <a:prstGeom prst="roundRect">
            <a:avLst>
              <a:gd name="adj" fmla="val 5760"/>
            </a:avLst>
          </a:prstGeom>
          <a:solidFill>
            <a:srgbClr val="14223B"/>
          </a:solidFill>
          <a:ln>
            <a:noFill/>
          </a:ln>
        </p:spPr>
        <p:txBody>
          <a:bodyPr rtlCol="0" anchor="ctr"/>
          <a:lstStyle/>
          <a:p>
            <a:pPr algn="ctr"/>
            <a:endParaRPr lang="en-ZA"/>
          </a:p>
        </p:txBody>
      </p:sp>
      <p:sp>
        <p:nvSpPr>
          <p:cNvPr id="9" name="TextBox 9"/>
          <p:cNvSpPr txBox="1"/>
          <p:nvPr/>
        </p:nvSpPr>
        <p:spPr>
          <a:xfrm>
            <a:off x="851520" y="2145000"/>
            <a:ext cx="2160000" cy="860000"/>
          </a:xfrm>
          <a:prstGeom prst="rect">
            <a:avLst/>
          </a:prstGeom>
          <a:noFill/>
        </p:spPr>
        <p:txBody>
          <a:bodyPr wrap="square" lIns="27432" tIns="27432" rIns="27432" bIns="27432" anchor="ctr">
            <a:noAutofit/>
          </a:bodyPr>
          <a:lstStyle/>
          <a:p>
            <a:pPr algn="ctr">
              <a:spcAft>
                <a:spcPts val="200"/>
              </a:spcAft>
              <a:buNone/>
            </a:pPr>
            <a:r>
              <a:rPr lang="en-ZA" sz="2600" b="1" i="0" dirty="0">
                <a:solidFill>
                  <a:srgbClr val="FFFFFF"/>
                </a:solidFill>
                <a:latin typeface="Aptos"/>
              </a:rPr>
              <a:t>≈ 1.04</a:t>
            </a:r>
          </a:p>
          <a:p>
            <a:pPr algn="ctr">
              <a:spcAft>
                <a:spcPts val="0"/>
              </a:spcAft>
              <a:buNone/>
            </a:pPr>
            <a:r>
              <a:rPr lang="en-ZA" sz="1100" b="1" i="0" cap="all" dirty="0">
                <a:solidFill>
                  <a:srgbClr val="BED2E4"/>
                </a:solidFill>
                <a:latin typeface="Aptos"/>
              </a:rPr>
              <a:t>Previously reported average error</a:t>
            </a:r>
          </a:p>
        </p:txBody>
      </p:sp>
      <p:sp>
        <p:nvSpPr>
          <p:cNvPr id="10" name="Rectangle 10"/>
          <p:cNvSpPr/>
          <p:nvPr/>
        </p:nvSpPr>
        <p:spPr>
          <a:xfrm>
            <a:off x="3331520" y="1950000"/>
            <a:ext cx="2400000" cy="1250000"/>
          </a:xfrm>
          <a:prstGeom prst="roundRect">
            <a:avLst>
              <a:gd name="adj" fmla="val 5760"/>
            </a:avLst>
          </a:prstGeom>
          <a:solidFill>
            <a:srgbClr val="1D9E93"/>
          </a:solidFill>
          <a:ln>
            <a:noFill/>
          </a:ln>
        </p:spPr>
        <p:txBody>
          <a:bodyPr rtlCol="0" anchor="ctr"/>
          <a:lstStyle/>
          <a:p>
            <a:pPr algn="ctr"/>
            <a:endParaRPr lang="en-ZA"/>
          </a:p>
        </p:txBody>
      </p:sp>
      <p:sp>
        <p:nvSpPr>
          <p:cNvPr id="11" name="TextBox 11"/>
          <p:cNvSpPr txBox="1"/>
          <p:nvPr/>
        </p:nvSpPr>
        <p:spPr>
          <a:xfrm>
            <a:off x="3451520" y="2145000"/>
            <a:ext cx="2160000" cy="860000"/>
          </a:xfrm>
          <a:prstGeom prst="rect">
            <a:avLst/>
          </a:prstGeom>
          <a:noFill/>
        </p:spPr>
        <p:txBody>
          <a:bodyPr wrap="square" lIns="27432" tIns="27432" rIns="27432" bIns="27432" anchor="ctr">
            <a:noAutofit/>
          </a:bodyPr>
          <a:lstStyle/>
          <a:p>
            <a:pPr algn="ctr">
              <a:spcAft>
                <a:spcPts val="200"/>
              </a:spcAft>
              <a:buNone/>
            </a:pPr>
            <a:r>
              <a:rPr lang="en-ZA" sz="2600" b="1" i="0" dirty="0">
                <a:solidFill>
                  <a:srgbClr val="FFFFFF"/>
                </a:solidFill>
                <a:latin typeface="Aptos"/>
              </a:rPr>
              <a:t>4.94</a:t>
            </a:r>
          </a:p>
          <a:p>
            <a:pPr algn="ctr">
              <a:spcAft>
                <a:spcPts val="0"/>
              </a:spcAft>
              <a:buNone/>
            </a:pPr>
            <a:r>
              <a:rPr lang="en-ZA" sz="1100" b="1" i="0" cap="all" dirty="0">
                <a:solidFill>
                  <a:srgbClr val="FFFFFF"/>
                </a:solidFill>
                <a:latin typeface="Aptos"/>
              </a:rPr>
              <a:t>Previously reported maximum error</a:t>
            </a:r>
          </a:p>
        </p:txBody>
      </p:sp>
      <p:sp>
        <p:nvSpPr>
          <p:cNvPr id="12" name="TextBox 12"/>
          <p:cNvSpPr txBox="1"/>
          <p:nvPr/>
        </p:nvSpPr>
        <p:spPr>
          <a:xfrm>
            <a:off x="731520" y="3500000"/>
            <a:ext cx="5000000" cy="1500000"/>
          </a:xfrm>
          <a:prstGeom prst="rect">
            <a:avLst/>
          </a:prstGeom>
          <a:noFill/>
        </p:spPr>
        <p:txBody>
          <a:bodyPr wrap="square" lIns="27432" tIns="27432" rIns="27432" bIns="27432" anchor="t">
            <a:noAutofit/>
          </a:bodyPr>
          <a:lstStyle/>
          <a:p>
            <a:pPr algn="l">
              <a:spcAft>
                <a:spcPts val="0"/>
              </a:spcAft>
              <a:buNone/>
            </a:pPr>
            <a:r>
              <a:rPr lang="en-ZA" sz="1600" b="0" i="0" dirty="0">
                <a:solidFill>
                  <a:srgbClr val="283343"/>
                </a:solidFill>
                <a:latin typeface="Aptos"/>
              </a:rPr>
              <a:t>1249 of 2,004 observations were reported below an error of 1 (≈62.4%). Verify this uses absolute error.</a:t>
            </a:r>
          </a:p>
        </p:txBody>
      </p:sp>
      <p:sp>
        <p:nvSpPr>
          <p:cNvPr id="13" name="TextBox 13"/>
          <p:cNvSpPr txBox="1"/>
          <p:nvPr/>
        </p:nvSpPr>
        <p:spPr>
          <a:xfrm>
            <a:off x="6217920" y="1550000"/>
            <a:ext cx="5029200" cy="300000"/>
          </a:xfrm>
          <a:prstGeom prst="rect">
            <a:avLst/>
          </a:prstGeom>
          <a:noFill/>
        </p:spPr>
        <p:txBody>
          <a:bodyPr wrap="square" lIns="27432" tIns="27432" rIns="27432" bIns="27432" anchor="t">
            <a:noAutofit/>
          </a:bodyPr>
          <a:lstStyle/>
          <a:p>
            <a:pPr algn="l">
              <a:spcAft>
                <a:spcPts val="0"/>
              </a:spcAft>
              <a:buNone/>
            </a:pPr>
            <a:r>
              <a:rPr lang="en-ZA" sz="1200" b="1" i="0" cap="all" dirty="0">
                <a:solidFill>
                  <a:srgbClr val="1D9E93"/>
                </a:solidFill>
                <a:latin typeface="Aptos"/>
              </a:rPr>
              <a:t>DIAGNOSTICS TO SHOW</a:t>
            </a:r>
          </a:p>
        </p:txBody>
      </p:sp>
      <p:sp>
        <p:nvSpPr>
          <p:cNvPr id="14" name="Rectangle 14"/>
          <p:cNvSpPr/>
          <p:nvPr/>
        </p:nvSpPr>
        <p:spPr>
          <a:xfrm>
            <a:off x="6302211" y="1950000"/>
            <a:ext cx="5173509" cy="2150000"/>
          </a:xfrm>
          <a:prstGeom prst="roundRect">
            <a:avLst>
              <a:gd name="adj" fmla="val 3348"/>
            </a:avLst>
          </a:prstGeom>
          <a:solidFill>
            <a:srgbClr val="F0F5FA"/>
          </a:solidFill>
          <a:ln>
            <a:noFill/>
          </a:ln>
        </p:spPr>
        <p:txBody>
          <a:bodyPr rtlCol="0" anchor="ctr"/>
          <a:lstStyle/>
          <a:p>
            <a:pPr algn="ctr"/>
            <a:endParaRPr lang="en-ZA"/>
          </a:p>
        </p:txBody>
      </p:sp>
      <p:sp>
        <p:nvSpPr>
          <p:cNvPr id="15" name="Rectangle 15"/>
          <p:cNvSpPr/>
          <p:nvPr/>
        </p:nvSpPr>
        <p:spPr>
          <a:xfrm>
            <a:off x="6217920" y="1960881"/>
            <a:ext cx="99579" cy="2128238"/>
          </a:xfrm>
          <a:prstGeom prst="roundRect">
            <a:avLst>
              <a:gd name="adj" fmla="val 12000"/>
            </a:avLst>
          </a:prstGeom>
          <a:solidFill>
            <a:srgbClr val="2C66A8"/>
          </a:solidFill>
          <a:ln>
            <a:noFill/>
          </a:ln>
        </p:spPr>
        <p:txBody>
          <a:bodyPr rtlCol="0" anchor="ctr"/>
          <a:lstStyle/>
          <a:p>
            <a:pPr algn="ctr"/>
            <a:endParaRPr lang="en-ZA"/>
          </a:p>
        </p:txBody>
      </p:sp>
      <p:sp>
        <p:nvSpPr>
          <p:cNvPr id="16" name="TextBox 16"/>
          <p:cNvSpPr txBox="1"/>
          <p:nvPr/>
        </p:nvSpPr>
        <p:spPr>
          <a:xfrm>
            <a:off x="6500000" y="2050000"/>
            <a:ext cx="4850000" cy="1950000"/>
          </a:xfrm>
          <a:prstGeom prst="rect">
            <a:avLst/>
          </a:prstGeom>
          <a:noFill/>
        </p:spPr>
        <p:txBody>
          <a:bodyPr wrap="square" lIns="27432" tIns="27432" rIns="27432" bIns="27432" anchor="ctr">
            <a:noAutofit/>
          </a:bodyPr>
          <a:lstStyle/>
          <a:p>
            <a:pPr marL="228600" indent="-228600" algn="l">
              <a:spcAft>
                <a:spcPts val="700"/>
              </a:spcAft>
              <a:buClr>
                <a:srgbClr val="1D9E93"/>
              </a:buClr>
              <a:buFont typeface="Arial"/>
              <a:buChar char="•"/>
            </a:pPr>
            <a:r>
              <a:rPr lang="en-ZA" sz="1400" b="0" i="0" dirty="0">
                <a:solidFill>
                  <a:srgbClr val="283343"/>
                </a:solidFill>
                <a:latin typeface="Aptos"/>
              </a:rPr>
              <a:t>Residuals vs fitted: look for random scatter around zero.</a:t>
            </a:r>
          </a:p>
          <a:p>
            <a:pPr marL="228600" indent="-228600" algn="l">
              <a:spcAft>
                <a:spcPts val="700"/>
              </a:spcAft>
              <a:buClr>
                <a:srgbClr val="1D9E93"/>
              </a:buClr>
              <a:buFont typeface="Arial"/>
              <a:buChar char="•"/>
            </a:pPr>
            <a:r>
              <a:rPr lang="en-ZA" sz="1400" b="0" i="0" dirty="0">
                <a:solidFill>
                  <a:srgbClr val="283343"/>
                </a:solidFill>
                <a:latin typeface="Aptos"/>
              </a:rPr>
              <a:t>Normal Q–Q plot: assess residual-tail departures.</a:t>
            </a:r>
          </a:p>
          <a:p>
            <a:pPr marL="228600" indent="-228600" algn="l">
              <a:spcAft>
                <a:spcPts val="700"/>
              </a:spcAft>
              <a:buClr>
                <a:srgbClr val="1D9E93"/>
              </a:buClr>
              <a:buFont typeface="Arial"/>
              <a:buChar char="•"/>
            </a:pPr>
            <a:r>
              <a:rPr lang="en-ZA" sz="1400" b="0" i="0" dirty="0">
                <a:solidFill>
                  <a:srgbClr val="283343"/>
                </a:solidFill>
                <a:latin typeface="Aptos"/>
              </a:rPr>
              <a:t>Shapiro–Wilk: W = 0. 94875, p ≈ 7.3782× 10-29, if applied to residuals.</a:t>
            </a:r>
          </a:p>
        </p:txBody>
      </p:sp>
      <p:sp>
        <p:nvSpPr>
          <p:cNvPr id="17" name="Rectangle 17"/>
          <p:cNvSpPr/>
          <p:nvPr/>
        </p:nvSpPr>
        <p:spPr>
          <a:xfrm>
            <a:off x="6302211" y="4350000"/>
            <a:ext cx="5173509" cy="950000"/>
          </a:xfrm>
          <a:prstGeom prst="roundRect">
            <a:avLst>
              <a:gd name="adj" fmla="val 7578"/>
            </a:avLst>
          </a:prstGeom>
          <a:solidFill>
            <a:srgbClr val="F0F5FA"/>
          </a:solidFill>
          <a:ln>
            <a:noFill/>
          </a:ln>
        </p:spPr>
        <p:txBody>
          <a:bodyPr rtlCol="0" anchor="ctr"/>
          <a:lstStyle/>
          <a:p>
            <a:pPr algn="ctr"/>
            <a:endParaRPr lang="en-ZA"/>
          </a:p>
        </p:txBody>
      </p:sp>
      <p:sp>
        <p:nvSpPr>
          <p:cNvPr id="18" name="Rectangle 18"/>
          <p:cNvSpPr/>
          <p:nvPr/>
        </p:nvSpPr>
        <p:spPr>
          <a:xfrm>
            <a:off x="6217920" y="4360881"/>
            <a:ext cx="99579" cy="928238"/>
          </a:xfrm>
          <a:prstGeom prst="roundRect">
            <a:avLst>
              <a:gd name="adj" fmla="val 12000"/>
            </a:avLst>
          </a:prstGeom>
          <a:solidFill>
            <a:srgbClr val="EFB44B"/>
          </a:solidFill>
          <a:ln>
            <a:noFill/>
          </a:ln>
        </p:spPr>
        <p:txBody>
          <a:bodyPr rtlCol="0" anchor="ctr"/>
          <a:lstStyle/>
          <a:p>
            <a:pPr algn="ctr"/>
            <a:endParaRPr lang="en-ZA"/>
          </a:p>
        </p:txBody>
      </p:sp>
      <p:sp>
        <p:nvSpPr>
          <p:cNvPr id="19" name="TextBox 19"/>
          <p:cNvSpPr txBox="1"/>
          <p:nvPr/>
        </p:nvSpPr>
        <p:spPr>
          <a:xfrm>
            <a:off x="6467920" y="4440000"/>
            <a:ext cx="4857800" cy="810000"/>
          </a:xfrm>
          <a:prstGeom prst="rect">
            <a:avLst/>
          </a:prstGeom>
          <a:noFill/>
        </p:spPr>
        <p:txBody>
          <a:bodyPr wrap="square" lIns="27432" tIns="27432" rIns="27432" bIns="27432" anchor="t">
            <a:noAutofit/>
          </a:bodyPr>
          <a:lstStyle/>
          <a:p>
            <a:pPr algn="l">
              <a:spcAft>
                <a:spcPts val="300"/>
              </a:spcAft>
              <a:buNone/>
            </a:pPr>
            <a:r>
              <a:rPr lang="en-ZA" sz="1200" b="1" i="0" cap="all" dirty="0">
                <a:solidFill>
                  <a:srgbClr val="14223B"/>
                </a:solidFill>
                <a:latin typeface="Aptos"/>
              </a:rPr>
              <a:t>Note</a:t>
            </a:r>
          </a:p>
          <a:p>
            <a:pPr algn="l">
              <a:spcAft>
                <a:spcPts val="0"/>
              </a:spcAft>
              <a:buNone/>
            </a:pPr>
            <a:r>
              <a:rPr lang="en-ZA" sz="1300" b="0" i="0" dirty="0">
                <a:solidFill>
                  <a:srgbClr val="283343"/>
                </a:solidFill>
                <a:latin typeface="Aptos"/>
              </a:rPr>
              <a:t>Large samples make normality tests sensitive; inspect plots and check unequal residual variance.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1695" cy="118872"/>
          </a:xfrm>
          <a:prstGeom prst="rect">
            <a:avLst/>
          </a:prstGeom>
          <a:solidFill>
            <a:srgbClr val="1D9E93"/>
          </a:solidFill>
          <a:ln>
            <a:noFill/>
          </a:ln>
        </p:spPr>
        <p:txBody>
          <a:bodyPr rtlCol="0" anchor="ctr"/>
          <a:lstStyle/>
          <a:p>
            <a:pPr algn="ctr"/>
            <a:endParaRPr lang="en-ZA"/>
          </a:p>
        </p:txBody>
      </p:sp>
      <p:sp>
        <p:nvSpPr>
          <p:cNvPr id="3" name="Title 3"/>
          <p:cNvSpPr txBox="1"/>
          <p:nvPr/>
        </p:nvSpPr>
        <p:spPr>
          <a:xfrm>
            <a:off x="621792" y="384048"/>
            <a:ext cx="10927080" cy="594360"/>
          </a:xfrm>
          <a:prstGeom prst="rect">
            <a:avLst/>
          </a:prstGeom>
          <a:noFill/>
        </p:spPr>
        <p:txBody>
          <a:bodyPr wrap="square" lIns="27432" tIns="27432" rIns="27432" bIns="27432" anchor="t">
            <a:noAutofit/>
          </a:bodyPr>
          <a:lstStyle/>
          <a:p>
            <a:pPr algn="l">
              <a:spcAft>
                <a:spcPts val="0"/>
              </a:spcAft>
              <a:buNone/>
            </a:pPr>
            <a:r>
              <a:rPr lang="en-ZA" sz="2400" b="1" i="0" dirty="0">
                <a:solidFill>
                  <a:srgbClr val="14223B"/>
                </a:solidFill>
                <a:latin typeface="Aptos"/>
              </a:rPr>
              <a:t>Prediction vs sample to see if linear for test data</a:t>
            </a:r>
          </a:p>
        </p:txBody>
      </p:sp>
      <p:sp>
        <p:nvSpPr>
          <p:cNvPr id="4" name="Footer 4"/>
          <p:cNvSpPr txBox="1"/>
          <p:nvPr/>
        </p:nvSpPr>
        <p:spPr>
          <a:xfrm>
            <a:off x="640080" y="6510528"/>
            <a:ext cx="8046720" cy="182880"/>
          </a:xfrm>
          <a:prstGeom prst="rect">
            <a:avLst/>
          </a:prstGeom>
          <a:noFill/>
        </p:spPr>
        <p:txBody>
          <a:bodyPr wrap="square" lIns="27432" tIns="27432" rIns="27432" bIns="27432" anchor="t">
            <a:noAutofit/>
          </a:bodyPr>
          <a:lstStyle/>
          <a:p>
            <a:pPr algn="l">
              <a:spcAft>
                <a:spcPts val="0"/>
              </a:spcAft>
              <a:buNone/>
            </a:pPr>
            <a:r>
              <a:rPr lang="en-ZA" sz="900" b="1" i="0" dirty="0">
                <a:solidFill>
                  <a:srgbClr val="647182"/>
                </a:solidFill>
                <a:latin typeface="Aptos"/>
              </a:rPr>
              <a:t>05  |  DIAGNOSTICS</a:t>
            </a:r>
          </a:p>
        </p:txBody>
      </p:sp>
      <p:sp>
        <p:nvSpPr>
          <p:cNvPr id="5" name="Page 5"/>
          <p:cNvSpPr txBox="1"/>
          <p:nvPr/>
        </p:nvSpPr>
        <p:spPr>
          <a:xfrm>
            <a:off x="11109960" y="6473952"/>
            <a:ext cx="438912" cy="219456"/>
          </a:xfrm>
          <a:prstGeom prst="rect">
            <a:avLst/>
          </a:prstGeom>
          <a:noFill/>
        </p:spPr>
        <p:txBody>
          <a:bodyPr wrap="square" lIns="27432" tIns="27432" rIns="27432" bIns="27432" anchor="t">
            <a:noAutofit/>
          </a:bodyPr>
          <a:lstStyle/>
          <a:p>
            <a:pPr algn="r">
              <a:spcAft>
                <a:spcPts val="0"/>
              </a:spcAft>
              <a:buNone/>
            </a:pPr>
            <a:r>
              <a:rPr lang="en-ZA" sz="900" b="0" i="0" dirty="0">
                <a:solidFill>
                  <a:srgbClr val="647182"/>
                </a:solidFill>
                <a:latin typeface="Aptos"/>
              </a:rPr>
              <a:t>11</a:t>
            </a:r>
          </a:p>
        </p:txBody>
      </p:sp>
      <p:pic>
        <p:nvPicPr>
          <p:cNvPr id="6" name="Picture 2"/>
          <p:cNvPicPr>
            <a:picLocks noChangeAspect="1"/>
          </p:cNvPicPr>
          <p:nvPr/>
        </p:nvPicPr>
        <p:blipFill>
          <a:blip r:embed="rId2"/>
          <a:stretch>
            <a:fillRect/>
          </a:stretch>
        </p:blipFill>
        <p:spPr>
          <a:xfrm>
            <a:off x="2350237" y="1150000"/>
            <a:ext cx="7506766" cy="520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1695" cy="118872"/>
          </a:xfrm>
          <a:prstGeom prst="rect">
            <a:avLst/>
          </a:prstGeom>
          <a:solidFill>
            <a:srgbClr val="1D9E93"/>
          </a:solidFill>
          <a:ln>
            <a:noFill/>
          </a:ln>
        </p:spPr>
        <p:txBody>
          <a:bodyPr rtlCol="0" anchor="ctr"/>
          <a:lstStyle/>
          <a:p>
            <a:pPr algn="ctr"/>
            <a:endParaRPr lang="en-ZA"/>
          </a:p>
        </p:txBody>
      </p:sp>
      <p:sp>
        <p:nvSpPr>
          <p:cNvPr id="3" name="Title 3"/>
          <p:cNvSpPr txBox="1"/>
          <p:nvPr/>
        </p:nvSpPr>
        <p:spPr>
          <a:xfrm>
            <a:off x="621792" y="384048"/>
            <a:ext cx="10927080" cy="594360"/>
          </a:xfrm>
          <a:prstGeom prst="rect">
            <a:avLst/>
          </a:prstGeom>
          <a:noFill/>
        </p:spPr>
        <p:txBody>
          <a:bodyPr wrap="square" lIns="27432" tIns="27432" rIns="27432" bIns="27432" anchor="t">
            <a:noAutofit/>
          </a:bodyPr>
          <a:lstStyle/>
          <a:p>
            <a:pPr algn="l">
              <a:spcAft>
                <a:spcPts val="0"/>
              </a:spcAft>
              <a:buNone/>
            </a:pPr>
            <a:r>
              <a:rPr lang="en-ZA" sz="2400" b="1" i="0" dirty="0">
                <a:solidFill>
                  <a:srgbClr val="14223B"/>
                </a:solidFill>
                <a:latin typeface="Aptos"/>
              </a:rPr>
              <a:t>Prediction vs sample to see if linear for test data</a:t>
            </a:r>
          </a:p>
        </p:txBody>
      </p:sp>
      <p:sp>
        <p:nvSpPr>
          <p:cNvPr id="4" name="Footer 4"/>
          <p:cNvSpPr txBox="1"/>
          <p:nvPr/>
        </p:nvSpPr>
        <p:spPr>
          <a:xfrm>
            <a:off x="640080" y="6510528"/>
            <a:ext cx="8046720" cy="182880"/>
          </a:xfrm>
          <a:prstGeom prst="rect">
            <a:avLst/>
          </a:prstGeom>
          <a:noFill/>
        </p:spPr>
        <p:txBody>
          <a:bodyPr wrap="square" lIns="27432" tIns="27432" rIns="27432" bIns="27432" anchor="t">
            <a:noAutofit/>
          </a:bodyPr>
          <a:lstStyle/>
          <a:p>
            <a:pPr algn="l">
              <a:spcAft>
                <a:spcPts val="0"/>
              </a:spcAft>
              <a:buNone/>
            </a:pPr>
            <a:r>
              <a:rPr lang="en-ZA" sz="900" b="1" i="0" dirty="0">
                <a:solidFill>
                  <a:srgbClr val="647182"/>
                </a:solidFill>
                <a:latin typeface="Aptos"/>
              </a:rPr>
              <a:t>05  |  DIAGNOSTICS</a:t>
            </a:r>
          </a:p>
        </p:txBody>
      </p:sp>
      <p:sp>
        <p:nvSpPr>
          <p:cNvPr id="5" name="Page 5"/>
          <p:cNvSpPr txBox="1"/>
          <p:nvPr/>
        </p:nvSpPr>
        <p:spPr>
          <a:xfrm>
            <a:off x="11109960" y="6473952"/>
            <a:ext cx="438912" cy="219456"/>
          </a:xfrm>
          <a:prstGeom prst="rect">
            <a:avLst/>
          </a:prstGeom>
          <a:noFill/>
        </p:spPr>
        <p:txBody>
          <a:bodyPr wrap="square" lIns="27432" tIns="27432" rIns="27432" bIns="27432" anchor="t">
            <a:noAutofit/>
          </a:bodyPr>
          <a:lstStyle/>
          <a:p>
            <a:pPr algn="r">
              <a:spcAft>
                <a:spcPts val="0"/>
              </a:spcAft>
              <a:buNone/>
            </a:pPr>
            <a:r>
              <a:rPr lang="en-ZA" sz="900" b="0" i="0" dirty="0">
                <a:solidFill>
                  <a:srgbClr val="647182"/>
                </a:solidFill>
                <a:latin typeface="Aptos"/>
              </a:rPr>
              <a:t>12</a:t>
            </a:r>
          </a:p>
        </p:txBody>
      </p:sp>
      <p:sp>
        <p:nvSpPr>
          <p:cNvPr id="6" name="TextBox 6"/>
          <p:cNvSpPr txBox="1"/>
          <p:nvPr/>
        </p:nvSpPr>
        <p:spPr>
          <a:xfrm>
            <a:off x="731520" y="1200000"/>
            <a:ext cx="5222100" cy="380000"/>
          </a:xfrm>
          <a:prstGeom prst="rect">
            <a:avLst/>
          </a:prstGeom>
          <a:noFill/>
        </p:spPr>
        <p:txBody>
          <a:bodyPr wrap="square" lIns="27432" tIns="27432" rIns="27432" bIns="27432" anchor="t">
            <a:noAutofit/>
          </a:bodyPr>
          <a:lstStyle/>
          <a:p>
            <a:pPr algn="ctr">
              <a:spcAft>
                <a:spcPts val="0"/>
              </a:spcAft>
              <a:buNone/>
            </a:pPr>
            <a:r>
              <a:rPr lang="en-ZA" sz="1800" b="1" i="0" dirty="0">
                <a:solidFill>
                  <a:srgbClr val="14223B"/>
                </a:solidFill>
                <a:latin typeface="Aptos"/>
              </a:rPr>
              <a:t>Train data</a:t>
            </a:r>
          </a:p>
        </p:txBody>
      </p:sp>
      <p:pic>
        <p:nvPicPr>
          <p:cNvPr id="7" name="Picture 12"/>
          <p:cNvPicPr>
            <a:picLocks noChangeAspect="1"/>
          </p:cNvPicPr>
          <p:nvPr/>
        </p:nvPicPr>
        <p:blipFill>
          <a:blip r:embed="rId2"/>
          <a:stretch>
            <a:fillRect/>
          </a:stretch>
        </p:blipFill>
        <p:spPr>
          <a:xfrm>
            <a:off x="731520" y="2097578"/>
            <a:ext cx="5222100" cy="3754843"/>
          </a:xfrm>
          <a:prstGeom prst="rect">
            <a:avLst/>
          </a:prstGeom>
        </p:spPr>
      </p:pic>
      <p:sp>
        <p:nvSpPr>
          <p:cNvPr id="8" name="TextBox 8"/>
          <p:cNvSpPr txBox="1"/>
          <p:nvPr/>
        </p:nvSpPr>
        <p:spPr>
          <a:xfrm>
            <a:off x="6253620" y="1200000"/>
            <a:ext cx="5222100" cy="380000"/>
          </a:xfrm>
          <a:prstGeom prst="rect">
            <a:avLst/>
          </a:prstGeom>
          <a:noFill/>
        </p:spPr>
        <p:txBody>
          <a:bodyPr wrap="square" lIns="27432" tIns="27432" rIns="27432" bIns="27432" anchor="t">
            <a:noAutofit/>
          </a:bodyPr>
          <a:lstStyle/>
          <a:p>
            <a:pPr algn="ctr">
              <a:spcAft>
                <a:spcPts val="0"/>
              </a:spcAft>
              <a:buNone/>
            </a:pPr>
            <a:r>
              <a:rPr lang="en-ZA" sz="1800" b="1" i="0" dirty="0">
                <a:solidFill>
                  <a:srgbClr val="14223B"/>
                </a:solidFill>
                <a:latin typeface="Aptos"/>
              </a:rPr>
              <a:t>Test data</a:t>
            </a:r>
          </a:p>
        </p:txBody>
      </p:sp>
      <p:pic>
        <p:nvPicPr>
          <p:cNvPr id="9" name="Picture 19"/>
          <p:cNvPicPr>
            <a:picLocks noChangeAspect="1"/>
          </p:cNvPicPr>
          <p:nvPr/>
        </p:nvPicPr>
        <p:blipFill>
          <a:blip r:embed="rId3"/>
          <a:stretch>
            <a:fillRect/>
          </a:stretch>
        </p:blipFill>
        <p:spPr>
          <a:xfrm>
            <a:off x="6253620" y="2097578"/>
            <a:ext cx="5222100" cy="375484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1695" cy="118872"/>
          </a:xfrm>
          <a:prstGeom prst="rect">
            <a:avLst/>
          </a:prstGeom>
          <a:solidFill>
            <a:srgbClr val="1D9E93"/>
          </a:solidFill>
          <a:ln>
            <a:noFill/>
          </a:ln>
        </p:spPr>
        <p:txBody>
          <a:bodyPr rtlCol="0" anchor="ctr"/>
          <a:lstStyle/>
          <a:p>
            <a:pPr algn="ctr"/>
            <a:endParaRPr lang="en-ZA"/>
          </a:p>
        </p:txBody>
      </p:sp>
      <p:sp>
        <p:nvSpPr>
          <p:cNvPr id="3" name="Title 3"/>
          <p:cNvSpPr txBox="1"/>
          <p:nvPr/>
        </p:nvSpPr>
        <p:spPr>
          <a:xfrm>
            <a:off x="621792" y="384048"/>
            <a:ext cx="10927080" cy="594360"/>
          </a:xfrm>
          <a:prstGeom prst="rect">
            <a:avLst/>
          </a:prstGeom>
          <a:noFill/>
        </p:spPr>
        <p:txBody>
          <a:bodyPr wrap="square" lIns="27432" tIns="27432" rIns="27432" bIns="27432" anchor="t">
            <a:noAutofit/>
          </a:bodyPr>
          <a:lstStyle/>
          <a:p>
            <a:pPr algn="l">
              <a:spcAft>
                <a:spcPts val="0"/>
              </a:spcAft>
              <a:buNone/>
            </a:pPr>
            <a:r>
              <a:rPr lang="en-ZA" sz="2900" b="1" i="0" dirty="0">
                <a:solidFill>
                  <a:srgbClr val="14223B"/>
                </a:solidFill>
                <a:latin typeface="Aptos"/>
              </a:rPr>
              <a:t>Credit-risk implications</a:t>
            </a:r>
          </a:p>
        </p:txBody>
      </p:sp>
      <p:sp>
        <p:nvSpPr>
          <p:cNvPr id="4" name="Subtitle 4"/>
          <p:cNvSpPr txBox="1"/>
          <p:nvPr/>
        </p:nvSpPr>
        <p:spPr>
          <a:xfrm>
            <a:off x="731520" y="952255"/>
            <a:ext cx="10698480" cy="502920"/>
          </a:xfrm>
          <a:prstGeom prst="rect">
            <a:avLst/>
          </a:prstGeom>
          <a:noFill/>
        </p:spPr>
        <p:txBody>
          <a:bodyPr wrap="square" lIns="27432" tIns="27432" rIns="27432" bIns="27432" anchor="t">
            <a:noAutofit/>
          </a:bodyPr>
          <a:lstStyle/>
          <a:p>
            <a:pPr algn="l">
              <a:spcAft>
                <a:spcPts val="0"/>
              </a:spcAft>
              <a:buNone/>
            </a:pPr>
            <a:r>
              <a:rPr lang="en-ZA" sz="2000" b="0" i="0" dirty="0">
                <a:solidFill>
                  <a:srgbClr val="283343"/>
                </a:solidFill>
                <a:latin typeface="Aptos"/>
              </a:rPr>
              <a:t>A useful modelling result still needs validation and governance</a:t>
            </a:r>
          </a:p>
        </p:txBody>
      </p:sp>
      <p:sp>
        <p:nvSpPr>
          <p:cNvPr id="5" name="Footer 5"/>
          <p:cNvSpPr txBox="1"/>
          <p:nvPr/>
        </p:nvSpPr>
        <p:spPr>
          <a:xfrm>
            <a:off x="640080" y="6510528"/>
            <a:ext cx="8046720" cy="182880"/>
          </a:xfrm>
          <a:prstGeom prst="rect">
            <a:avLst/>
          </a:prstGeom>
          <a:noFill/>
        </p:spPr>
        <p:txBody>
          <a:bodyPr wrap="square" lIns="27432" tIns="27432" rIns="27432" bIns="27432" anchor="t">
            <a:noAutofit/>
          </a:bodyPr>
          <a:lstStyle/>
          <a:p>
            <a:pPr algn="l">
              <a:spcAft>
                <a:spcPts val="0"/>
              </a:spcAft>
              <a:buNone/>
            </a:pPr>
            <a:r>
              <a:rPr lang="en-ZA" sz="900" b="1" i="0" dirty="0">
                <a:solidFill>
                  <a:srgbClr val="647182"/>
                </a:solidFill>
                <a:latin typeface="Aptos"/>
              </a:rPr>
              <a:t>06  |  IMPLICATIONS</a:t>
            </a:r>
          </a:p>
        </p:txBody>
      </p:sp>
      <p:sp>
        <p:nvSpPr>
          <p:cNvPr id="6" name="Page 6"/>
          <p:cNvSpPr txBox="1"/>
          <p:nvPr/>
        </p:nvSpPr>
        <p:spPr>
          <a:xfrm>
            <a:off x="11109960" y="6473952"/>
            <a:ext cx="438912" cy="219456"/>
          </a:xfrm>
          <a:prstGeom prst="rect">
            <a:avLst/>
          </a:prstGeom>
          <a:noFill/>
        </p:spPr>
        <p:txBody>
          <a:bodyPr wrap="square" lIns="27432" tIns="27432" rIns="27432" bIns="27432" anchor="t">
            <a:noAutofit/>
          </a:bodyPr>
          <a:lstStyle/>
          <a:p>
            <a:pPr algn="r">
              <a:spcAft>
                <a:spcPts val="0"/>
              </a:spcAft>
              <a:buNone/>
            </a:pPr>
            <a:r>
              <a:rPr lang="en-ZA" sz="900" b="0" i="0" dirty="0">
                <a:solidFill>
                  <a:srgbClr val="647182"/>
                </a:solidFill>
                <a:latin typeface="Aptos"/>
              </a:rPr>
              <a:t>13</a:t>
            </a:r>
          </a:p>
        </p:txBody>
      </p:sp>
      <p:sp>
        <p:nvSpPr>
          <p:cNvPr id="7" name="Rectangle 7"/>
          <p:cNvSpPr/>
          <p:nvPr/>
        </p:nvSpPr>
        <p:spPr>
          <a:xfrm>
            <a:off x="815811" y="1650000"/>
            <a:ext cx="10659909" cy="2000000"/>
          </a:xfrm>
          <a:prstGeom prst="roundRect">
            <a:avLst>
              <a:gd name="adj" fmla="val 3599"/>
            </a:avLst>
          </a:prstGeom>
          <a:solidFill>
            <a:srgbClr val="F0F5FA"/>
          </a:solidFill>
          <a:ln>
            <a:noFill/>
          </a:ln>
        </p:spPr>
        <p:txBody>
          <a:bodyPr rtlCol="0" anchor="ctr"/>
          <a:lstStyle/>
          <a:p>
            <a:pPr algn="ctr"/>
            <a:endParaRPr lang="en-ZA"/>
          </a:p>
        </p:txBody>
      </p:sp>
      <p:sp>
        <p:nvSpPr>
          <p:cNvPr id="8" name="Rectangle 8"/>
          <p:cNvSpPr/>
          <p:nvPr/>
        </p:nvSpPr>
        <p:spPr>
          <a:xfrm>
            <a:off x="731520" y="1660881"/>
            <a:ext cx="99579" cy="1978238"/>
          </a:xfrm>
          <a:prstGeom prst="roundRect">
            <a:avLst>
              <a:gd name="adj" fmla="val 12000"/>
            </a:avLst>
          </a:prstGeom>
          <a:solidFill>
            <a:srgbClr val="1D9E93"/>
          </a:solidFill>
          <a:ln>
            <a:noFill/>
          </a:ln>
        </p:spPr>
        <p:txBody>
          <a:bodyPr rtlCol="0" anchor="ctr"/>
          <a:lstStyle/>
          <a:p>
            <a:pPr algn="ctr"/>
            <a:endParaRPr lang="en-ZA"/>
          </a:p>
        </p:txBody>
      </p:sp>
      <p:sp>
        <p:nvSpPr>
          <p:cNvPr id="9" name="TextBox 9"/>
          <p:cNvSpPr txBox="1"/>
          <p:nvPr/>
        </p:nvSpPr>
        <p:spPr>
          <a:xfrm>
            <a:off x="981520" y="1740000"/>
            <a:ext cx="10344200" cy="1860000"/>
          </a:xfrm>
          <a:prstGeom prst="rect">
            <a:avLst/>
          </a:prstGeom>
          <a:noFill/>
        </p:spPr>
        <p:txBody>
          <a:bodyPr wrap="square" lIns="27432" tIns="27432" rIns="27432" bIns="27432" anchor="t">
            <a:noAutofit/>
          </a:bodyPr>
          <a:lstStyle/>
          <a:p>
            <a:pPr algn="l">
              <a:spcAft>
                <a:spcPts val="300"/>
              </a:spcAft>
              <a:buNone/>
            </a:pPr>
            <a:r>
              <a:rPr lang="en-ZA" sz="1200" b="1" i="0" cap="all" dirty="0">
                <a:solidFill>
                  <a:srgbClr val="14223B"/>
                </a:solidFill>
                <a:latin typeface="Aptos"/>
              </a:rPr>
              <a:t>WHAT WE CAN SAY</a:t>
            </a:r>
          </a:p>
          <a:p>
            <a:pPr marL="228600" indent="-228600" algn="l">
              <a:spcAft>
                <a:spcPts val="900"/>
              </a:spcAft>
              <a:buClr>
                <a:srgbClr val="1D9E93"/>
              </a:buClr>
              <a:buFont typeface="Arial"/>
              <a:buChar char="•"/>
            </a:pPr>
            <a:r>
              <a:rPr lang="en-ZA" sz="1800" b="0" i="0" dirty="0">
                <a:solidFill>
                  <a:srgbClr val="283343"/>
                </a:solidFill>
                <a:latin typeface="Aptos"/>
              </a:rPr>
              <a:t>The model has high in-sample explanatory power.</a:t>
            </a:r>
          </a:p>
          <a:p>
            <a:pPr marL="228600" indent="-228600" algn="l">
              <a:spcAft>
                <a:spcPts val="900"/>
              </a:spcAft>
              <a:buClr>
                <a:srgbClr val="1D9E93"/>
              </a:buClr>
              <a:buFont typeface="Arial"/>
              <a:buChar char="•"/>
            </a:pPr>
            <a:r>
              <a:rPr lang="en-ZA" sz="1800" b="0" i="0" dirty="0">
                <a:solidFill>
                  <a:srgbClr val="283343"/>
                </a:solidFill>
                <a:latin typeface="Aptos"/>
              </a:rPr>
              <a:t>Several numerical and categorical predictors are statistically significant.</a:t>
            </a:r>
          </a:p>
          <a:p>
            <a:pPr marL="228600" indent="-228600" algn="l">
              <a:spcAft>
                <a:spcPts val="900"/>
              </a:spcAft>
              <a:buClr>
                <a:srgbClr val="1D9E93"/>
              </a:buClr>
              <a:buFont typeface="Arial"/>
              <a:buChar char="•"/>
            </a:pPr>
            <a:r>
              <a:rPr lang="en-ZA" sz="1800" b="0" i="0" dirty="0">
                <a:solidFill>
                  <a:srgbClr val="283343"/>
                </a:solidFill>
                <a:latin typeface="Aptos"/>
              </a:rPr>
              <a:t>Results can help explore pricing patterns and relationships in the dataset.</a:t>
            </a:r>
          </a:p>
        </p:txBody>
      </p:sp>
      <p:sp>
        <p:nvSpPr>
          <p:cNvPr id="10" name="Rectangle 10"/>
          <p:cNvSpPr/>
          <p:nvPr/>
        </p:nvSpPr>
        <p:spPr>
          <a:xfrm>
            <a:off x="731520" y="4050000"/>
            <a:ext cx="10744200" cy="1050000"/>
          </a:xfrm>
          <a:prstGeom prst="roundRect">
            <a:avLst>
              <a:gd name="adj" fmla="val 6857"/>
            </a:avLst>
          </a:prstGeom>
          <a:solidFill>
            <a:srgbClr val="14223B"/>
          </a:solidFill>
          <a:ln>
            <a:noFill/>
          </a:ln>
        </p:spPr>
        <p:txBody>
          <a:bodyPr rtlCol="0" anchor="ctr"/>
          <a:lstStyle/>
          <a:p>
            <a:pPr algn="ctr"/>
            <a:endParaRPr lang="en-ZA"/>
          </a:p>
        </p:txBody>
      </p:sp>
      <p:sp>
        <p:nvSpPr>
          <p:cNvPr id="11" name="TextBox 11"/>
          <p:cNvSpPr txBox="1"/>
          <p:nvPr/>
        </p:nvSpPr>
        <p:spPr>
          <a:xfrm>
            <a:off x="1000000" y="4050000"/>
            <a:ext cx="10200000" cy="1050000"/>
          </a:xfrm>
          <a:prstGeom prst="rect">
            <a:avLst/>
          </a:prstGeom>
          <a:noFill/>
        </p:spPr>
        <p:txBody>
          <a:bodyPr wrap="square" lIns="27432" tIns="27432" rIns="27432" bIns="27432" anchor="ctr">
            <a:noAutofit/>
          </a:bodyPr>
          <a:lstStyle/>
          <a:p>
            <a:pPr algn="l">
              <a:spcAft>
                <a:spcPts val="0"/>
              </a:spcAft>
              <a:buNone/>
            </a:pPr>
            <a:r>
              <a:rPr lang="en-ZA" sz="1800" b="1" i="0" dirty="0">
                <a:solidFill>
                  <a:srgbClr val="FFFFFF"/>
                </a:solidFill>
                <a:latin typeface="Aptos"/>
              </a:rPr>
              <a:t>Bottom line: promising fit; validate generalisation and risk controls before operational 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2997</TotalTime>
  <Words>1289</Words>
  <Application>Microsoft Office PowerPoint</Application>
  <PresentationFormat>Widescreen</PresentationFormat>
  <Paragraphs>151</Paragraphs>
  <Slides>13</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Malan</dc:creator>
  <cp:keywords/>
  <dc:description>generated using python-pptx</dc:description>
  <cp:lastModifiedBy>Jaun Minnaar</cp:lastModifiedBy>
  <cp:revision>3</cp:revision>
  <dcterms:created xsi:type="dcterms:W3CDTF">2013-01-27T09:14:16Z</dcterms:created>
  <dcterms:modified xsi:type="dcterms:W3CDTF">2026-10-16T06:18:46Z</dcterms:modified>
  <cp:category/>
</cp:coreProperties>
</file>
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3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-Bosch Malan" userId="67d63ac36b593411" providerId="LiveId" clId="{70063C88-AE20-4B97-A504-785602946100}"/>
    <pc:docChg chg="modSld">
      <pc:chgData name="Louis-Bosch Malan" userId="67d63ac36b593411" providerId="LiveId" clId="{70063C88-AE20-4B97-A504-785602946100}" dt="2026-10-15T14:54:36.874" v="5" actId="403"/>
      <pc:docMkLst>
        <pc:docMk/>
      </pc:docMkLst>
      <pc:sldChg chg="modSp mod">
        <pc:chgData name="Louis-Bosch Malan" userId="67d63ac36b593411" providerId="LiveId" clId="{70063C88-AE20-4B97-A504-785602946100}" dt="2026-10-15T14:54:36.874" v="5" actId="403"/>
        <pc:sldMkLst>
          <pc:docMk/>
          <pc:sldMk cId="0" sldId="258"/>
        </pc:sldMkLst>
        <pc:spChg chg="mod">
          <ac:chgData name="Louis-Bosch Malan" userId="67d63ac36b593411" providerId="LiveId" clId="{70063C88-AE20-4B97-A504-785602946100}" dt="2026-10-15T14:54:26.479" v="3" actId="1076"/>
          <ac:spMkLst>
            <pc:docMk/>
            <pc:sldMk cId="0" sldId="258"/>
            <ac:spMk id="81" creationId="{06CAC56A-3008-7677-978D-7085AED7ED27}"/>
          </ac:spMkLst>
        </pc:spChg>
        <pc:spChg chg="mod">
          <ac:chgData name="Louis-Bosch Malan" userId="67d63ac36b593411" providerId="LiveId" clId="{70063C88-AE20-4B97-A504-785602946100}" dt="2026-10-15T14:54:36.874" v="5" actId="403"/>
          <ac:spMkLst>
            <pc:docMk/>
            <pc:sldMk cId="0" sldId="258"/>
            <ac:spMk id="82" creationId="{64846218-B224-1253-96AD-4B989F5CFE2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90FB4-0E98-42F7-87F6-5B12282DF8F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7A93F-5E50-44BC-86B5-D698C54E7B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038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13700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5E40-F25D-BCDC-99E1-ECA853112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B78FF-4C03-7620-C655-2EC628501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D6277-8D09-1277-29DE-8161809B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EC5CE-3588-EE6A-9778-45A85440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57CF-A858-CE06-0884-DD6F7664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0695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EB46-EE16-B25C-64FB-65A76954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F307B-4CAE-9270-04AD-FF13E1A94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5F652-601E-76A8-CF69-63AE13193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3B40C-94A5-61DE-79FD-B211839FB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3FDA1-8276-5CA3-7128-75E5BB5C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0696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85C65-C48C-8670-D867-B417DA87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94873-9B6F-D5FE-17EA-0D773605F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20AB-4A14-961C-23A5-8F64CDC9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38421-F716-DA3F-BA8F-344B2BE5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62463-D871-484F-A5DF-79EC3EE7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4340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5935-B554-AFBA-85BE-B1F05CC42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6DCF6-F3C0-BE87-2E30-5F585CDF9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E8522-A452-7E0E-B706-77C54A2A3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1C99B-1727-CFEC-DD90-4F593B31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2FF14-8FEA-3A9C-2D9E-0B13967C6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9E3CE-D85E-0F35-BD30-F906A0AE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4117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70F4-FA7C-D9F1-8E60-53151E410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2A560-DA73-985E-BEE0-6E33CF6DF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AE2F7-8A20-5266-6EDB-9A80DAFB7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3C563-3808-8242-6849-DBD7EB8A3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AEB28-FA04-5ED2-935C-E673B2ABA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EB7D6-A071-87D3-9A16-D1649583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37998-53C2-34E3-40F9-4D6BAF86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6E712-CF0B-A992-4F72-93319CB8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83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4864-BDDB-02F2-2153-FA86FFA1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349A4-B7C5-7F60-9D6A-2B17D0E0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322A3-5111-6CDA-CA21-9F689EB8D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D70C6-C876-2912-2566-9F73CEC9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7468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F62016-E97E-B80B-DE48-2BFB340CE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87419-3DAF-24DC-8865-932324566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568CE-416F-B4D4-A7B4-B4962C62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432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5507-DDA6-EEB7-F749-AF65FC427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4F5A9-FC4E-0DF9-24FB-CBBFD3B43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0D2FA-5341-74FD-1000-5B06B51D1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F9350-186A-C9E1-46A7-FCBFED334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2C0D4-B40A-0186-A442-8C1554A6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19D7B-8F40-F055-E23F-221B5685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074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87AD-371C-B6AA-D8F4-173E4176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83EDE-56ED-81AA-7052-BB6B1279965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8DEF7-AF09-1F82-877A-92044032D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AE7-6104-98E0-2383-416F0DE7E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16173-40C5-4001-97AC-889C815F3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C3AAF-D387-8E76-514D-78BE7488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114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CCC7-9689-AF78-3BAB-2D530F4C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79DB3-7FEA-CC22-EA95-D2106528A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B5256-1FDF-2004-2C02-2A012638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18F2D-5D34-F17C-3AF3-6575C3BF9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CCB96-711F-D36D-C3CC-1D80C39F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950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F0B63-6433-848E-EF83-FD662BFFC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85FB3-2E67-9BC7-0688-81CB08E15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08564-84F2-3A66-D223-F6545B81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C5AA3-DBAF-75E3-4E90-A896530E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91644-9126-CA70-9779-B1317DED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1776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1A417F-F1A2-7661-FD70-120563C02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72FD0-F824-9F9D-3974-F4AAFCBC5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64679-13D8-B84B-F767-4589A918F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9E1FE-D61F-4B8D-AB2F-16077E868D00}" type="datetimeFigureOut">
              <a:rPr lang="en-ZA" smtClean="0"/>
              <a:t>2026/10/13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DA6DE-8322-6967-9301-1E1F3EC50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D68A0-F93A-BCE8-2578-6F3AF8E7E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362EF-B390-43AF-BB0D-0AB10D2553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282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C3AA60-5C2D-4952-E33F-0BA308FCF32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5134" y="1129514"/>
                <a:ext cx="10972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 = </a:t>
                </a:r>
                <a14:m>
                  <m:oMath xmlns:m="http://schemas.openxmlformats.org/officeDocument/2006/math"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22.6789−3.347</m:t>
                    </m:r>
                    <m:r>
                      <a:rPr lang="en-GB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−1.4672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+9.5922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−0.4335</m:t>
                    </m:r>
                    <m:sSub>
                      <m:sSubPr>
                        <m:ctrlP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+1.1305</m:t>
                    </m:r>
                    <m:sSub>
                      <m:sSubPr>
                        <m:ctrlP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−2.9393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+0.9234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−2.0303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+0.2310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−0.0507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+0.031</m:t>
                    </m:r>
                    <m:r>
                      <a:rPr lang="en-GB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endParaRPr lang="en-ZA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C3AA60-5C2D-4952-E33F-0BA308FCF3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34" y="1129514"/>
                <a:ext cx="10972800" cy="923330"/>
              </a:xfrm>
              <a:prstGeom prst="rect">
                <a:avLst/>
              </a:prstGeom>
              <a:blipFill>
                <a:blip r:embed="rId3"/>
                <a:stretch>
                  <a:fillRect l="-500" t="-263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8A9EB9A-CD6E-A840-2DB6-F8FA473D2937}"/>
              </a:ext>
            </a:extLst>
          </p:cNvPr>
          <p:cNvSpPr txBox="1"/>
          <p:nvPr/>
        </p:nvSpPr>
        <p:spPr>
          <a:xfrm>
            <a:off x="395134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4"/>
                </a:solidFill>
                <a:latin typeface="Aptos"/>
              </a:defRPr>
            </a:pPr>
            <a:r>
              <a:rPr lang="en-GB" dirty="0"/>
              <a:t>6</a:t>
            </a:r>
            <a:r>
              <a:rPr dirty="0"/>
              <a:t>. </a:t>
            </a:r>
            <a:r>
              <a:rPr lang="en-GB" dirty="0"/>
              <a:t>How the model will look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E3E5BF2-17AD-4EFA-81FF-69BDC369AD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464088"/>
                  </p:ext>
                </p:extLst>
              </p:nvPr>
            </p:nvGraphicFramePr>
            <p:xfrm>
              <a:off x="395134" y="1813925"/>
              <a:ext cx="5328920" cy="43891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644213">
                      <a:extLst>
                        <a:ext uri="{9D8B030D-6E8A-4147-A177-3AD203B41FA5}">
                          <a16:colId xmlns:a16="http://schemas.microsoft.com/office/drawing/2014/main" val="69099362"/>
                        </a:ext>
                      </a:extLst>
                    </a:gridCol>
                    <a:gridCol w="2684707">
                      <a:extLst>
                        <a:ext uri="{9D8B030D-6E8A-4147-A177-3AD203B41FA5}">
                          <a16:colId xmlns:a16="http://schemas.microsoft.com/office/drawing/2014/main" val="261132932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Variable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98546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Salaried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470106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Self-employed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64111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Unemployed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5747968"/>
                      </a:ext>
                    </a:extLst>
                  </a:tr>
                  <a:tr h="1710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i="1" dirty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 dirty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b="0" i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Own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18511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i="1" dirty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 dirty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b="0" i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Rent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83660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GB" b="0" i="0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Home improvement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80781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GB" b="0" i="0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Other purpose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961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GB" b="0" i="0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Vehicle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08225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GB" b="0" i="0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DTI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6275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GB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/>
                            <a:t>HistLen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275685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Z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829204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E3E5BF2-17AD-4EFA-81FF-69BDC369AD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464088"/>
                  </p:ext>
                </p:extLst>
              </p:nvPr>
            </p:nvGraphicFramePr>
            <p:xfrm>
              <a:off x="395134" y="1813925"/>
              <a:ext cx="5328920" cy="43891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644213">
                      <a:extLst>
                        <a:ext uri="{9D8B030D-6E8A-4147-A177-3AD203B41FA5}">
                          <a16:colId xmlns:a16="http://schemas.microsoft.com/office/drawing/2014/main" val="69099362"/>
                        </a:ext>
                      </a:extLst>
                    </a:gridCol>
                    <a:gridCol w="2684707">
                      <a:extLst>
                        <a:ext uri="{9D8B030D-6E8A-4147-A177-3AD203B41FA5}">
                          <a16:colId xmlns:a16="http://schemas.microsoft.com/office/drawing/2014/main" val="261132932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Variable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985464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106667" r="-102304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Salaried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470106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206667" r="-102304" b="-9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Self-employed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6411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306667" r="-102304" b="-8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Unemployed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57479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406667" r="-102304" b="-7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Own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1851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498361" r="-102304" b="-6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Rent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83660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608333" r="-102304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Home improvement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80781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708333" r="-102304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Other purpose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96134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808333" r="-102304" b="-3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Vehicle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08225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908333" r="-102304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DTI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62752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1008333" r="-102304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/>
                            <a:t>HistLen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275685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0" t="-1108333" r="-102304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ZA" dirty="0"/>
                            <a:t>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8292044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67253FC-2B32-E4B2-89E7-DEEC7BCFCA0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 r="11555" b="-1"/>
          <a:stretch>
            <a:fillRect/>
          </a:stretch>
        </p:blipFill>
        <p:spPr>
          <a:xfrm>
            <a:off x="5724054" y="1813924"/>
            <a:ext cx="6072812" cy="43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398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85CCF60-79A2-440A-86A2-1A64A59F7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F2162BA-EECD-43E0-99D9-C00B194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160DB805-F71F-46BB-A8CC-74F6D8306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F91054C-3439-420E-88EB-F0A5637EC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73740" y="2759383"/>
            <a:ext cx="2895573" cy="2834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2700" b="1">
                <a:solidFill>
                  <a:srgbClr val="182744"/>
                </a:solidFill>
                <a:latin typeface="Aptos"/>
              </a:defRPr>
            </a:pPr>
            <a:r>
              <a:rPr lang="en-US" sz="4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Overall model fit of 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740" y="536028"/>
            <a:ext cx="2895573" cy="17531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rPr lang="en-US" sz="20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673" y="5198676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72F3A"/>
                </a:solidFill>
                <a:latin typeface="Aptos"/>
              </a:defRPr>
            </a:pPr>
            <a:endParaRPr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7C55CC4-9C72-A29B-8FA2-98D26A188375}"/>
              </a:ext>
            </a:extLst>
          </p:cNvPr>
          <p:cNvGrpSpPr/>
          <p:nvPr/>
        </p:nvGrpSpPr>
        <p:grpSpPr>
          <a:xfrm>
            <a:off x="4866711" y="1030336"/>
            <a:ext cx="6421596" cy="2199405"/>
            <a:chOff x="4931902" y="3673425"/>
            <a:chExt cx="6421596" cy="2199405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9675C09-2429-0E62-5116-F0BE0444C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8768" y="3673425"/>
              <a:ext cx="3054730" cy="2199405"/>
            </a:xfrm>
            <a:prstGeom prst="rect">
              <a:avLst/>
            </a:prstGeom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F9A252C-8C12-E390-F76D-7C9A25615892}"/>
                </a:ext>
              </a:extLst>
            </p:cNvPr>
            <p:cNvGrpSpPr/>
            <p:nvPr/>
          </p:nvGrpSpPr>
          <p:grpSpPr>
            <a:xfrm>
              <a:off x="4931902" y="3673425"/>
              <a:ext cx="3054732" cy="2015735"/>
              <a:chOff x="-34755" y="1178267"/>
              <a:chExt cx="4182480" cy="3449115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4EBD23B-DD77-3317-9368-44585C6BB563}"/>
                  </a:ext>
                </a:extLst>
              </p:cNvPr>
              <p:cNvGrpSpPr/>
              <p:nvPr/>
            </p:nvGrpSpPr>
            <p:grpSpPr>
              <a:xfrm>
                <a:off x="1369006" y="1178267"/>
                <a:ext cx="1303312" cy="1508760"/>
                <a:chOff x="3429000" y="1691640"/>
                <a:chExt cx="2423160" cy="1508760"/>
              </a:xfrm>
            </p:grpSpPr>
            <p:sp>
              <p:nvSpPr>
                <p:cNvPr id="34" name="Rounded Rectangle 9">
                  <a:extLst>
                    <a:ext uri="{FF2B5EF4-FFF2-40B4-BE49-F238E27FC236}">
                      <a16:creationId xmlns:a16="http://schemas.microsoft.com/office/drawing/2014/main" id="{EFB2ED7D-1899-2EDE-9859-4633BDF52B37}"/>
                    </a:ext>
                  </a:extLst>
                </p:cNvPr>
                <p:cNvSpPr/>
                <p:nvPr/>
              </p:nvSpPr>
              <p:spPr>
                <a:xfrm>
                  <a:off x="3429000" y="1691640"/>
                  <a:ext cx="2423160" cy="150876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CECBCA5-B50A-63A0-45F8-392BD25E8B14}"/>
                    </a:ext>
                  </a:extLst>
                </p:cNvPr>
                <p:cNvSpPr txBox="1"/>
                <p:nvPr/>
              </p:nvSpPr>
              <p:spPr>
                <a:xfrm>
                  <a:off x="3593590" y="1856232"/>
                  <a:ext cx="2258568" cy="6769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2700" b="1">
                      <a:solidFill>
                        <a:srgbClr val="2C5E91"/>
                      </a:solidFill>
                      <a:latin typeface="Aptos"/>
                    </a:defRPr>
                  </a:pPr>
                  <a:r>
                    <a:rPr sz="1971" b="1" kern="1200" dirty="0">
                      <a:solidFill>
                        <a:srgbClr val="2C5E91"/>
                      </a:solidFill>
                      <a:latin typeface="Aptos"/>
                      <a:ea typeface="+mn-ea"/>
                      <a:cs typeface="+mn-cs"/>
                    </a:rPr>
                    <a:t>91.8%</a:t>
                  </a:r>
                  <a:endParaRPr dirty="0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EE827D4-5489-3B06-1E7B-3A071DE7BCFC}"/>
                    </a:ext>
                  </a:extLst>
                </p:cNvPr>
                <p:cNvSpPr txBox="1"/>
                <p:nvPr/>
              </p:nvSpPr>
              <p:spPr>
                <a:xfrm>
                  <a:off x="3566160" y="2441448"/>
                  <a:ext cx="2148840" cy="685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876" kern="120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Adjusted R-squared</a:t>
                  </a:r>
                  <a:endParaRPr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CBDFD83-8EA9-BAC4-ED57-37FE01A78C08}"/>
                  </a:ext>
                </a:extLst>
              </p:cNvPr>
              <p:cNvGrpSpPr/>
              <p:nvPr/>
            </p:nvGrpSpPr>
            <p:grpSpPr>
              <a:xfrm>
                <a:off x="-34755" y="1197863"/>
                <a:ext cx="1329394" cy="1508760"/>
                <a:chOff x="777240" y="1691640"/>
                <a:chExt cx="2471652" cy="1508760"/>
              </a:xfrm>
            </p:grpSpPr>
            <p:sp>
              <p:nvSpPr>
                <p:cNvPr id="31" name="Rounded Rectangle 6">
                  <a:extLst>
                    <a:ext uri="{FF2B5EF4-FFF2-40B4-BE49-F238E27FC236}">
                      <a16:creationId xmlns:a16="http://schemas.microsoft.com/office/drawing/2014/main" id="{79DFF428-3600-1A1A-9F78-C044B89FD6C4}"/>
                    </a:ext>
                  </a:extLst>
                </p:cNvPr>
                <p:cNvSpPr/>
                <p:nvPr/>
              </p:nvSpPr>
              <p:spPr>
                <a:xfrm>
                  <a:off x="777240" y="1691640"/>
                  <a:ext cx="2423160" cy="150876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D64EAF8-5B99-06D5-0191-1FA1314DC77E}"/>
                    </a:ext>
                  </a:extLst>
                </p:cNvPr>
                <p:cNvSpPr txBox="1"/>
                <p:nvPr/>
              </p:nvSpPr>
              <p:spPr>
                <a:xfrm>
                  <a:off x="941830" y="1856232"/>
                  <a:ext cx="2307062" cy="6769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2700" b="1">
                      <a:solidFill>
                        <a:srgbClr val="25827D"/>
                      </a:solidFill>
                      <a:latin typeface="Aptos"/>
                    </a:defRPr>
                  </a:pPr>
                  <a:r>
                    <a:rPr sz="1971" b="1" kern="1200" dirty="0">
                      <a:solidFill>
                        <a:srgbClr val="25827D"/>
                      </a:solidFill>
                      <a:latin typeface="Aptos"/>
                      <a:ea typeface="+mn-ea"/>
                      <a:cs typeface="+mn-cs"/>
                    </a:rPr>
                    <a:t>91.8%</a:t>
                  </a:r>
                  <a:endParaRPr dirty="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83D1813-23B7-EA06-5D4A-0721E3CBFE17}"/>
                    </a:ext>
                  </a:extLst>
                </p:cNvPr>
                <p:cNvSpPr txBox="1"/>
                <p:nvPr/>
              </p:nvSpPr>
              <p:spPr>
                <a:xfrm>
                  <a:off x="941832" y="2441447"/>
                  <a:ext cx="2148840" cy="6857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876" kern="120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R-squared</a:t>
                  </a:r>
                  <a:endParaRPr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B3746E4-8421-34AD-20B1-5FED27088F94}"/>
                  </a:ext>
                </a:extLst>
              </p:cNvPr>
              <p:cNvGrpSpPr/>
              <p:nvPr/>
            </p:nvGrpSpPr>
            <p:grpSpPr>
              <a:xfrm>
                <a:off x="2823243" y="1197863"/>
                <a:ext cx="1303312" cy="1508760"/>
                <a:chOff x="6080760" y="1691640"/>
                <a:chExt cx="2423160" cy="1508760"/>
              </a:xfrm>
            </p:grpSpPr>
            <p:sp>
              <p:nvSpPr>
                <p:cNvPr id="28" name="Rounded Rectangle 12">
                  <a:extLst>
                    <a:ext uri="{FF2B5EF4-FFF2-40B4-BE49-F238E27FC236}">
                      <a16:creationId xmlns:a16="http://schemas.microsoft.com/office/drawing/2014/main" id="{8641AE4E-59C2-3307-3BE3-1A87402560C2}"/>
                    </a:ext>
                  </a:extLst>
                </p:cNvPr>
                <p:cNvSpPr/>
                <p:nvPr/>
              </p:nvSpPr>
              <p:spPr>
                <a:xfrm>
                  <a:off x="6080760" y="1691640"/>
                  <a:ext cx="2423160" cy="150876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C0A53A8-5E01-3503-CAEA-DBFC5AED9FB0}"/>
                    </a:ext>
                  </a:extLst>
                </p:cNvPr>
                <p:cNvSpPr txBox="1"/>
                <p:nvPr/>
              </p:nvSpPr>
              <p:spPr>
                <a:xfrm>
                  <a:off x="6245352" y="1856232"/>
                  <a:ext cx="2093976" cy="5029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2700" b="1">
                      <a:solidFill>
                        <a:srgbClr val="DAA039"/>
                      </a:solidFill>
                      <a:latin typeface="Aptos"/>
                    </a:defRPr>
                  </a:pPr>
                  <a:r>
                    <a:rPr sz="1971" b="1" kern="1200" dirty="0">
                      <a:solidFill>
                        <a:srgbClr val="DAA039"/>
                      </a:solidFill>
                      <a:latin typeface="Aptos"/>
                      <a:ea typeface="+mn-ea"/>
                      <a:cs typeface="+mn-cs"/>
                    </a:rPr>
                    <a:t>8,004</a:t>
                  </a:r>
                  <a:endParaRPr dirty="0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530724B-9BEA-A7EA-4136-9387F3BE9587}"/>
                    </a:ext>
                  </a:extLst>
                </p:cNvPr>
                <p:cNvSpPr txBox="1"/>
                <p:nvPr/>
              </p:nvSpPr>
              <p:spPr>
                <a:xfrm>
                  <a:off x="6217920" y="2441448"/>
                  <a:ext cx="2148840" cy="685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876" kern="120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Observations</a:t>
                  </a:r>
                  <a:endParaRPr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9410C11-B530-5DBA-245A-6F42C5A0390C}"/>
                  </a:ext>
                </a:extLst>
              </p:cNvPr>
              <p:cNvGrpSpPr/>
              <p:nvPr/>
            </p:nvGrpSpPr>
            <p:grpSpPr>
              <a:xfrm>
                <a:off x="2844413" y="2933325"/>
                <a:ext cx="1303312" cy="1508760"/>
                <a:chOff x="8732520" y="1691640"/>
                <a:chExt cx="2423160" cy="1508760"/>
              </a:xfrm>
            </p:grpSpPr>
            <p:sp>
              <p:nvSpPr>
                <p:cNvPr id="25" name="Rounded Rectangle 15">
                  <a:extLst>
                    <a:ext uri="{FF2B5EF4-FFF2-40B4-BE49-F238E27FC236}">
                      <a16:creationId xmlns:a16="http://schemas.microsoft.com/office/drawing/2014/main" id="{572F337D-AAD9-87AD-E5F4-25065831D45D}"/>
                    </a:ext>
                  </a:extLst>
                </p:cNvPr>
                <p:cNvSpPr/>
                <p:nvPr/>
              </p:nvSpPr>
              <p:spPr>
                <a:xfrm>
                  <a:off x="8732520" y="1691640"/>
                  <a:ext cx="2423160" cy="150876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95516CC-E10A-C31C-A437-93DF36886C88}"/>
                    </a:ext>
                  </a:extLst>
                </p:cNvPr>
                <p:cNvSpPr txBox="1"/>
                <p:nvPr/>
              </p:nvSpPr>
              <p:spPr>
                <a:xfrm>
                  <a:off x="8897112" y="1856232"/>
                  <a:ext cx="2093976" cy="5029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2700" b="1">
                      <a:solidFill>
                        <a:srgbClr val="25827D"/>
                      </a:solidFill>
                      <a:latin typeface="Aptos"/>
                    </a:defRPr>
                  </a:pPr>
                  <a:r>
                    <a:rPr sz="1971" b="1" kern="1200">
                      <a:solidFill>
                        <a:srgbClr val="25827D"/>
                      </a:solidFill>
                      <a:latin typeface="Aptos"/>
                      <a:ea typeface="+mn-ea"/>
                      <a:cs typeface="+mn-cs"/>
                    </a:rPr>
                    <a:t>8,183</a:t>
                  </a:r>
                  <a:endParaRPr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05EC016-C6D8-30A1-5D39-3134343FAC22}"/>
                    </a:ext>
                  </a:extLst>
                </p:cNvPr>
                <p:cNvSpPr txBox="1"/>
                <p:nvPr/>
              </p:nvSpPr>
              <p:spPr>
                <a:xfrm>
                  <a:off x="8869680" y="2441448"/>
                  <a:ext cx="2148840" cy="685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876" kern="120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F-statistic</a:t>
                  </a:r>
                  <a:endParaRPr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80BDE3F1-6BB0-CC2A-797F-6FA33458FC53}"/>
                  </a:ext>
                </a:extLst>
              </p:cNvPr>
              <p:cNvGrpSpPr/>
              <p:nvPr/>
            </p:nvGrpSpPr>
            <p:grpSpPr>
              <a:xfrm>
                <a:off x="0" y="2877152"/>
                <a:ext cx="1227940" cy="1750230"/>
                <a:chOff x="777240" y="2057400"/>
                <a:chExt cx="2194560" cy="1530212"/>
              </a:xfrm>
            </p:grpSpPr>
            <p:sp>
              <p:nvSpPr>
                <p:cNvPr id="61" name="Rounded Rectangle 7">
                  <a:extLst>
                    <a:ext uri="{FF2B5EF4-FFF2-40B4-BE49-F238E27FC236}">
                      <a16:creationId xmlns:a16="http://schemas.microsoft.com/office/drawing/2014/main" id="{471861CE-8C2F-2C5E-F1D2-11B60B378CD2}"/>
                    </a:ext>
                  </a:extLst>
                </p:cNvPr>
                <p:cNvSpPr/>
                <p:nvPr/>
              </p:nvSpPr>
              <p:spPr>
                <a:xfrm>
                  <a:off x="777240" y="2057400"/>
                  <a:ext cx="2194560" cy="141732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2682548-723D-D35F-6428-D06BD7026D39}"/>
                    </a:ext>
                  </a:extLst>
                </p:cNvPr>
                <p:cNvSpPr txBox="1"/>
                <p:nvPr/>
              </p:nvSpPr>
              <p:spPr>
                <a:xfrm>
                  <a:off x="941831" y="2221993"/>
                  <a:ext cx="1951002" cy="4742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2700" b="1">
                      <a:solidFill>
                        <a:srgbClr val="2C5E91"/>
                      </a:solidFill>
                      <a:latin typeface="Aptos"/>
                    </a:defRPr>
                  </a:pPr>
                  <a:r>
                    <a:rPr sz="1460" b="1" kern="1200" dirty="0">
                      <a:solidFill>
                        <a:srgbClr val="2C5E91"/>
                      </a:solidFill>
                      <a:latin typeface="Aptos"/>
                      <a:ea typeface="+mn-ea"/>
                      <a:cs typeface="+mn-cs"/>
                    </a:rPr>
                    <a:t>≈ 1.043</a:t>
                  </a:r>
                  <a:endParaRPr sz="2000" dirty="0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BBC442A-7B6D-104E-6443-81F4370A4D00}"/>
                    </a:ext>
                  </a:extLst>
                </p:cNvPr>
                <p:cNvSpPr txBox="1"/>
                <p:nvPr/>
              </p:nvSpPr>
              <p:spPr>
                <a:xfrm>
                  <a:off x="965934" y="2642957"/>
                  <a:ext cx="1767025" cy="9446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876" kern="1200" dirty="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Previously reported average error</a:t>
                  </a:r>
                  <a:endParaRPr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90596CA-FD4A-37EE-049C-444DA95120D6}"/>
                  </a:ext>
                </a:extLst>
              </p:cNvPr>
              <p:cNvGrpSpPr/>
              <p:nvPr/>
            </p:nvGrpSpPr>
            <p:grpSpPr>
              <a:xfrm>
                <a:off x="1355850" y="2877152"/>
                <a:ext cx="1316467" cy="1621106"/>
                <a:chOff x="3200400" y="2057400"/>
                <a:chExt cx="2194560" cy="1417320"/>
              </a:xfrm>
            </p:grpSpPr>
            <p:sp>
              <p:nvSpPr>
                <p:cNvPr id="58" name="Rounded Rectangle 10">
                  <a:extLst>
                    <a:ext uri="{FF2B5EF4-FFF2-40B4-BE49-F238E27FC236}">
                      <a16:creationId xmlns:a16="http://schemas.microsoft.com/office/drawing/2014/main" id="{6631B543-54A6-9D57-9046-19DCD22FFFA8}"/>
                    </a:ext>
                  </a:extLst>
                </p:cNvPr>
                <p:cNvSpPr/>
                <p:nvPr/>
              </p:nvSpPr>
              <p:spPr>
                <a:xfrm>
                  <a:off x="3200400" y="2057400"/>
                  <a:ext cx="2194560" cy="141732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A62066A-532F-B9D2-2BF1-9AD09C1919EC}"/>
                    </a:ext>
                  </a:extLst>
                </p:cNvPr>
                <p:cNvSpPr txBox="1"/>
                <p:nvPr/>
              </p:nvSpPr>
              <p:spPr>
                <a:xfrm>
                  <a:off x="3382010" y="2164144"/>
                  <a:ext cx="1865376" cy="5029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2700" b="1">
                      <a:solidFill>
                        <a:srgbClr val="DAA039"/>
                      </a:solidFill>
                      <a:latin typeface="Aptos"/>
                    </a:defRPr>
                  </a:pPr>
                  <a:r>
                    <a:rPr sz="1971" b="1" kern="1200">
                      <a:solidFill>
                        <a:srgbClr val="DAA039"/>
                      </a:solidFill>
                      <a:latin typeface="Aptos"/>
                      <a:ea typeface="+mn-ea"/>
                      <a:cs typeface="+mn-cs"/>
                    </a:rPr>
                    <a:t>7.12</a:t>
                  </a:r>
                  <a:endParaRPr/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F01E0E1-D92A-0CB1-00F6-4AF24BAB9815}"/>
                    </a:ext>
                  </a:extLst>
                </p:cNvPr>
                <p:cNvSpPr txBox="1"/>
                <p:nvPr/>
              </p:nvSpPr>
              <p:spPr>
                <a:xfrm>
                  <a:off x="3310127" y="2643711"/>
                  <a:ext cx="1920241" cy="5943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67512">
                    <a:spcAft>
                      <a:spcPts val="36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876" kern="120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Previously reported maximum error</a:t>
                  </a:r>
                  <a:endParaRPr/>
                </a:p>
              </p:txBody>
            </p:sp>
          </p:grp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71A080A-4869-5D0B-4DB3-D442465E8376}"/>
              </a:ext>
            </a:extLst>
          </p:cNvPr>
          <p:cNvGrpSpPr/>
          <p:nvPr/>
        </p:nvGrpSpPr>
        <p:grpSpPr>
          <a:xfrm>
            <a:off x="4705917" y="4230108"/>
            <a:ext cx="6431051" cy="2291077"/>
            <a:chOff x="4912236" y="1063822"/>
            <a:chExt cx="6431051" cy="2291077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40F1C3F-0964-EC9F-DC64-98F517656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98768" y="1162846"/>
              <a:ext cx="3044519" cy="2192053"/>
            </a:xfrm>
            <a:prstGeom prst="rect">
              <a:avLst/>
            </a:prstGeom>
          </p:spPr>
        </p:pic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C91004D-559E-D36D-0B45-E7E24144E25B}"/>
                </a:ext>
              </a:extLst>
            </p:cNvPr>
            <p:cNvGrpSpPr/>
            <p:nvPr/>
          </p:nvGrpSpPr>
          <p:grpSpPr>
            <a:xfrm>
              <a:off x="4912236" y="1063822"/>
              <a:ext cx="3074398" cy="2291077"/>
              <a:chOff x="5576042" y="1002018"/>
              <a:chExt cx="4231549" cy="3581089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2CACCCA9-9E5C-2522-21E5-7048E66EDA0A}"/>
                  </a:ext>
                </a:extLst>
              </p:cNvPr>
              <p:cNvGrpSpPr/>
              <p:nvPr/>
            </p:nvGrpSpPr>
            <p:grpSpPr>
              <a:xfrm>
                <a:off x="5576042" y="1002018"/>
                <a:ext cx="1415791" cy="1508760"/>
                <a:chOff x="680513" y="1691640"/>
                <a:chExt cx="2616611" cy="1508760"/>
              </a:xfrm>
            </p:grpSpPr>
            <p:sp>
              <p:nvSpPr>
                <p:cNvPr id="51" name="Rounded Rectangle 6">
                  <a:extLst>
                    <a:ext uri="{FF2B5EF4-FFF2-40B4-BE49-F238E27FC236}">
                      <a16:creationId xmlns:a16="http://schemas.microsoft.com/office/drawing/2014/main" id="{70CAB055-9AC3-83FC-D865-98E054B093AC}"/>
                    </a:ext>
                  </a:extLst>
                </p:cNvPr>
                <p:cNvSpPr/>
                <p:nvPr/>
              </p:nvSpPr>
              <p:spPr>
                <a:xfrm>
                  <a:off x="777240" y="1691640"/>
                  <a:ext cx="2423160" cy="150876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645D436-3486-9E0B-E200-326B79A3CDE7}"/>
                    </a:ext>
                  </a:extLst>
                </p:cNvPr>
                <p:cNvSpPr txBox="1"/>
                <p:nvPr/>
              </p:nvSpPr>
              <p:spPr>
                <a:xfrm>
                  <a:off x="680513" y="1819585"/>
                  <a:ext cx="2616611" cy="6253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722376">
                    <a:spcAft>
                      <a:spcPts val="395"/>
                    </a:spcAft>
                    <a:defRPr sz="2700" b="1">
                      <a:solidFill>
                        <a:srgbClr val="25827D"/>
                      </a:solidFill>
                      <a:latin typeface="Aptos"/>
                    </a:defRPr>
                  </a:pPr>
                  <a:r>
                    <a:rPr sz="2000" b="1" kern="1200" dirty="0">
                      <a:solidFill>
                        <a:srgbClr val="25827D"/>
                      </a:solidFill>
                      <a:latin typeface="Aptos"/>
                      <a:ea typeface="+mn-ea"/>
                      <a:cs typeface="+mn-cs"/>
                    </a:rPr>
                    <a:t>91.</a:t>
                  </a:r>
                  <a:r>
                    <a:rPr lang="en-GB" sz="2000" b="1" kern="1200" dirty="0">
                      <a:solidFill>
                        <a:srgbClr val="25827D"/>
                      </a:solidFill>
                      <a:latin typeface="Aptos"/>
                      <a:ea typeface="+mn-ea"/>
                      <a:cs typeface="+mn-cs"/>
                    </a:rPr>
                    <a:t>7</a:t>
                  </a:r>
                  <a:r>
                    <a:rPr sz="2000" b="1" kern="1200" dirty="0">
                      <a:solidFill>
                        <a:srgbClr val="25827D"/>
                      </a:solidFill>
                      <a:latin typeface="Aptos"/>
                      <a:ea typeface="+mn-ea"/>
                      <a:cs typeface="+mn-cs"/>
                    </a:rPr>
                    <a:t>%</a:t>
                  </a:r>
                  <a:endParaRPr sz="2000" dirty="0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05CF893-07B8-37CF-3BEB-5BC2023D033E}"/>
                    </a:ext>
                  </a:extLst>
                </p:cNvPr>
                <p:cNvSpPr txBox="1"/>
                <p:nvPr/>
              </p:nvSpPr>
              <p:spPr>
                <a:xfrm>
                  <a:off x="914400" y="2441448"/>
                  <a:ext cx="2148840" cy="685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722376">
                    <a:spcAft>
                      <a:spcPts val="39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948" kern="1200" dirty="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R-squared</a:t>
                  </a:r>
                  <a:endParaRPr dirty="0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0EA0795-D89A-1CB3-1805-DE28A0D2FA43}"/>
                  </a:ext>
                </a:extLst>
              </p:cNvPr>
              <p:cNvGrpSpPr/>
              <p:nvPr/>
            </p:nvGrpSpPr>
            <p:grpSpPr>
              <a:xfrm>
                <a:off x="7025960" y="1002018"/>
                <a:ext cx="1311119" cy="1508760"/>
                <a:chOff x="3429000" y="1691640"/>
                <a:chExt cx="2423160" cy="1508760"/>
              </a:xfrm>
            </p:grpSpPr>
            <p:sp>
              <p:nvSpPr>
                <p:cNvPr id="48" name="Rounded Rectangle 9">
                  <a:extLst>
                    <a:ext uri="{FF2B5EF4-FFF2-40B4-BE49-F238E27FC236}">
                      <a16:creationId xmlns:a16="http://schemas.microsoft.com/office/drawing/2014/main" id="{FF37B81D-6816-F6F3-7D88-44980BD8CB9C}"/>
                    </a:ext>
                  </a:extLst>
                </p:cNvPr>
                <p:cNvSpPr/>
                <p:nvPr/>
              </p:nvSpPr>
              <p:spPr>
                <a:xfrm>
                  <a:off x="3429000" y="1691640"/>
                  <a:ext cx="2423160" cy="150876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C7621A3-7180-A71D-BE48-FE4CDBA7599D}"/>
                    </a:ext>
                  </a:extLst>
                </p:cNvPr>
                <p:cNvSpPr txBox="1"/>
                <p:nvPr/>
              </p:nvSpPr>
              <p:spPr>
                <a:xfrm>
                  <a:off x="3462657" y="1856232"/>
                  <a:ext cx="2366113" cy="6573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722376">
                    <a:spcAft>
                      <a:spcPts val="395"/>
                    </a:spcAft>
                    <a:defRPr sz="2700" b="1">
                      <a:solidFill>
                        <a:srgbClr val="2C5E91"/>
                      </a:solidFill>
                      <a:latin typeface="Aptos"/>
                    </a:defRPr>
                  </a:pPr>
                  <a:r>
                    <a:rPr sz="2133" b="1" kern="1200" dirty="0">
                      <a:solidFill>
                        <a:srgbClr val="2C5E91"/>
                      </a:solidFill>
                      <a:latin typeface="Aptos"/>
                      <a:ea typeface="+mn-ea"/>
                      <a:cs typeface="+mn-cs"/>
                    </a:rPr>
                    <a:t>91.</a:t>
                  </a:r>
                  <a:r>
                    <a:rPr lang="en-GB" sz="2133" b="1" kern="1200" dirty="0">
                      <a:solidFill>
                        <a:srgbClr val="2C5E91"/>
                      </a:solidFill>
                      <a:latin typeface="Aptos"/>
                      <a:ea typeface="+mn-ea"/>
                      <a:cs typeface="+mn-cs"/>
                    </a:rPr>
                    <a:t>7</a:t>
                  </a:r>
                  <a:r>
                    <a:rPr sz="2133" b="1" kern="1200" dirty="0">
                      <a:solidFill>
                        <a:srgbClr val="2C5E91"/>
                      </a:solidFill>
                      <a:latin typeface="Aptos"/>
                      <a:ea typeface="+mn-ea"/>
                      <a:cs typeface="+mn-cs"/>
                    </a:rPr>
                    <a:t>%</a:t>
                  </a:r>
                  <a:endParaRPr dirty="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203A2E9-65CA-7A1C-1ED7-EB9384258248}"/>
                    </a:ext>
                  </a:extLst>
                </p:cNvPr>
                <p:cNvSpPr txBox="1"/>
                <p:nvPr/>
              </p:nvSpPr>
              <p:spPr>
                <a:xfrm>
                  <a:off x="3566160" y="2441448"/>
                  <a:ext cx="2148840" cy="685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722376">
                    <a:spcAft>
                      <a:spcPts val="39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948" kern="120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Adjusted R-squared</a:t>
                  </a:r>
                  <a:endParaRPr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238126B3-3550-5C05-FCC4-CAF155918815}"/>
                  </a:ext>
                </a:extLst>
              </p:cNvPr>
              <p:cNvGrpSpPr/>
              <p:nvPr/>
            </p:nvGrpSpPr>
            <p:grpSpPr>
              <a:xfrm>
                <a:off x="8460770" y="1002018"/>
                <a:ext cx="1311119" cy="1508760"/>
                <a:chOff x="6080760" y="1691640"/>
                <a:chExt cx="2423160" cy="1508760"/>
              </a:xfrm>
            </p:grpSpPr>
            <p:sp>
              <p:nvSpPr>
                <p:cNvPr id="45" name="Rounded Rectangle 12">
                  <a:extLst>
                    <a:ext uri="{FF2B5EF4-FFF2-40B4-BE49-F238E27FC236}">
                      <a16:creationId xmlns:a16="http://schemas.microsoft.com/office/drawing/2014/main" id="{2CB80B01-0AD0-2ED4-0781-A3F14D4FA1A4}"/>
                    </a:ext>
                  </a:extLst>
                </p:cNvPr>
                <p:cNvSpPr/>
                <p:nvPr/>
              </p:nvSpPr>
              <p:spPr>
                <a:xfrm>
                  <a:off x="6080760" y="1691640"/>
                  <a:ext cx="2423160" cy="150876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CE9E57D-6CB3-4222-07C3-C7F8FC6025C7}"/>
                    </a:ext>
                  </a:extLst>
                </p:cNvPr>
                <p:cNvSpPr txBox="1"/>
                <p:nvPr/>
              </p:nvSpPr>
              <p:spPr>
                <a:xfrm>
                  <a:off x="6190488" y="1856232"/>
                  <a:ext cx="2148839" cy="6573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722376">
                    <a:spcAft>
                      <a:spcPts val="395"/>
                    </a:spcAft>
                    <a:defRPr sz="2700" b="1">
                      <a:solidFill>
                        <a:srgbClr val="DAA039"/>
                      </a:solidFill>
                      <a:latin typeface="Aptos"/>
                    </a:defRPr>
                  </a:pPr>
                  <a:r>
                    <a:rPr lang="en-GB" sz="2133" b="1" kern="1200" dirty="0">
                      <a:solidFill>
                        <a:srgbClr val="DAA039"/>
                      </a:solidFill>
                      <a:latin typeface="Aptos"/>
                      <a:ea typeface="+mn-ea"/>
                      <a:cs typeface="+mn-cs"/>
                    </a:rPr>
                    <a:t>2</a:t>
                  </a:r>
                  <a:r>
                    <a:rPr sz="2133" b="1" kern="1200" dirty="0">
                      <a:solidFill>
                        <a:srgbClr val="DAA039"/>
                      </a:solidFill>
                      <a:latin typeface="Aptos"/>
                      <a:ea typeface="+mn-ea"/>
                      <a:cs typeface="+mn-cs"/>
                    </a:rPr>
                    <a:t>,00</a:t>
                  </a:r>
                  <a:r>
                    <a:rPr lang="en-GB" sz="2133" b="1" kern="1200" dirty="0">
                      <a:solidFill>
                        <a:srgbClr val="DAA039"/>
                      </a:solidFill>
                      <a:latin typeface="Aptos"/>
                      <a:ea typeface="+mn-ea"/>
                      <a:cs typeface="+mn-cs"/>
                    </a:rPr>
                    <a:t>1</a:t>
                  </a:r>
                  <a:endParaRPr dirty="0"/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424A50F-6547-2BF1-6943-253C414F9263}"/>
                    </a:ext>
                  </a:extLst>
                </p:cNvPr>
                <p:cNvSpPr txBox="1"/>
                <p:nvPr/>
              </p:nvSpPr>
              <p:spPr>
                <a:xfrm>
                  <a:off x="6123455" y="2441447"/>
                  <a:ext cx="2309389" cy="372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722376">
                    <a:spcAft>
                      <a:spcPts val="39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948" kern="1200" dirty="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Observations</a:t>
                  </a:r>
                  <a:endParaRPr dirty="0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3380AD6B-6413-4CBB-23F6-5A213321EBAC}"/>
                  </a:ext>
                </a:extLst>
              </p:cNvPr>
              <p:cNvGrpSpPr/>
              <p:nvPr/>
            </p:nvGrpSpPr>
            <p:grpSpPr>
              <a:xfrm>
                <a:off x="8496472" y="2962001"/>
                <a:ext cx="1311119" cy="1621106"/>
                <a:chOff x="8732520" y="1691640"/>
                <a:chExt cx="2423160" cy="1508760"/>
              </a:xfrm>
            </p:grpSpPr>
            <p:sp>
              <p:nvSpPr>
                <p:cNvPr id="42" name="Rounded Rectangle 15">
                  <a:extLst>
                    <a:ext uri="{FF2B5EF4-FFF2-40B4-BE49-F238E27FC236}">
                      <a16:creationId xmlns:a16="http://schemas.microsoft.com/office/drawing/2014/main" id="{F0FD5441-6396-51B8-B16C-88993021FF45}"/>
                    </a:ext>
                  </a:extLst>
                </p:cNvPr>
                <p:cNvSpPr/>
                <p:nvPr/>
              </p:nvSpPr>
              <p:spPr>
                <a:xfrm>
                  <a:off x="8732520" y="1691640"/>
                  <a:ext cx="2423160" cy="1508760"/>
                </a:xfrm>
                <a:prstGeom prst="roundRect">
                  <a:avLst/>
                </a:prstGeom>
                <a:solidFill>
                  <a:srgbClr val="EFF4F9"/>
                </a:solidFill>
                <a:ln>
                  <a:solidFill>
                    <a:srgbClr val="DCE4E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1B24CB6-16AE-FC16-39D4-8BD7C977C72F}"/>
                    </a:ext>
                  </a:extLst>
                </p:cNvPr>
                <p:cNvSpPr txBox="1"/>
                <p:nvPr/>
              </p:nvSpPr>
              <p:spPr>
                <a:xfrm>
                  <a:off x="8897112" y="1856232"/>
                  <a:ext cx="2093976" cy="5029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722376">
                    <a:spcAft>
                      <a:spcPts val="395"/>
                    </a:spcAft>
                    <a:defRPr sz="2700" b="1">
                      <a:solidFill>
                        <a:srgbClr val="25827D"/>
                      </a:solidFill>
                      <a:latin typeface="Aptos"/>
                    </a:defRPr>
                  </a:pPr>
                  <a:r>
                    <a:rPr lang="en-ZA" sz="2133" b="1" kern="1200">
                      <a:solidFill>
                        <a:srgbClr val="25827D"/>
                      </a:solidFill>
                      <a:latin typeface="Aptos"/>
                      <a:ea typeface="+mn-ea"/>
                      <a:cs typeface="+mn-cs"/>
                    </a:rPr>
                    <a:t>2004</a:t>
                  </a:r>
                  <a:endParaRPr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BCFA9C9-DA11-42B2-D159-6E4D62F60220}"/>
                    </a:ext>
                  </a:extLst>
                </p:cNvPr>
                <p:cNvSpPr txBox="1"/>
                <p:nvPr/>
              </p:nvSpPr>
              <p:spPr>
                <a:xfrm>
                  <a:off x="8897112" y="2441448"/>
                  <a:ext cx="2148840" cy="685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722376">
                    <a:spcAft>
                      <a:spcPts val="395"/>
                    </a:spcAft>
                    <a:defRPr sz="1200" b="0">
                      <a:solidFill>
                        <a:srgbClr val="272F3A"/>
                      </a:solidFill>
                      <a:latin typeface="Aptos"/>
                    </a:defRPr>
                  </a:pPr>
                  <a:r>
                    <a:rPr sz="948" kern="1200" dirty="0">
                      <a:solidFill>
                        <a:srgbClr val="272F3A"/>
                      </a:solidFill>
                      <a:latin typeface="Aptos"/>
                      <a:ea typeface="+mn-ea"/>
                      <a:cs typeface="+mn-cs"/>
                    </a:rPr>
                    <a:t>F-statistic</a:t>
                  </a:r>
                  <a:endParaRPr dirty="0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89DC8420-01F2-79EA-D106-11EDD64A225D}"/>
                  </a:ext>
                </a:extLst>
              </p:cNvPr>
              <p:cNvGrpSpPr/>
              <p:nvPr/>
            </p:nvGrpSpPr>
            <p:grpSpPr>
              <a:xfrm>
                <a:off x="5623463" y="2933325"/>
                <a:ext cx="2713616" cy="1621106"/>
                <a:chOff x="576074" y="2057400"/>
                <a:chExt cx="4818886" cy="1417320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3A763BD1-2E86-4045-B550-8DA372786CF9}"/>
                    </a:ext>
                  </a:extLst>
                </p:cNvPr>
                <p:cNvGrpSpPr/>
                <p:nvPr/>
              </p:nvGrpSpPr>
              <p:grpSpPr>
                <a:xfrm>
                  <a:off x="576074" y="2057400"/>
                  <a:ext cx="2194560" cy="1417320"/>
                  <a:chOff x="576074" y="2057400"/>
                  <a:chExt cx="2194560" cy="1417320"/>
                </a:xfrm>
              </p:grpSpPr>
              <p:sp>
                <p:nvSpPr>
                  <p:cNvPr id="70" name="Rounded Rectangle 7">
                    <a:extLst>
                      <a:ext uri="{FF2B5EF4-FFF2-40B4-BE49-F238E27FC236}">
                        <a16:creationId xmlns:a16="http://schemas.microsoft.com/office/drawing/2014/main" id="{8CC489B6-7BE9-13C8-35EF-F98B5A2093EF}"/>
                      </a:ext>
                    </a:extLst>
                  </p:cNvPr>
                  <p:cNvSpPr/>
                  <p:nvPr/>
                </p:nvSpPr>
                <p:spPr>
                  <a:xfrm>
                    <a:off x="576074" y="2057400"/>
                    <a:ext cx="2194560" cy="1417320"/>
                  </a:xfrm>
                  <a:prstGeom prst="roundRect">
                    <a:avLst/>
                  </a:prstGeom>
                  <a:solidFill>
                    <a:srgbClr val="EFF4F9"/>
                  </a:solidFill>
                  <a:ln>
                    <a:solidFill>
                      <a:srgbClr val="DCE4E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828CF2A0-31D1-84E6-359B-D5536E7EB2D4}"/>
                      </a:ext>
                    </a:extLst>
                  </p:cNvPr>
                  <p:cNvSpPr txBox="1"/>
                  <p:nvPr/>
                </p:nvSpPr>
                <p:spPr>
                  <a:xfrm>
                    <a:off x="740666" y="2221992"/>
                    <a:ext cx="1865376" cy="43254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 defTabSz="722376">
                      <a:spcAft>
                        <a:spcPts val="395"/>
                      </a:spcAft>
                      <a:defRPr sz="2700" b="1">
                        <a:solidFill>
                          <a:srgbClr val="2C5E91"/>
                        </a:solidFill>
                        <a:latin typeface="Aptos"/>
                      </a:defRPr>
                    </a:pPr>
                    <a:r>
                      <a:rPr sz="1580" b="1" kern="1200">
                        <a:solidFill>
                          <a:srgbClr val="2C5E91"/>
                        </a:solidFill>
                        <a:latin typeface="Aptos"/>
                        <a:ea typeface="+mn-ea"/>
                        <a:cs typeface="+mn-cs"/>
                      </a:rPr>
                      <a:t>≈ </a:t>
                    </a:r>
                    <a:r>
                      <a:rPr lang="en-ZA" sz="1580" b="1" kern="1200">
                        <a:solidFill>
                          <a:srgbClr val="2C5E91"/>
                        </a:solidFill>
                        <a:latin typeface="Aptos"/>
                        <a:ea typeface="+mn-ea"/>
                        <a:cs typeface="+mn-cs"/>
                      </a:rPr>
                      <a:t>1.04</a:t>
                    </a:r>
                    <a:endParaRPr sz="2000"/>
                  </a:p>
                </p:txBody>
              </p:sp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A0C4A806-4B97-CF77-A3BD-0FBF3D57A2DD}"/>
                      </a:ext>
                    </a:extLst>
                  </p:cNvPr>
                  <p:cNvSpPr txBox="1"/>
                  <p:nvPr/>
                </p:nvSpPr>
                <p:spPr>
                  <a:xfrm>
                    <a:off x="635232" y="2598003"/>
                    <a:ext cx="1920241" cy="59436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 defTabSz="722376">
                      <a:spcAft>
                        <a:spcPts val="395"/>
                      </a:spcAft>
                      <a:defRPr sz="1200" b="0">
                        <a:solidFill>
                          <a:srgbClr val="272F3A"/>
                        </a:solidFill>
                        <a:latin typeface="Aptos"/>
                      </a:defRPr>
                    </a:pPr>
                    <a:r>
                      <a:rPr sz="948" kern="1200">
                        <a:solidFill>
                          <a:srgbClr val="272F3A"/>
                        </a:solidFill>
                        <a:latin typeface="Aptos"/>
                        <a:ea typeface="+mn-ea"/>
                        <a:cs typeface="+mn-cs"/>
                      </a:rPr>
                      <a:t>Previously reported average error</a:t>
                    </a:r>
                    <a:endParaRPr/>
                  </a:p>
                </p:txBody>
              </p:sp>
            </p:grp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163D0D1C-4EDF-3ED9-5257-B7211718F93F}"/>
                    </a:ext>
                  </a:extLst>
                </p:cNvPr>
                <p:cNvGrpSpPr/>
                <p:nvPr/>
              </p:nvGrpSpPr>
              <p:grpSpPr>
                <a:xfrm>
                  <a:off x="3200400" y="2057400"/>
                  <a:ext cx="2194560" cy="1417320"/>
                  <a:chOff x="3200400" y="2057400"/>
                  <a:chExt cx="2194560" cy="1417320"/>
                </a:xfrm>
              </p:grpSpPr>
              <p:sp>
                <p:nvSpPr>
                  <p:cNvPr id="67" name="Rounded Rectangle 10">
                    <a:extLst>
                      <a:ext uri="{FF2B5EF4-FFF2-40B4-BE49-F238E27FC236}">
                        <a16:creationId xmlns:a16="http://schemas.microsoft.com/office/drawing/2014/main" id="{899F304C-529B-F0E5-1E34-074735D56646}"/>
                      </a:ext>
                    </a:extLst>
                  </p:cNvPr>
                  <p:cNvSpPr/>
                  <p:nvPr/>
                </p:nvSpPr>
                <p:spPr>
                  <a:xfrm>
                    <a:off x="3200400" y="2057400"/>
                    <a:ext cx="2194560" cy="1417320"/>
                  </a:xfrm>
                  <a:prstGeom prst="roundRect">
                    <a:avLst/>
                  </a:prstGeom>
                  <a:solidFill>
                    <a:srgbClr val="EFF4F9"/>
                  </a:solidFill>
                  <a:ln>
                    <a:solidFill>
                      <a:srgbClr val="DCE4E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C0488790-8512-510F-E79C-481AEC1067A6}"/>
                      </a:ext>
                    </a:extLst>
                  </p:cNvPr>
                  <p:cNvSpPr txBox="1"/>
                  <p:nvPr/>
                </p:nvSpPr>
                <p:spPr>
                  <a:xfrm>
                    <a:off x="3364992" y="2221992"/>
                    <a:ext cx="1865376" cy="5029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 defTabSz="722376">
                      <a:spcAft>
                        <a:spcPts val="395"/>
                      </a:spcAft>
                      <a:defRPr sz="2700" b="1">
                        <a:solidFill>
                          <a:srgbClr val="DAA039"/>
                        </a:solidFill>
                        <a:latin typeface="Aptos"/>
                      </a:defRPr>
                    </a:pPr>
                    <a:r>
                      <a:rPr lang="en-ZA" sz="2133" b="1" kern="1200">
                        <a:solidFill>
                          <a:srgbClr val="DAA039"/>
                        </a:solidFill>
                        <a:latin typeface="Aptos"/>
                        <a:ea typeface="+mn-ea"/>
                        <a:cs typeface="+mn-cs"/>
                      </a:rPr>
                      <a:t>4.94</a:t>
                    </a:r>
                    <a:endParaRPr/>
                  </a:p>
                </p:txBody>
              </p:sp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4B6B07A7-130E-8770-FEEE-488B0C10E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337559" y="2598790"/>
                    <a:ext cx="1920239" cy="59436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 defTabSz="722376">
                      <a:spcAft>
                        <a:spcPts val="395"/>
                      </a:spcAft>
                      <a:defRPr sz="1200" b="0">
                        <a:solidFill>
                          <a:srgbClr val="272F3A"/>
                        </a:solidFill>
                        <a:latin typeface="Aptos"/>
                      </a:defRPr>
                    </a:pPr>
                    <a:r>
                      <a:rPr sz="948" kern="1200">
                        <a:solidFill>
                          <a:srgbClr val="272F3A"/>
                        </a:solidFill>
                        <a:latin typeface="Aptos"/>
                        <a:ea typeface="+mn-ea"/>
                        <a:cs typeface="+mn-cs"/>
                      </a:rPr>
                      <a:t>Previously reported maximum error</a:t>
                    </a:r>
                    <a:endParaRPr/>
                  </a:p>
                </p:txBody>
              </p:sp>
            </p:grpSp>
          </p:grpSp>
        </p:grp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06CAC56A-3008-7677-978D-7085AED7ED27}"/>
              </a:ext>
            </a:extLst>
          </p:cNvPr>
          <p:cNvSpPr txBox="1"/>
          <p:nvPr/>
        </p:nvSpPr>
        <p:spPr>
          <a:xfrm>
            <a:off x="4442436" y="265118"/>
            <a:ext cx="6927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1"/>
                </a:solidFill>
              </a:rPr>
              <a:t>Train data</a:t>
            </a:r>
            <a:endParaRPr lang="en-ZA" sz="3600" dirty="0">
              <a:solidFill>
                <a:schemeClr val="accent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4846218-B224-1253-96AD-4B989F5CFE24}"/>
              </a:ext>
            </a:extLst>
          </p:cNvPr>
          <p:cNvSpPr txBox="1"/>
          <p:nvPr/>
        </p:nvSpPr>
        <p:spPr>
          <a:xfrm>
            <a:off x="4681774" y="3361744"/>
            <a:ext cx="6319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1"/>
                </a:solidFill>
              </a:rPr>
              <a:t>Test data</a:t>
            </a:r>
            <a:endParaRPr lang="en-ZA" sz="3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130</Words>
  <Application>Microsoft Office PowerPoint</Application>
  <PresentationFormat>Widescreen</PresentationFormat>
  <Paragraphs>54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Louis-Bosch Malan</dc:creator>
  <cp:lastModifiedBy>Louis-Bosch Malan</cp:lastModifiedBy>
  <cp:revision>1</cp:revision>
  <dcterms:created xsi:type="dcterms:W3CDTF">2026-10-15T12:52:43Z</dcterms:created>
  <dcterms:modified xsi:type="dcterms:W3CDTF">2026-10-15T14:54:43Z</dcterms:modified>
</cp:coreProperties>
</file>